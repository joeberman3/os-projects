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1"/>
  </p:notesMasterIdLst>
  <p:sldIdLst>
    <p:sldId id="256" r:id="rId2"/>
    <p:sldId id="257" r:id="rId3"/>
    <p:sldId id="295" r:id="rId4"/>
    <p:sldId id="258" r:id="rId5"/>
    <p:sldId id="259" r:id="rId6"/>
    <p:sldId id="260" r:id="rId7"/>
    <p:sldId id="261" r:id="rId8"/>
    <p:sldId id="262" r:id="rId9"/>
    <p:sldId id="263" r:id="rId10"/>
    <p:sldId id="264" r:id="rId11"/>
    <p:sldId id="266" r:id="rId12"/>
    <p:sldId id="267" r:id="rId13"/>
    <p:sldId id="268" r:id="rId14"/>
    <p:sldId id="269" r:id="rId15"/>
    <p:sldId id="270" r:id="rId16"/>
    <p:sldId id="294" r:id="rId17"/>
    <p:sldId id="271" r:id="rId18"/>
    <p:sldId id="272" r:id="rId19"/>
    <p:sldId id="273" r:id="rId20"/>
    <p:sldId id="274" r:id="rId21"/>
    <p:sldId id="275" r:id="rId22"/>
    <p:sldId id="276" r:id="rId23"/>
    <p:sldId id="286" r:id="rId24"/>
    <p:sldId id="290" r:id="rId25"/>
    <p:sldId id="291" r:id="rId26"/>
    <p:sldId id="277" r:id="rId27"/>
    <p:sldId id="278" r:id="rId28"/>
    <p:sldId id="292" r:id="rId29"/>
    <p:sldId id="293" r:id="rId30"/>
  </p:sldIdLst>
  <p:sldSz cx="12192000" cy="6858000"/>
  <p:notesSz cx="6858000" cy="9144000"/>
  <p:embeddedFontLst>
    <p:embeddedFont>
      <p:font typeface="Cambria Math" panose="02040503050406030204" pitchFamily="18" charset="0"/>
      <p:regular r:id="rId32"/>
    </p:embeddedFont>
    <p:embeddedFont>
      <p:font typeface="Consolas" panose="020B0609020204030204" pitchFamily="49" charset="0"/>
      <p:regular r:id="rId33"/>
      <p:bold r:id="rId34"/>
      <p:italic r:id="rId35"/>
      <p:boldItalic r:id="rId36"/>
    </p:embeddedFont>
    <p:embeddedFont>
      <p:font typeface="Play" pitchFamily="2" charset="0"/>
      <p:regular r:id="rId37"/>
      <p:bold r:id="rId38"/>
    </p:embeddedFont>
    <p:embeddedFont>
      <p:font typeface="Source Code Pro" panose="020B0309030403020204" pitchFamily="34" charset="0"/>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1" roundtripDataSignature="AMtx7mhqWdhnEC/37EpjfXw2LkzawhSl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60"/>
    <p:restoredTop sz="83219"/>
  </p:normalViewPr>
  <p:slideViewPr>
    <p:cSldViewPr snapToGrid="0">
      <p:cViewPr>
        <p:scale>
          <a:sx n="221" d="100"/>
          <a:sy n="221" d="100"/>
        </p:scale>
        <p:origin x="136" y="-4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מבנה התרגול:</a:t>
            </a:r>
            <a:endParaRPr/>
          </a:p>
          <a:p>
            <a:pPr marL="0" lvl="0" indent="0" algn="r" rtl="1">
              <a:lnSpc>
                <a:spcPct val="100000"/>
              </a:lnSpc>
              <a:spcBef>
                <a:spcPts val="360"/>
              </a:spcBef>
              <a:spcAft>
                <a:spcPts val="0"/>
              </a:spcAft>
              <a:buClr>
                <a:schemeClr val="dk1"/>
              </a:buClr>
              <a:buSzPts val="1400"/>
              <a:buFont typeface="Arial"/>
              <a:buNone/>
            </a:pPr>
            <a:r>
              <a:rPr lang="en-US"/>
              <a:t>תהליכים וscheduling.</a:t>
            </a:r>
            <a:endParaRPr/>
          </a:p>
          <a:p>
            <a:pPr marL="0" lvl="0" indent="0" algn="r" rtl="1">
              <a:lnSpc>
                <a:spcPct val="100000"/>
              </a:lnSpc>
              <a:spcBef>
                <a:spcPts val="360"/>
              </a:spcBef>
              <a:spcAft>
                <a:spcPts val="0"/>
              </a:spcAft>
              <a:buClr>
                <a:schemeClr val="dk1"/>
              </a:buClr>
              <a:buSzPts val="1400"/>
              <a:buFont typeface="Arial"/>
              <a:buNone/>
            </a:pPr>
            <a:r>
              <a:rPr lang="en-US"/>
              <a:t>החלק הראשון מדברים על איך עובד הscheduling בxv6 סנכרון ותזמון. נסתכל על הקוד ונראה איך מתבצע context switch איך נוצר מצב blocked. איך נוצרים תהליכים וכו'</a:t>
            </a:r>
            <a:endParaRPr/>
          </a:p>
          <a:p>
            <a:pPr marL="0" lvl="0" indent="0" algn="r" rtl="1">
              <a:lnSpc>
                <a:spcPct val="100000"/>
              </a:lnSpc>
              <a:spcBef>
                <a:spcPts val="360"/>
              </a:spcBef>
              <a:spcAft>
                <a:spcPts val="0"/>
              </a:spcAft>
              <a:buClr>
                <a:schemeClr val="dk1"/>
              </a:buClr>
              <a:buSzPts val="1400"/>
              <a:buFont typeface="Arial"/>
              <a:buNone/>
            </a:pPr>
            <a:r>
              <a:rPr lang="en-US"/>
              <a:t>החלק השני תאורטי ונדבר על אגלוריתמי scheduling (תזמון).</a:t>
            </a:r>
            <a:endParaRPr/>
          </a:p>
          <a:p>
            <a:pPr marL="0" lvl="0" indent="0" algn="l" rtl="0">
              <a:spcBef>
                <a:spcPts val="0"/>
              </a:spcBef>
              <a:spcAft>
                <a:spcPts val="0"/>
              </a:spcAft>
              <a:buNone/>
            </a:pP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 name="Google Shape;9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dirty="0" err="1"/>
              <a:t>על</a:t>
            </a:r>
            <a:r>
              <a:rPr lang="en-US" dirty="0"/>
              <a:t> </a:t>
            </a:r>
            <a:r>
              <a:rPr lang="en-US" dirty="0" err="1"/>
              <a:t>מנת</a:t>
            </a:r>
            <a:r>
              <a:rPr lang="en-US" dirty="0"/>
              <a:t> </a:t>
            </a:r>
            <a:r>
              <a:rPr lang="en-US" dirty="0" err="1"/>
              <a:t>לתאר</a:t>
            </a:r>
            <a:r>
              <a:rPr lang="en-US" dirty="0"/>
              <a:t> </a:t>
            </a:r>
            <a:r>
              <a:rPr lang="en-US" dirty="0" err="1"/>
              <a:t>את</a:t>
            </a:r>
            <a:r>
              <a:rPr lang="en-US" dirty="0"/>
              <a:t> </a:t>
            </a:r>
            <a:r>
              <a:rPr lang="en-US" dirty="0" err="1"/>
              <a:t>המצב</a:t>
            </a:r>
            <a:r>
              <a:rPr lang="en-US" dirty="0"/>
              <a:t> </a:t>
            </a:r>
            <a:r>
              <a:rPr lang="en-US" dirty="0" err="1"/>
              <a:t>בו</a:t>
            </a:r>
            <a:r>
              <a:rPr lang="en-US" dirty="0"/>
              <a:t> </a:t>
            </a:r>
            <a:r>
              <a:rPr lang="en-US" dirty="0" err="1"/>
              <a:t>תהליך</a:t>
            </a:r>
            <a:r>
              <a:rPr lang="en-US" dirty="0"/>
              <a:t> </a:t>
            </a:r>
            <a:r>
              <a:rPr lang="en-US" dirty="0" err="1"/>
              <a:t>נמצא</a:t>
            </a:r>
            <a:r>
              <a:rPr lang="en-US" dirty="0"/>
              <a:t>, </a:t>
            </a:r>
            <a:r>
              <a:rPr lang="en-US" dirty="0" err="1"/>
              <a:t>ניתן</a:t>
            </a:r>
            <a:r>
              <a:rPr lang="en-US" dirty="0"/>
              <a:t> </a:t>
            </a:r>
            <a:r>
              <a:rPr lang="en-US" dirty="0" err="1"/>
              <a:t>לתאר</a:t>
            </a:r>
            <a:r>
              <a:rPr lang="en-US" dirty="0"/>
              <a:t> </a:t>
            </a:r>
            <a:r>
              <a:rPr lang="en-US" dirty="0" err="1"/>
              <a:t>זאת</a:t>
            </a:r>
            <a:r>
              <a:rPr lang="en-US" dirty="0"/>
              <a:t> </a:t>
            </a:r>
            <a:r>
              <a:rPr lang="en-US" dirty="0" err="1"/>
              <a:t>עם</a:t>
            </a:r>
            <a:r>
              <a:rPr lang="en-US" dirty="0"/>
              <a:t> </a:t>
            </a:r>
            <a:r>
              <a:rPr lang="en-US" dirty="0" err="1"/>
              <a:t>אוטומט</a:t>
            </a:r>
            <a:r>
              <a:rPr lang="en-US" dirty="0"/>
              <a:t> </a:t>
            </a:r>
            <a:r>
              <a:rPr lang="en-US" dirty="0" err="1"/>
              <a:t>של</a:t>
            </a:r>
            <a:r>
              <a:rPr lang="en-US" dirty="0"/>
              <a:t> 5 </a:t>
            </a:r>
            <a:r>
              <a:rPr lang="en-US" dirty="0" err="1"/>
              <a:t>מצבים</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New – </a:t>
            </a:r>
            <a:r>
              <a:rPr lang="en-US" dirty="0" err="1"/>
              <a:t>תהליך</a:t>
            </a:r>
            <a:r>
              <a:rPr lang="en-US" dirty="0"/>
              <a:t> </a:t>
            </a:r>
            <a:r>
              <a:rPr lang="en-US" dirty="0" err="1"/>
              <a:t>קיים</a:t>
            </a:r>
            <a:r>
              <a:rPr lang="en-US" dirty="0"/>
              <a:t> </a:t>
            </a:r>
            <a:r>
              <a:rPr lang="en-US" dirty="0" err="1"/>
              <a:t>ונמצא</a:t>
            </a:r>
            <a:r>
              <a:rPr lang="en-US" dirty="0"/>
              <a:t> </a:t>
            </a:r>
            <a:r>
              <a:rPr lang="en-US" dirty="0" err="1"/>
              <a:t>בתהליכי</a:t>
            </a:r>
            <a:r>
              <a:rPr lang="en-US" dirty="0"/>
              <a:t> </a:t>
            </a:r>
            <a:r>
              <a:rPr lang="en-US" dirty="0" err="1"/>
              <a:t>יצירה</a:t>
            </a:r>
            <a:r>
              <a:rPr lang="en-US" dirty="0"/>
              <a:t>, </a:t>
            </a:r>
            <a:r>
              <a:rPr lang="en-US" dirty="0" err="1"/>
              <a:t>הקצנו</a:t>
            </a:r>
            <a:r>
              <a:rPr lang="en-US" dirty="0"/>
              <a:t> </a:t>
            </a:r>
            <a:r>
              <a:rPr lang="en-US" dirty="0" err="1"/>
              <a:t>זכרון</a:t>
            </a:r>
            <a:r>
              <a:rPr lang="en-US" dirty="0"/>
              <a:t> </a:t>
            </a:r>
            <a:r>
              <a:rPr lang="en-US" dirty="0" err="1"/>
              <a:t>וטוענים</a:t>
            </a:r>
            <a:r>
              <a:rPr lang="en-US" dirty="0"/>
              <a:t> </a:t>
            </a:r>
            <a:r>
              <a:rPr lang="en-US" dirty="0" err="1"/>
              <a:t>את</a:t>
            </a:r>
            <a:r>
              <a:rPr lang="en-US" dirty="0"/>
              <a:t> </a:t>
            </a:r>
            <a:r>
              <a:rPr lang="en-US" dirty="0" err="1"/>
              <a:t>הקוד</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Ready – </a:t>
            </a:r>
            <a:r>
              <a:rPr lang="en-US" dirty="0" err="1"/>
              <a:t>התהליך</a:t>
            </a:r>
            <a:r>
              <a:rPr lang="en-US" dirty="0"/>
              <a:t> </a:t>
            </a:r>
            <a:r>
              <a:rPr lang="en-US" dirty="0" err="1"/>
              <a:t>יכול</a:t>
            </a:r>
            <a:r>
              <a:rPr lang="en-US" dirty="0"/>
              <a:t> </a:t>
            </a:r>
            <a:r>
              <a:rPr lang="en-US" dirty="0" err="1"/>
              <a:t>לרוץ</a:t>
            </a:r>
            <a:r>
              <a:rPr lang="en-US" dirty="0"/>
              <a:t> </a:t>
            </a:r>
            <a:r>
              <a:rPr lang="en-US" dirty="0" err="1"/>
              <a:t>ואלגוריתם</a:t>
            </a:r>
            <a:r>
              <a:rPr lang="en-US" dirty="0"/>
              <a:t> </a:t>
            </a:r>
            <a:r>
              <a:rPr lang="en-US" dirty="0" err="1"/>
              <a:t>התזמון</a:t>
            </a:r>
            <a:r>
              <a:rPr lang="en-US" dirty="0"/>
              <a:t> </a:t>
            </a:r>
            <a:r>
              <a:rPr lang="en-US" dirty="0" err="1"/>
              <a:t>יכול</a:t>
            </a:r>
            <a:r>
              <a:rPr lang="en-US" dirty="0"/>
              <a:t> </a:t>
            </a:r>
            <a:r>
              <a:rPr lang="en-US" dirty="0" err="1"/>
              <a:t>לבחור</a:t>
            </a:r>
            <a:r>
              <a:rPr lang="en-US" dirty="0"/>
              <a:t> </a:t>
            </a:r>
            <a:r>
              <a:rPr lang="en-US" dirty="0" err="1"/>
              <a:t>להריץ</a:t>
            </a:r>
            <a:r>
              <a:rPr lang="en-US" dirty="0"/>
              <a:t> </a:t>
            </a:r>
            <a:r>
              <a:rPr lang="en-US" dirty="0" err="1"/>
              <a:t>תהליך</a:t>
            </a:r>
            <a:r>
              <a:rPr lang="en-US" dirty="0"/>
              <a:t> </a:t>
            </a:r>
            <a:r>
              <a:rPr lang="en-US" dirty="0" err="1"/>
              <a:t>זה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Running – </a:t>
            </a:r>
            <a:r>
              <a:rPr lang="en-US" dirty="0" err="1"/>
              <a:t>הscheduler</a:t>
            </a:r>
            <a:r>
              <a:rPr lang="en-US" dirty="0"/>
              <a:t> </a:t>
            </a:r>
            <a:r>
              <a:rPr lang="en-US" dirty="0" err="1"/>
              <a:t>מריץ</a:t>
            </a:r>
            <a:r>
              <a:rPr lang="en-US" dirty="0"/>
              <a:t> </a:t>
            </a:r>
            <a:r>
              <a:rPr lang="en-US" dirty="0" err="1"/>
              <a:t>את</a:t>
            </a:r>
            <a:r>
              <a:rPr lang="en-US" dirty="0"/>
              <a:t> </a:t>
            </a:r>
            <a:r>
              <a:rPr lang="en-US" dirty="0" err="1"/>
              <a:t>התהליך</a:t>
            </a:r>
            <a:r>
              <a:rPr lang="en-US" dirty="0"/>
              <a:t> (</a:t>
            </a:r>
            <a:r>
              <a:rPr lang="en-US" dirty="0" err="1"/>
              <a:t>הפעולה</a:t>
            </a:r>
            <a:r>
              <a:rPr lang="en-US" dirty="0"/>
              <a:t> </a:t>
            </a:r>
            <a:r>
              <a:rPr lang="en-US" dirty="0" err="1"/>
              <a:t>נקראת</a:t>
            </a:r>
            <a:r>
              <a:rPr lang="en-US" dirty="0"/>
              <a:t> dispatch </a:t>
            </a:r>
            <a:r>
              <a:rPr lang="en-US" dirty="0" err="1"/>
              <a:t>ולמעשה</a:t>
            </a:r>
            <a:r>
              <a:rPr lang="en-US" dirty="0"/>
              <a:t> </a:t>
            </a:r>
            <a:r>
              <a:rPr lang="en-US" dirty="0" err="1"/>
              <a:t>עובר</a:t>
            </a:r>
            <a:r>
              <a:rPr lang="en-US" dirty="0"/>
              <a:t> </a:t>
            </a:r>
            <a:r>
              <a:rPr lang="en-US" dirty="0" err="1"/>
              <a:t>מready</a:t>
            </a:r>
            <a:r>
              <a:rPr lang="en-US" dirty="0"/>
              <a:t> </a:t>
            </a:r>
            <a:r>
              <a:rPr lang="en-US" dirty="0" err="1"/>
              <a:t>לrunning</a:t>
            </a:r>
            <a:r>
              <a:rPr lang="en-US" dirty="0"/>
              <a:t>). </a:t>
            </a:r>
            <a:r>
              <a:rPr lang="en-US" dirty="0" err="1"/>
              <a:t>מפה</a:t>
            </a:r>
            <a:r>
              <a:rPr lang="en-US" dirty="0"/>
              <a:t> </a:t>
            </a:r>
            <a:r>
              <a:rPr lang="en-US" dirty="0" err="1"/>
              <a:t>יש</a:t>
            </a:r>
            <a:r>
              <a:rPr lang="en-US" dirty="0"/>
              <a:t> </a:t>
            </a:r>
            <a:r>
              <a:rPr lang="en-US" dirty="0" err="1"/>
              <a:t>הכי</a:t>
            </a:r>
            <a:r>
              <a:rPr lang="en-US" dirty="0"/>
              <a:t> </a:t>
            </a:r>
            <a:r>
              <a:rPr lang="en-US" dirty="0" err="1"/>
              <a:t>הרבה</a:t>
            </a:r>
            <a:r>
              <a:rPr lang="en-US" dirty="0"/>
              <a:t> </a:t>
            </a:r>
            <a:r>
              <a:rPr lang="en-US" dirty="0" err="1"/>
              <a:t>אופציות</a:t>
            </a:r>
            <a:r>
              <a:rPr lang="en-US" dirty="0"/>
              <a:t> </a:t>
            </a:r>
            <a:r>
              <a:rPr lang="en-US" dirty="0" err="1"/>
              <a:t>לאן</a:t>
            </a:r>
            <a:r>
              <a:rPr lang="en-US" dirty="0"/>
              <a:t> </a:t>
            </a:r>
            <a:r>
              <a:rPr lang="en-US" dirty="0" err="1"/>
              <a:t>אפשר</a:t>
            </a:r>
            <a:r>
              <a:rPr lang="en-US" dirty="0"/>
              <a:t> </a:t>
            </a:r>
            <a:r>
              <a:rPr lang="en-US" dirty="0" err="1"/>
              <a:t>לעבור</a:t>
            </a:r>
            <a:r>
              <a:rPr lang="en-US" dirty="0"/>
              <a:t>: </a:t>
            </a:r>
            <a:endParaRPr dirty="0"/>
          </a:p>
          <a:p>
            <a:pPr marL="171450" lvl="0" indent="-171450" algn="r" rtl="1">
              <a:lnSpc>
                <a:spcPct val="100000"/>
              </a:lnSpc>
              <a:spcBef>
                <a:spcPts val="360"/>
              </a:spcBef>
              <a:spcAft>
                <a:spcPts val="0"/>
              </a:spcAft>
              <a:buClr>
                <a:schemeClr val="dk1"/>
              </a:buClr>
              <a:buSzPts val="1400"/>
              <a:buFont typeface="Arial"/>
              <a:buChar char="•"/>
            </a:pPr>
            <a:r>
              <a:rPr lang="en-US" dirty="0" err="1"/>
              <a:t>מעבר</a:t>
            </a:r>
            <a:r>
              <a:rPr lang="en-US" dirty="0"/>
              <a:t> </a:t>
            </a:r>
            <a:r>
              <a:rPr lang="en-US" dirty="0" err="1"/>
              <a:t>לתור</a:t>
            </a:r>
            <a:r>
              <a:rPr lang="en-US" dirty="0"/>
              <a:t> ready – </a:t>
            </a:r>
            <a:r>
              <a:rPr lang="en-US" dirty="0" err="1"/>
              <a:t>יכול</a:t>
            </a:r>
            <a:r>
              <a:rPr lang="en-US" dirty="0"/>
              <a:t> </a:t>
            </a:r>
            <a:r>
              <a:rPr lang="en-US" dirty="0" err="1"/>
              <a:t>לקרות</a:t>
            </a:r>
            <a:r>
              <a:rPr lang="en-US" dirty="0"/>
              <a:t> </a:t>
            </a:r>
            <a:r>
              <a:rPr lang="en-US" dirty="0" err="1"/>
              <a:t>אם</a:t>
            </a:r>
            <a:r>
              <a:rPr lang="en-US" dirty="0"/>
              <a:t> </a:t>
            </a:r>
            <a:r>
              <a:rPr lang="en-US" dirty="0" err="1"/>
              <a:t>תהליך</a:t>
            </a:r>
            <a:r>
              <a:rPr lang="en-US" dirty="0"/>
              <a:t> </a:t>
            </a:r>
            <a:r>
              <a:rPr lang="en-US" dirty="0" err="1"/>
              <a:t>עשה</a:t>
            </a:r>
            <a:r>
              <a:rPr lang="en-US" dirty="0"/>
              <a:t> yield (</a:t>
            </a:r>
            <a:r>
              <a:rPr lang="en-US" dirty="0" err="1"/>
              <a:t>סיסטם</a:t>
            </a:r>
            <a:r>
              <a:rPr lang="en-US" dirty="0"/>
              <a:t> </a:t>
            </a:r>
            <a:r>
              <a:rPr lang="en-US" dirty="0" err="1"/>
              <a:t>קול</a:t>
            </a:r>
            <a:r>
              <a:rPr lang="en-US" dirty="0"/>
              <a:t>) </a:t>
            </a:r>
            <a:r>
              <a:rPr lang="en-US" dirty="0" err="1"/>
              <a:t>יכול</a:t>
            </a:r>
            <a:r>
              <a:rPr lang="en-US" dirty="0"/>
              <a:t> </a:t>
            </a:r>
            <a:r>
              <a:rPr lang="en-US" dirty="0" err="1"/>
              <a:t>לקרות</a:t>
            </a:r>
            <a:r>
              <a:rPr lang="en-US" dirty="0"/>
              <a:t> </a:t>
            </a:r>
            <a:r>
              <a:rPr lang="en-US" dirty="0" err="1"/>
              <a:t>אוטומטית</a:t>
            </a:r>
            <a:r>
              <a:rPr lang="en-US" dirty="0"/>
              <a:t> </a:t>
            </a:r>
            <a:r>
              <a:rPr lang="en-US" dirty="0" err="1"/>
              <a:t>לאחר</a:t>
            </a:r>
            <a:r>
              <a:rPr lang="en-US" dirty="0"/>
              <a:t> </a:t>
            </a:r>
            <a:r>
              <a:rPr lang="en-US" dirty="0" err="1"/>
              <a:t>פרק</a:t>
            </a:r>
            <a:r>
              <a:rPr lang="en-US" dirty="0"/>
              <a:t> </a:t>
            </a:r>
            <a:r>
              <a:rPr lang="en-US" dirty="0" err="1"/>
              <a:t>זמן</a:t>
            </a:r>
            <a:r>
              <a:rPr lang="en-US" dirty="0"/>
              <a:t> </a:t>
            </a:r>
            <a:r>
              <a:rPr lang="en-US" dirty="0" err="1"/>
              <a:t>מסוים</a:t>
            </a:r>
            <a:r>
              <a:rPr lang="en-US" dirty="0"/>
              <a:t> </a:t>
            </a:r>
            <a:r>
              <a:rPr lang="en-US" dirty="0" err="1"/>
              <a:t>ואז</a:t>
            </a:r>
            <a:r>
              <a:rPr lang="en-US" dirty="0"/>
              <a:t> </a:t>
            </a:r>
            <a:r>
              <a:rPr lang="en-US" dirty="0" err="1"/>
              <a:t>בוחרים</a:t>
            </a:r>
            <a:r>
              <a:rPr lang="en-US" dirty="0"/>
              <a:t> </a:t>
            </a:r>
            <a:r>
              <a:rPr lang="en-US" dirty="0" err="1"/>
              <a:t>תהליך</a:t>
            </a:r>
            <a:r>
              <a:rPr lang="en-US" dirty="0"/>
              <a:t> </a:t>
            </a:r>
            <a:r>
              <a:rPr lang="en-US" dirty="0" err="1"/>
              <a:t>אחר</a:t>
            </a:r>
            <a:r>
              <a:rPr lang="en-US" dirty="0"/>
              <a:t> </a:t>
            </a:r>
            <a:r>
              <a:rPr lang="en-US" dirty="0" err="1"/>
              <a:t>שירוץ</a:t>
            </a:r>
            <a:r>
              <a:rPr lang="en-US" dirty="0"/>
              <a:t> </a:t>
            </a:r>
            <a:r>
              <a:rPr lang="en-US" dirty="0" err="1"/>
              <a:t>במקומו</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2) Exit – </a:t>
            </a:r>
            <a:r>
              <a:rPr lang="en-US" dirty="0" err="1"/>
              <a:t>תהליך</a:t>
            </a:r>
            <a:r>
              <a:rPr lang="en-US" dirty="0"/>
              <a:t> </a:t>
            </a:r>
            <a:r>
              <a:rPr lang="en-US" dirty="0" err="1"/>
              <a:t>סיים</a:t>
            </a:r>
            <a:r>
              <a:rPr lang="en-US" dirty="0"/>
              <a:t> </a:t>
            </a:r>
            <a:r>
              <a:rPr lang="en-US" dirty="0" err="1"/>
              <a:t>לרוץ</a:t>
            </a:r>
            <a:r>
              <a:rPr lang="en-US" dirty="0"/>
              <a:t>. בxv6 </a:t>
            </a:r>
            <a:r>
              <a:rPr lang="en-US" dirty="0" err="1"/>
              <a:t>ומערכות</a:t>
            </a:r>
            <a:r>
              <a:rPr lang="en-US" dirty="0"/>
              <a:t> </a:t>
            </a:r>
            <a:r>
              <a:rPr lang="en-US" dirty="0" err="1"/>
              <a:t>יוניקס</a:t>
            </a:r>
            <a:r>
              <a:rPr lang="en-US" dirty="0"/>
              <a:t> </a:t>
            </a:r>
            <a:r>
              <a:rPr lang="en-US" dirty="0" err="1"/>
              <a:t>יש</a:t>
            </a:r>
            <a:r>
              <a:rPr lang="en-US" dirty="0"/>
              <a:t> </a:t>
            </a:r>
            <a:r>
              <a:rPr lang="en-US" dirty="0" err="1"/>
              <a:t>מצב</a:t>
            </a:r>
            <a:r>
              <a:rPr lang="en-US" dirty="0"/>
              <a:t> </a:t>
            </a:r>
            <a:r>
              <a:rPr lang="en-US" dirty="0" err="1"/>
              <a:t>זומבי</a:t>
            </a:r>
            <a:r>
              <a:rPr lang="en-US" dirty="0"/>
              <a:t> </a:t>
            </a:r>
            <a:r>
              <a:rPr lang="en-US" dirty="0" err="1"/>
              <a:t>עד</a:t>
            </a:r>
            <a:r>
              <a:rPr lang="en-US" dirty="0"/>
              <a:t> </a:t>
            </a:r>
            <a:r>
              <a:rPr lang="en-US" dirty="0" err="1"/>
              <a:t>שהאב</a:t>
            </a:r>
            <a:r>
              <a:rPr lang="en-US" dirty="0"/>
              <a:t> </a:t>
            </a:r>
            <a:r>
              <a:rPr lang="en-US" dirty="0" err="1"/>
              <a:t>אוסף</a:t>
            </a:r>
            <a:r>
              <a:rPr lang="en-US" dirty="0"/>
              <a:t> </a:t>
            </a:r>
            <a:r>
              <a:rPr lang="en-US" dirty="0" err="1"/>
              <a:t>אותו</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6) Blocked – </a:t>
            </a:r>
            <a:r>
              <a:rPr lang="en-US" dirty="0" err="1"/>
              <a:t>מחכים</a:t>
            </a:r>
            <a:r>
              <a:rPr lang="en-US" dirty="0"/>
              <a:t> </a:t>
            </a:r>
            <a:r>
              <a:rPr lang="en-US" dirty="0" err="1"/>
              <a:t>לאירוע</a:t>
            </a:r>
            <a:r>
              <a:rPr lang="en-US" dirty="0"/>
              <a:t> </a:t>
            </a:r>
            <a:r>
              <a:rPr lang="en-US" dirty="0" err="1"/>
              <a:t>כלשהו</a:t>
            </a:r>
            <a:r>
              <a:rPr lang="en-US" dirty="0"/>
              <a:t> </a:t>
            </a:r>
            <a:r>
              <a:rPr lang="en-US" dirty="0" err="1"/>
              <a:t>וכל</a:t>
            </a:r>
            <a:r>
              <a:rPr lang="en-US" dirty="0"/>
              <a:t> </a:t>
            </a:r>
            <a:r>
              <a:rPr lang="en-US" dirty="0" err="1"/>
              <a:t>עוד</a:t>
            </a:r>
            <a:r>
              <a:rPr lang="en-US" dirty="0"/>
              <a:t> </a:t>
            </a:r>
            <a:r>
              <a:rPr lang="en-US" dirty="0" err="1"/>
              <a:t>לא</a:t>
            </a:r>
            <a:r>
              <a:rPr lang="en-US" dirty="0"/>
              <a:t> </a:t>
            </a:r>
            <a:r>
              <a:rPr lang="en-US" dirty="0" err="1"/>
              <a:t>התרחש</a:t>
            </a:r>
            <a:r>
              <a:rPr lang="en-US" dirty="0"/>
              <a:t> </a:t>
            </a:r>
            <a:r>
              <a:rPr lang="en-US" dirty="0" err="1"/>
              <a:t>לא</a:t>
            </a:r>
            <a:r>
              <a:rPr lang="en-US" dirty="0"/>
              <a:t> </a:t>
            </a:r>
            <a:r>
              <a:rPr lang="en-US" dirty="0" err="1"/>
              <a:t>ניתן</a:t>
            </a:r>
            <a:r>
              <a:rPr lang="en-US" dirty="0"/>
              <a:t> </a:t>
            </a:r>
            <a:r>
              <a:rPr lang="en-US" dirty="0" err="1"/>
              <a:t>להמשיך</a:t>
            </a:r>
            <a:r>
              <a:rPr lang="en-US" dirty="0"/>
              <a:t> </a:t>
            </a:r>
            <a:r>
              <a:rPr lang="en-US" dirty="0" err="1"/>
              <a:t>לרוץ</a:t>
            </a:r>
            <a:r>
              <a:rPr lang="en-US" dirty="0"/>
              <a:t> (</a:t>
            </a:r>
            <a:r>
              <a:rPr lang="en-US" dirty="0" err="1"/>
              <a:t>למשל</a:t>
            </a:r>
            <a:r>
              <a:rPr lang="en-US" dirty="0"/>
              <a:t> </a:t>
            </a:r>
            <a:r>
              <a:rPr lang="en-US" dirty="0" err="1"/>
              <a:t>מחכה</a:t>
            </a:r>
            <a:r>
              <a:rPr lang="en-US" dirty="0"/>
              <a:t> </a:t>
            </a:r>
            <a:r>
              <a:rPr lang="en-US" dirty="0" err="1"/>
              <a:t>לאיזשהו</a:t>
            </a:r>
            <a:r>
              <a:rPr lang="en-US" dirty="0"/>
              <a:t> </a:t>
            </a:r>
            <a:r>
              <a:rPr lang="en-US" dirty="0" err="1"/>
              <a:t>קלט</a:t>
            </a:r>
            <a:r>
              <a:rPr lang="en-US" dirty="0"/>
              <a:t>) </a:t>
            </a:r>
            <a:r>
              <a:rPr lang="en-US" dirty="0" err="1"/>
              <a:t>מערכת</a:t>
            </a:r>
            <a:r>
              <a:rPr lang="en-US" dirty="0"/>
              <a:t> </a:t>
            </a:r>
            <a:r>
              <a:rPr lang="en-US" dirty="0" err="1"/>
              <a:t>ההפעלה</a:t>
            </a:r>
            <a:r>
              <a:rPr lang="en-US" dirty="0"/>
              <a:t> </a:t>
            </a:r>
            <a:r>
              <a:rPr lang="en-US" dirty="0" err="1"/>
              <a:t>מאפשרת</a:t>
            </a:r>
            <a:r>
              <a:rPr lang="en-US" dirty="0"/>
              <a:t> </a:t>
            </a:r>
            <a:r>
              <a:rPr lang="en-US" dirty="0" err="1"/>
              <a:t>לפתור</a:t>
            </a:r>
            <a:r>
              <a:rPr lang="en-US" dirty="0"/>
              <a:t> </a:t>
            </a:r>
            <a:r>
              <a:rPr lang="en-US" dirty="0" err="1"/>
              <a:t>זאת</a:t>
            </a:r>
            <a:r>
              <a:rPr lang="en-US" dirty="0"/>
              <a:t> </a:t>
            </a:r>
            <a:r>
              <a:rPr lang="en-US" dirty="0" err="1"/>
              <a:t>ע"י</a:t>
            </a:r>
            <a:r>
              <a:rPr lang="en-US" dirty="0"/>
              <a:t> </a:t>
            </a:r>
            <a:r>
              <a:rPr lang="en-US" dirty="0" err="1"/>
              <a:t>מעבר</a:t>
            </a:r>
            <a:r>
              <a:rPr lang="en-US" dirty="0"/>
              <a:t> </a:t>
            </a:r>
            <a:r>
              <a:rPr lang="en-US" dirty="0" err="1"/>
              <a:t>למצב</a:t>
            </a:r>
            <a:r>
              <a:rPr lang="en-US" dirty="0"/>
              <a:t>  blocked (</a:t>
            </a:r>
            <a:r>
              <a:rPr lang="en-US" dirty="0" err="1"/>
              <a:t>לא</a:t>
            </a:r>
            <a:r>
              <a:rPr lang="en-US" dirty="0"/>
              <a:t> </a:t>
            </a:r>
            <a:r>
              <a:rPr lang="en-US" dirty="0" err="1"/>
              <a:t>מחכים</a:t>
            </a:r>
            <a:r>
              <a:rPr lang="en-US" dirty="0"/>
              <a:t> </a:t>
            </a:r>
            <a:r>
              <a:rPr lang="en-US" dirty="0" err="1"/>
              <a:t>לזמן</a:t>
            </a:r>
            <a:r>
              <a:rPr lang="en-US" dirty="0"/>
              <a:t> </a:t>
            </a:r>
            <a:r>
              <a:rPr lang="en-US" dirty="0" err="1"/>
              <a:t>cpu</a:t>
            </a:r>
            <a:r>
              <a:rPr lang="en-US" dirty="0"/>
              <a:t>). </a:t>
            </a:r>
            <a:r>
              <a:rPr lang="en-US" dirty="0" err="1"/>
              <a:t>ניתן</a:t>
            </a:r>
            <a:r>
              <a:rPr lang="en-US" dirty="0"/>
              <a:t> </a:t>
            </a:r>
            <a:r>
              <a:rPr lang="en-US" dirty="0" err="1"/>
              <a:t>לפתור</a:t>
            </a:r>
            <a:r>
              <a:rPr lang="en-US" dirty="0"/>
              <a:t> </a:t>
            </a:r>
            <a:r>
              <a:rPr lang="en-US" dirty="0" err="1"/>
              <a:t>זאת</a:t>
            </a:r>
            <a:r>
              <a:rPr lang="en-US" dirty="0"/>
              <a:t> </a:t>
            </a:r>
            <a:r>
              <a:rPr lang="en-US" dirty="0" err="1"/>
              <a:t>ללא</a:t>
            </a:r>
            <a:r>
              <a:rPr lang="en-US" dirty="0"/>
              <a:t> </a:t>
            </a:r>
            <a:r>
              <a:rPr lang="en-US" dirty="0" err="1"/>
              <a:t>תמיכה</a:t>
            </a:r>
            <a:r>
              <a:rPr lang="en-US" dirty="0"/>
              <a:t> </a:t>
            </a:r>
            <a:r>
              <a:rPr lang="en-US" dirty="0" err="1"/>
              <a:t>של</a:t>
            </a:r>
            <a:r>
              <a:rPr lang="en-US" dirty="0"/>
              <a:t> </a:t>
            </a:r>
            <a:r>
              <a:rPr lang="en-US" dirty="0" err="1"/>
              <a:t>מערכת</a:t>
            </a:r>
            <a:r>
              <a:rPr lang="en-US" dirty="0"/>
              <a:t> </a:t>
            </a:r>
            <a:r>
              <a:rPr lang="en-US" dirty="0" err="1"/>
              <a:t>ההפעלה</a:t>
            </a:r>
            <a:r>
              <a:rPr lang="en-US" dirty="0"/>
              <a:t> – </a:t>
            </a:r>
            <a:r>
              <a:rPr lang="en-US" dirty="0" err="1"/>
              <a:t>למשל</a:t>
            </a:r>
            <a:r>
              <a:rPr lang="en-US" dirty="0"/>
              <a:t> </a:t>
            </a:r>
            <a:r>
              <a:rPr lang="en-US" dirty="0" err="1"/>
              <a:t>אם</a:t>
            </a:r>
            <a:r>
              <a:rPr lang="en-US" dirty="0"/>
              <a:t> </a:t>
            </a:r>
            <a:r>
              <a:rPr lang="en-US" dirty="0" err="1"/>
              <a:t>רוצים</a:t>
            </a:r>
            <a:r>
              <a:rPr lang="en-US" dirty="0"/>
              <a:t> </a:t>
            </a:r>
            <a:r>
              <a:rPr lang="en-US" dirty="0" err="1"/>
              <a:t>לחכות</a:t>
            </a:r>
            <a:r>
              <a:rPr lang="en-US" dirty="0"/>
              <a:t> </a:t>
            </a:r>
            <a:r>
              <a:rPr lang="en-US" dirty="0" err="1"/>
              <a:t>שתנאי</a:t>
            </a:r>
            <a:r>
              <a:rPr lang="en-US" dirty="0"/>
              <a:t> </a:t>
            </a:r>
            <a:r>
              <a:rPr lang="en-US" dirty="0" err="1"/>
              <a:t>יתקיים</a:t>
            </a:r>
            <a:r>
              <a:rPr lang="en-US" dirty="0"/>
              <a:t> </a:t>
            </a:r>
            <a:r>
              <a:rPr lang="en-US" dirty="0" err="1"/>
              <a:t>אז</a:t>
            </a:r>
            <a:r>
              <a:rPr lang="en-US" dirty="0"/>
              <a:t> </a:t>
            </a:r>
            <a:r>
              <a:rPr lang="en-US" dirty="0" err="1"/>
              <a:t>ניתן</a:t>
            </a:r>
            <a:r>
              <a:rPr lang="en-US" dirty="0"/>
              <a:t> </a:t>
            </a:r>
            <a:r>
              <a:rPr lang="en-US" dirty="0" err="1"/>
              <a:t>לעשות</a:t>
            </a:r>
            <a:r>
              <a:rPr lang="en-US" dirty="0"/>
              <a:t> busy wait – </a:t>
            </a:r>
            <a:r>
              <a:rPr lang="en-US" dirty="0" err="1"/>
              <a:t>לולאה</a:t>
            </a:r>
            <a:r>
              <a:rPr lang="en-US" dirty="0"/>
              <a:t> </a:t>
            </a:r>
            <a:r>
              <a:rPr lang="en-US" dirty="0" err="1"/>
              <a:t>שתרוץ</a:t>
            </a:r>
            <a:r>
              <a:rPr lang="en-US" dirty="0"/>
              <a:t> </a:t>
            </a:r>
            <a:r>
              <a:rPr lang="en-US" dirty="0" err="1"/>
              <a:t>כל</a:t>
            </a:r>
            <a:r>
              <a:rPr lang="en-US" dirty="0"/>
              <a:t> </a:t>
            </a:r>
            <a:r>
              <a:rPr lang="en-US" dirty="0" err="1"/>
              <a:t>עוד</a:t>
            </a:r>
            <a:r>
              <a:rPr lang="en-US" dirty="0"/>
              <a:t> </a:t>
            </a:r>
            <a:r>
              <a:rPr lang="en-US" dirty="0" err="1"/>
              <a:t>התנאי</a:t>
            </a:r>
            <a:r>
              <a:rPr lang="en-US" dirty="0"/>
              <a:t> </a:t>
            </a:r>
            <a:r>
              <a:rPr lang="en-US" dirty="0" err="1"/>
              <a:t>לא</a:t>
            </a:r>
            <a:r>
              <a:rPr lang="en-US" dirty="0"/>
              <a:t> </a:t>
            </a:r>
            <a:r>
              <a:rPr lang="en-US" dirty="0" err="1"/>
              <a:t>התקיים</a:t>
            </a:r>
            <a:r>
              <a:rPr lang="en-US" dirty="0"/>
              <a:t> </a:t>
            </a:r>
            <a:r>
              <a:rPr lang="en-US" dirty="0" err="1"/>
              <a:t>ואז</a:t>
            </a:r>
            <a:r>
              <a:rPr lang="en-US" dirty="0"/>
              <a:t> </a:t>
            </a:r>
            <a:r>
              <a:rPr lang="en-US" dirty="0" err="1"/>
              <a:t>נשארים</a:t>
            </a:r>
            <a:r>
              <a:rPr lang="en-US" dirty="0"/>
              <a:t> </a:t>
            </a:r>
            <a:r>
              <a:rPr lang="en-US" dirty="0" err="1"/>
              <a:t>במצב</a:t>
            </a:r>
            <a:r>
              <a:rPr lang="en-US" dirty="0"/>
              <a:t> running (</a:t>
            </a:r>
            <a:r>
              <a:rPr lang="en-US" dirty="0" err="1"/>
              <a:t>כלומר</a:t>
            </a:r>
            <a:r>
              <a:rPr lang="en-US" dirty="0"/>
              <a:t> </a:t>
            </a:r>
            <a:r>
              <a:rPr lang="en-US" dirty="0" err="1"/>
              <a:t>התהליך</a:t>
            </a:r>
            <a:r>
              <a:rPr lang="en-US" dirty="0"/>
              <a:t> </a:t>
            </a:r>
            <a:r>
              <a:rPr lang="en-US" dirty="0" err="1"/>
              <a:t>לא</a:t>
            </a:r>
            <a:r>
              <a:rPr lang="en-US" dirty="0"/>
              <a:t> </a:t>
            </a:r>
            <a:r>
              <a:rPr lang="en-US" dirty="0" err="1"/>
              <a:t>יוזם</a:t>
            </a:r>
            <a:r>
              <a:rPr lang="en-US" dirty="0"/>
              <a:t> </a:t>
            </a:r>
            <a:r>
              <a:rPr lang="en-US" dirty="0" err="1"/>
              <a:t>את</a:t>
            </a:r>
            <a:r>
              <a:rPr lang="en-US" dirty="0"/>
              <a:t> </a:t>
            </a:r>
            <a:r>
              <a:rPr lang="en-US" dirty="0" err="1"/>
              <a:t>העצירה</a:t>
            </a:r>
            <a:r>
              <a:rPr lang="en-US" dirty="0"/>
              <a:t> </a:t>
            </a:r>
            <a:r>
              <a:rPr lang="en-US" dirty="0" err="1"/>
              <a:t>הזו</a:t>
            </a:r>
            <a:r>
              <a:rPr lang="en-US" dirty="0"/>
              <a:t>). </a:t>
            </a:r>
            <a:r>
              <a:rPr lang="en-US" dirty="0" err="1"/>
              <a:t>כמובן</a:t>
            </a:r>
            <a:r>
              <a:rPr lang="en-US" dirty="0"/>
              <a:t> </a:t>
            </a:r>
            <a:r>
              <a:rPr lang="en-US" dirty="0" err="1"/>
              <a:t>שזה</a:t>
            </a:r>
            <a:r>
              <a:rPr lang="en-US" dirty="0"/>
              <a:t> </a:t>
            </a:r>
            <a:r>
              <a:rPr lang="en-US" dirty="0" err="1"/>
              <a:t>לא</a:t>
            </a:r>
            <a:r>
              <a:rPr lang="en-US" dirty="0"/>
              <a:t> </a:t>
            </a:r>
            <a:r>
              <a:rPr lang="en-US" dirty="0" err="1"/>
              <a:t>טוב</a:t>
            </a:r>
            <a:r>
              <a:rPr lang="en-US" dirty="0"/>
              <a:t>. </a:t>
            </a:r>
            <a:r>
              <a:rPr lang="en-US" dirty="0" err="1"/>
              <a:t>ולכן</a:t>
            </a:r>
            <a:r>
              <a:rPr lang="en-US" dirty="0"/>
              <a:t>, </a:t>
            </a:r>
            <a:r>
              <a:rPr lang="en-US" dirty="0" err="1"/>
              <a:t>אם</a:t>
            </a:r>
            <a:r>
              <a:rPr lang="en-US" dirty="0"/>
              <a:t> </a:t>
            </a:r>
            <a:r>
              <a:rPr lang="en-US" dirty="0" err="1"/>
              <a:t>תהליך</a:t>
            </a:r>
            <a:r>
              <a:rPr lang="en-US" dirty="0"/>
              <a:t> </a:t>
            </a:r>
            <a:r>
              <a:rPr lang="en-US" dirty="0" err="1"/>
              <a:t>אחר</a:t>
            </a:r>
            <a:r>
              <a:rPr lang="en-US" dirty="0"/>
              <a:t> </a:t>
            </a:r>
            <a:r>
              <a:rPr lang="en-US" dirty="0" err="1"/>
              <a:t>אחראי</a:t>
            </a:r>
            <a:r>
              <a:rPr lang="en-US" dirty="0"/>
              <a:t> </a:t>
            </a:r>
            <a:r>
              <a:rPr lang="en-US" dirty="0" err="1"/>
              <a:t>לשינוי</a:t>
            </a:r>
            <a:r>
              <a:rPr lang="en-US" dirty="0"/>
              <a:t> </a:t>
            </a:r>
            <a:r>
              <a:rPr lang="en-US" dirty="0" err="1"/>
              <a:t>התנאי</a:t>
            </a:r>
            <a:r>
              <a:rPr lang="en-US" dirty="0"/>
              <a:t> </a:t>
            </a:r>
            <a:r>
              <a:rPr lang="en-US" dirty="0" err="1"/>
              <a:t>הזה</a:t>
            </a:r>
            <a:r>
              <a:rPr lang="en-US" dirty="0"/>
              <a:t> </a:t>
            </a:r>
            <a:r>
              <a:rPr lang="en-US" dirty="0" err="1"/>
              <a:t>לtrue</a:t>
            </a:r>
            <a:r>
              <a:rPr lang="en-US" dirty="0"/>
              <a:t> </a:t>
            </a:r>
            <a:r>
              <a:rPr lang="en-US" dirty="0" err="1"/>
              <a:t>למשל</a:t>
            </a:r>
            <a:r>
              <a:rPr lang="en-US" dirty="0"/>
              <a:t>, </a:t>
            </a:r>
            <a:r>
              <a:rPr lang="en-US" dirty="0" err="1"/>
              <a:t>אז</a:t>
            </a:r>
            <a:r>
              <a:rPr lang="en-US" dirty="0"/>
              <a:t> </a:t>
            </a:r>
            <a:r>
              <a:rPr lang="en-US" dirty="0" err="1"/>
              <a:t>נחכה</a:t>
            </a:r>
            <a:r>
              <a:rPr lang="en-US" dirty="0"/>
              <a:t> </a:t>
            </a:r>
            <a:r>
              <a:rPr lang="en-US" dirty="0" err="1"/>
              <a:t>שזה</a:t>
            </a:r>
            <a:r>
              <a:rPr lang="en-US" dirty="0"/>
              <a:t> </a:t>
            </a:r>
            <a:r>
              <a:rPr lang="en-US" dirty="0" err="1"/>
              <a:t>יתרחש</a:t>
            </a:r>
            <a:r>
              <a:rPr lang="en-US" dirty="0"/>
              <a:t> </a:t>
            </a:r>
            <a:r>
              <a:rPr lang="en-US" dirty="0" err="1"/>
              <a:t>ואז</a:t>
            </a:r>
            <a:r>
              <a:rPr lang="en-US" dirty="0"/>
              <a:t> </a:t>
            </a:r>
            <a:r>
              <a:rPr lang="en-US" dirty="0" err="1"/>
              <a:t>בסיום</a:t>
            </a:r>
            <a:r>
              <a:rPr lang="en-US" dirty="0"/>
              <a:t> </a:t>
            </a:r>
            <a:r>
              <a:rPr lang="en-US" dirty="0" err="1"/>
              <a:t>הוא</a:t>
            </a:r>
            <a:r>
              <a:rPr lang="en-US" dirty="0"/>
              <a:t> </a:t>
            </a:r>
            <a:r>
              <a:rPr lang="en-US" dirty="0" err="1"/>
              <a:t>יעיר</a:t>
            </a:r>
            <a:r>
              <a:rPr lang="en-US" dirty="0"/>
              <a:t> </a:t>
            </a:r>
            <a:r>
              <a:rPr lang="en-US" dirty="0" err="1"/>
              <a:t>את</a:t>
            </a:r>
            <a:r>
              <a:rPr lang="en-US" dirty="0"/>
              <a:t> </a:t>
            </a:r>
            <a:r>
              <a:rPr lang="en-US" dirty="0" err="1"/>
              <a:t>התהליך</a:t>
            </a:r>
            <a:r>
              <a:rPr lang="en-US" dirty="0"/>
              <a:t> </a:t>
            </a:r>
            <a:r>
              <a:rPr lang="en-US" dirty="0" err="1"/>
              <a:t>שמחכה</a:t>
            </a:r>
            <a:r>
              <a:rPr lang="en-US" dirty="0"/>
              <a:t> </a:t>
            </a:r>
            <a:r>
              <a:rPr lang="en-US" dirty="0" err="1"/>
              <a:t>ויעבור</a:t>
            </a:r>
            <a:r>
              <a:rPr lang="en-US" dirty="0"/>
              <a:t> </a:t>
            </a:r>
            <a:r>
              <a:rPr lang="en-US" dirty="0" err="1"/>
              <a:t>מblocked</a:t>
            </a:r>
            <a:r>
              <a:rPr lang="en-US" dirty="0"/>
              <a:t> </a:t>
            </a:r>
            <a:r>
              <a:rPr lang="en-US" dirty="0" err="1"/>
              <a:t>למצב</a:t>
            </a:r>
            <a:r>
              <a:rPr lang="en-US" dirty="0"/>
              <a:t> ready.</a:t>
            </a:r>
            <a:endParaRPr dirty="0"/>
          </a:p>
          <a:p>
            <a:pPr marL="0" lvl="0" indent="0" algn="l" rtl="0">
              <a:spcBef>
                <a:spcPts val="0"/>
              </a:spcBef>
              <a:spcAft>
                <a:spcPts val="0"/>
              </a:spcAft>
              <a:buNone/>
            </a:pPr>
            <a:endParaRPr dirty="0"/>
          </a:p>
        </p:txBody>
      </p:sp>
      <p:sp>
        <p:nvSpPr>
          <p:cNvPr id="94" name="Google Shape;9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a:extLst>
            <a:ext uri="{FF2B5EF4-FFF2-40B4-BE49-F238E27FC236}">
              <a16:creationId xmlns:a16="http://schemas.microsoft.com/office/drawing/2014/main" id="{E4FE9C61-16DA-4C4D-0F47-A602BF578921}"/>
            </a:ext>
          </a:extLst>
        </p:cNvPr>
        <p:cNvGrpSpPr/>
        <p:nvPr/>
      </p:nvGrpSpPr>
      <p:grpSpPr>
        <a:xfrm>
          <a:off x="0" y="0"/>
          <a:ext cx="0" cy="0"/>
          <a:chOff x="0" y="0"/>
          <a:chExt cx="0" cy="0"/>
        </a:xfrm>
      </p:grpSpPr>
      <p:sp>
        <p:nvSpPr>
          <p:cNvPr id="287" name="Google Shape;287;p16:notes">
            <a:extLst>
              <a:ext uri="{FF2B5EF4-FFF2-40B4-BE49-F238E27FC236}">
                <a16:creationId xmlns:a16="http://schemas.microsoft.com/office/drawing/2014/main" id="{5C591151-2E67-F0E2-0CC4-B31AD34306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6:notes">
            <a:extLst>
              <a:ext uri="{FF2B5EF4-FFF2-40B4-BE49-F238E27FC236}">
                <a16:creationId xmlns:a16="http://schemas.microsoft.com/office/drawing/2014/main" id="{762C9848-9E41-A883-C61C-2295B783ACB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endParaRPr/>
          </a:p>
        </p:txBody>
      </p:sp>
      <p:sp>
        <p:nvSpPr>
          <p:cNvPr id="289" name="Google Shape;289;p16:notes">
            <a:extLst>
              <a:ext uri="{FF2B5EF4-FFF2-40B4-BE49-F238E27FC236}">
                <a16:creationId xmlns:a16="http://schemas.microsoft.com/office/drawing/2014/main" id="{D1448F52-6867-1A04-72C2-AD0423EAE88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1198569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6" name="Google Shape;11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רענון מתרגול קודם – מבנה הנתונים שמערכת ההפעלה שומרת לכל תהליך.</a:t>
            </a:r>
            <a:endParaRPr/>
          </a:p>
          <a:p>
            <a:pPr marL="0" lvl="0" indent="0" algn="r" rtl="1">
              <a:lnSpc>
                <a:spcPct val="100000"/>
              </a:lnSpc>
              <a:spcBef>
                <a:spcPts val="360"/>
              </a:spcBef>
              <a:spcAft>
                <a:spcPts val="0"/>
              </a:spcAft>
              <a:buClr>
                <a:schemeClr val="dk1"/>
              </a:buClr>
              <a:buSzPts val="1400"/>
              <a:buFont typeface="Arial"/>
              <a:buNone/>
            </a:pPr>
            <a:r>
              <a:rPr lang="en-US"/>
              <a:t>מה שרלוונטי להיום – מנעול שמגן על 5 השדות (רלוונטיים לתרגול) </a:t>
            </a:r>
            <a:endParaRPr/>
          </a:p>
          <a:p>
            <a:pPr marL="0" lvl="0" indent="0" algn="r" rtl="1">
              <a:lnSpc>
                <a:spcPct val="100000"/>
              </a:lnSpc>
              <a:spcBef>
                <a:spcPts val="360"/>
              </a:spcBef>
              <a:spcAft>
                <a:spcPts val="0"/>
              </a:spcAft>
              <a:buClr>
                <a:schemeClr val="dk1"/>
              </a:buClr>
              <a:buSzPts val="1400"/>
              <a:buFont typeface="Arial"/>
              <a:buNone/>
            </a:pPr>
            <a:r>
              <a:rPr lang="en-US"/>
              <a:t>Chan – ניגע בזה. למעשה כשתהליך עובר למצב blocked/sleeping אז הוא מחכה על האובייקט שנמצא ב-chan, וככה נזהה את התהליך הנכון להעיר ב-wakeup.</a:t>
            </a:r>
            <a:endParaRPr/>
          </a:p>
          <a:p>
            <a:pPr marL="0" lvl="0" indent="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r>
              <a:rPr lang="en-US"/>
              <a:t>דבר נוסף שרלוונטי לתרגול זה context שנראה איך עובדים context switching.</a:t>
            </a:r>
            <a:endParaRPr/>
          </a:p>
        </p:txBody>
      </p:sp>
      <p:sp>
        <p:nvSpPr>
          <p:cNvPr id="117" name="Google Shape;11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dirty="0" err="1"/>
              <a:t>כעת</a:t>
            </a:r>
            <a:r>
              <a:rPr lang="en-US" dirty="0"/>
              <a:t> </a:t>
            </a:r>
            <a:r>
              <a:rPr lang="en-US" dirty="0" err="1"/>
              <a:t>נדבר</a:t>
            </a:r>
            <a:r>
              <a:rPr lang="en-US" dirty="0"/>
              <a:t> </a:t>
            </a:r>
            <a:r>
              <a:rPr lang="en-US" dirty="0" err="1"/>
              <a:t>על</a:t>
            </a:r>
            <a:r>
              <a:rPr lang="en-US" dirty="0"/>
              <a:t> </a:t>
            </a:r>
            <a:r>
              <a:rPr lang="en-US" dirty="0" err="1"/>
              <a:t>המעבר</a:t>
            </a:r>
            <a:r>
              <a:rPr lang="en-US" dirty="0"/>
              <a:t> </a:t>
            </a:r>
            <a:r>
              <a:rPr lang="en-US" dirty="0" err="1"/>
              <a:t>מnew</a:t>
            </a:r>
            <a:r>
              <a:rPr lang="en-US" dirty="0"/>
              <a:t> </a:t>
            </a:r>
            <a:r>
              <a:rPr lang="en-US" dirty="0" err="1"/>
              <a:t>לready</a:t>
            </a:r>
            <a:r>
              <a:rPr lang="en-US" dirty="0"/>
              <a:t>. </a:t>
            </a:r>
            <a:r>
              <a:rPr lang="en-US" dirty="0" err="1"/>
              <a:t>כלומר</a:t>
            </a:r>
            <a:r>
              <a:rPr lang="en-US" dirty="0"/>
              <a:t> </a:t>
            </a:r>
            <a:r>
              <a:rPr lang="en-US" dirty="0" err="1"/>
              <a:t>ממצב</a:t>
            </a:r>
            <a:r>
              <a:rPr lang="en-US" dirty="0"/>
              <a:t> </a:t>
            </a:r>
            <a:r>
              <a:rPr lang="en-US" dirty="0" err="1"/>
              <a:t>שתהליך</a:t>
            </a:r>
            <a:r>
              <a:rPr lang="en-US" dirty="0"/>
              <a:t> </a:t>
            </a:r>
            <a:r>
              <a:rPr lang="en-US" dirty="0" err="1"/>
              <a:t>הסתיים</a:t>
            </a:r>
            <a:r>
              <a:rPr lang="en-US" dirty="0"/>
              <a:t> </a:t>
            </a:r>
            <a:r>
              <a:rPr lang="en-US" dirty="0" err="1"/>
              <a:t>להיווצר</a:t>
            </a:r>
            <a:r>
              <a:rPr lang="en-US" dirty="0"/>
              <a:t> </a:t>
            </a:r>
            <a:r>
              <a:rPr lang="en-US" dirty="0" err="1"/>
              <a:t>ועד</a:t>
            </a:r>
            <a:r>
              <a:rPr lang="en-US" dirty="0"/>
              <a:t> </a:t>
            </a:r>
            <a:r>
              <a:rPr lang="en-US" dirty="0" err="1"/>
              <a:t>שהוא</a:t>
            </a:r>
            <a:r>
              <a:rPr lang="en-US" dirty="0"/>
              <a:t> </a:t>
            </a:r>
            <a:r>
              <a:rPr lang="en-US" dirty="0" err="1"/>
              <a:t>מוכן</a:t>
            </a:r>
            <a:r>
              <a:rPr lang="en-US" dirty="0"/>
              <a:t> </a:t>
            </a:r>
            <a:r>
              <a:rPr lang="en-US" dirty="0" err="1"/>
              <a:t>לריצה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כל</a:t>
            </a:r>
            <a:r>
              <a:rPr lang="en-US" dirty="0"/>
              <a:t> </a:t>
            </a:r>
            <a:r>
              <a:rPr lang="en-US" dirty="0" err="1"/>
              <a:t>התהליכים</a:t>
            </a:r>
            <a:r>
              <a:rPr lang="en-US" dirty="0"/>
              <a:t> </a:t>
            </a:r>
            <a:r>
              <a:rPr lang="en-US" dirty="0" err="1"/>
              <a:t>פרט</a:t>
            </a:r>
            <a:r>
              <a:rPr lang="en-US" dirty="0"/>
              <a:t> </a:t>
            </a:r>
            <a:r>
              <a:rPr lang="en-US" dirty="0" err="1"/>
              <a:t>לתהליך</a:t>
            </a:r>
            <a:r>
              <a:rPr lang="en-US" dirty="0"/>
              <a:t> </a:t>
            </a:r>
            <a:r>
              <a:rPr lang="en-US" dirty="0" err="1"/>
              <a:t>הראשון</a:t>
            </a:r>
            <a:r>
              <a:rPr lang="en-US" dirty="0"/>
              <a:t> </a:t>
            </a:r>
            <a:r>
              <a:rPr lang="en-US" dirty="0" err="1"/>
              <a:t>נוצרים</a:t>
            </a:r>
            <a:r>
              <a:rPr lang="en-US" dirty="0"/>
              <a:t> </a:t>
            </a:r>
            <a:r>
              <a:rPr lang="en-US" dirty="0" err="1"/>
              <a:t>בעזרת</a:t>
            </a:r>
            <a:r>
              <a:rPr lang="en-US" dirty="0"/>
              <a:t> fork.</a:t>
            </a:r>
            <a:endParaRPr dirty="0"/>
          </a:p>
          <a:p>
            <a:pPr marL="0" lvl="0" indent="0" algn="r" rtl="1">
              <a:lnSpc>
                <a:spcPct val="100000"/>
              </a:lnSpc>
              <a:spcBef>
                <a:spcPts val="360"/>
              </a:spcBef>
              <a:spcAft>
                <a:spcPts val="0"/>
              </a:spcAft>
              <a:buClr>
                <a:schemeClr val="dk1"/>
              </a:buClr>
              <a:buSzPts val="1400"/>
              <a:buFont typeface="Arial"/>
              <a:buNone/>
            </a:pPr>
            <a:r>
              <a:rPr lang="en-US" dirty="0"/>
              <a:t>p </a:t>
            </a:r>
            <a:r>
              <a:rPr lang="en-US" dirty="0" err="1"/>
              <a:t>זה</a:t>
            </a:r>
            <a:r>
              <a:rPr lang="en-US" dirty="0"/>
              <a:t> </a:t>
            </a:r>
            <a:r>
              <a:rPr lang="en-US" dirty="0" err="1"/>
              <a:t>תהליך</a:t>
            </a:r>
            <a:r>
              <a:rPr lang="en-US" dirty="0"/>
              <a:t> </a:t>
            </a:r>
            <a:r>
              <a:rPr lang="en-US" dirty="0" err="1"/>
              <a:t>האב</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np </a:t>
            </a:r>
            <a:r>
              <a:rPr lang="en-US" dirty="0" err="1"/>
              <a:t>זה</a:t>
            </a:r>
            <a:r>
              <a:rPr lang="en-US" dirty="0"/>
              <a:t> </a:t>
            </a:r>
            <a:r>
              <a:rPr lang="en-US" dirty="0" err="1"/>
              <a:t>תהליך</a:t>
            </a:r>
            <a:r>
              <a:rPr lang="en-US" dirty="0"/>
              <a:t> </a:t>
            </a:r>
            <a:r>
              <a:rPr lang="en-US" dirty="0" err="1"/>
              <a:t>הבן</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allocproc</a:t>
            </a:r>
            <a:r>
              <a:rPr lang="en-US" dirty="0"/>
              <a:t> – </a:t>
            </a:r>
            <a:r>
              <a:rPr lang="en-US" dirty="0" err="1"/>
              <a:t>עוברת</a:t>
            </a:r>
            <a:r>
              <a:rPr lang="en-US" dirty="0"/>
              <a:t> </a:t>
            </a:r>
            <a:r>
              <a:rPr lang="en-US" dirty="0" err="1"/>
              <a:t>לטבלת</a:t>
            </a:r>
            <a:r>
              <a:rPr lang="en-US" dirty="0"/>
              <a:t> </a:t>
            </a:r>
            <a:r>
              <a:rPr lang="en-US" dirty="0" err="1"/>
              <a:t>התהליכים</a:t>
            </a:r>
            <a:r>
              <a:rPr lang="en-US" dirty="0"/>
              <a:t> </a:t>
            </a:r>
            <a:r>
              <a:rPr lang="en-US" dirty="0" err="1"/>
              <a:t>ומחפשת</a:t>
            </a:r>
            <a:r>
              <a:rPr lang="en-US" dirty="0"/>
              <a:t> </a:t>
            </a:r>
            <a:r>
              <a:rPr lang="en-US" dirty="0" err="1"/>
              <a:t>מקום</a:t>
            </a:r>
            <a:r>
              <a:rPr lang="en-US" dirty="0"/>
              <a:t> </a:t>
            </a:r>
            <a:r>
              <a:rPr lang="en-US" dirty="0" err="1"/>
              <a:t>בטבלה</a:t>
            </a:r>
            <a:r>
              <a:rPr lang="en-US" dirty="0"/>
              <a:t> </a:t>
            </a:r>
            <a:r>
              <a:rPr lang="en-US" dirty="0" err="1"/>
              <a:t>שהוא</a:t>
            </a:r>
            <a:r>
              <a:rPr lang="en-US" dirty="0"/>
              <a:t> UNUSED </a:t>
            </a:r>
            <a:r>
              <a:rPr lang="en-US" dirty="0" err="1"/>
              <a:t>ואם</a:t>
            </a:r>
            <a:r>
              <a:rPr lang="en-US" dirty="0"/>
              <a:t> </a:t>
            </a:r>
            <a:r>
              <a:rPr lang="en-US" dirty="0" err="1"/>
              <a:t>לא</a:t>
            </a:r>
            <a:r>
              <a:rPr lang="en-US" dirty="0"/>
              <a:t> </a:t>
            </a:r>
            <a:r>
              <a:rPr lang="en-US" dirty="0" err="1"/>
              <a:t>מצאה</a:t>
            </a:r>
            <a:r>
              <a:rPr lang="en-US" dirty="0"/>
              <a:t> </a:t>
            </a:r>
            <a:r>
              <a:rPr lang="en-US" dirty="0" err="1"/>
              <a:t>אז</a:t>
            </a:r>
            <a:r>
              <a:rPr lang="en-US" dirty="0"/>
              <a:t> </a:t>
            </a:r>
            <a:r>
              <a:rPr lang="en-US" dirty="0" err="1"/>
              <a:t>לא</a:t>
            </a:r>
            <a:r>
              <a:rPr lang="en-US" dirty="0"/>
              <a:t> </a:t>
            </a:r>
            <a:r>
              <a:rPr lang="en-US" dirty="0" err="1"/>
              <a:t>ניתן</a:t>
            </a:r>
            <a:r>
              <a:rPr lang="en-US" dirty="0"/>
              <a:t> </a:t>
            </a:r>
            <a:r>
              <a:rPr lang="en-US" dirty="0" err="1"/>
              <a:t>ליצור</a:t>
            </a:r>
            <a:r>
              <a:rPr lang="en-US" dirty="0"/>
              <a:t> </a:t>
            </a:r>
            <a:r>
              <a:rPr lang="en-US" dirty="0" err="1"/>
              <a:t>את</a:t>
            </a:r>
            <a:r>
              <a:rPr lang="en-US" dirty="0"/>
              <a:t> </a:t>
            </a:r>
            <a:r>
              <a:rPr lang="en-US" dirty="0" err="1"/>
              <a:t>התהליך</a:t>
            </a:r>
            <a:r>
              <a:rPr lang="en-US" dirty="0"/>
              <a:t> (</a:t>
            </a:r>
            <a:r>
              <a:rPr lang="en-US" dirty="0" err="1"/>
              <a:t>מחזירים</a:t>
            </a:r>
            <a:r>
              <a:rPr lang="en-US" dirty="0"/>
              <a:t> -1).</a:t>
            </a:r>
            <a:endParaRPr dirty="0"/>
          </a:p>
          <a:p>
            <a:pPr marL="0" lvl="0" indent="0" algn="r" rtl="1">
              <a:lnSpc>
                <a:spcPct val="100000"/>
              </a:lnSpc>
              <a:spcBef>
                <a:spcPts val="360"/>
              </a:spcBef>
              <a:spcAft>
                <a:spcPts val="0"/>
              </a:spcAft>
              <a:buClr>
                <a:schemeClr val="dk1"/>
              </a:buClr>
              <a:buSzPts val="1400"/>
              <a:buFont typeface="Arial"/>
              <a:buNone/>
            </a:pPr>
            <a:r>
              <a:rPr lang="en-US" dirty="0" err="1"/>
              <a:t>אחרת</a:t>
            </a:r>
            <a:r>
              <a:rPr lang="en-US" dirty="0"/>
              <a:t>, </a:t>
            </a:r>
            <a:r>
              <a:rPr lang="en-US" dirty="0" err="1"/>
              <a:t>היא</a:t>
            </a:r>
            <a:r>
              <a:rPr lang="en-US" dirty="0"/>
              <a:t> </a:t>
            </a:r>
            <a:r>
              <a:rPr lang="en-US" dirty="0" err="1"/>
              <a:t>תיצור</a:t>
            </a:r>
            <a:r>
              <a:rPr lang="en-US" dirty="0"/>
              <a:t> </a:t>
            </a:r>
            <a:r>
              <a:rPr lang="en-US" dirty="0" err="1"/>
              <a:t>pid</a:t>
            </a:r>
            <a:r>
              <a:rPr lang="en-US" dirty="0"/>
              <a:t> </a:t>
            </a:r>
            <a:r>
              <a:rPr lang="en-US" dirty="0" err="1"/>
              <a:t>לתהליך</a:t>
            </a:r>
            <a:r>
              <a:rPr lang="en-US" dirty="0"/>
              <a:t> </a:t>
            </a:r>
            <a:r>
              <a:rPr lang="en-US" dirty="0" err="1"/>
              <a:t>שנוצר</a:t>
            </a:r>
            <a:r>
              <a:rPr lang="en-US" dirty="0"/>
              <a:t> </a:t>
            </a:r>
            <a:r>
              <a:rPr lang="en-US" dirty="0" err="1"/>
              <a:t>ותעדכן</a:t>
            </a:r>
            <a:r>
              <a:rPr lang="en-US" dirty="0"/>
              <a:t> </a:t>
            </a:r>
            <a:r>
              <a:rPr lang="en-US" dirty="0" err="1"/>
              <a:t>את</a:t>
            </a:r>
            <a:r>
              <a:rPr lang="en-US" dirty="0"/>
              <a:t> </a:t>
            </a:r>
            <a:r>
              <a:rPr lang="en-US" dirty="0" err="1"/>
              <a:t>המקום</a:t>
            </a:r>
            <a:r>
              <a:rPr lang="en-US" dirty="0"/>
              <a:t> </a:t>
            </a:r>
            <a:r>
              <a:rPr lang="en-US" dirty="0" err="1"/>
              <a:t>בטבלה</a:t>
            </a:r>
            <a:r>
              <a:rPr lang="en-US" dirty="0"/>
              <a:t> </a:t>
            </a:r>
            <a:r>
              <a:rPr lang="en-US" dirty="0" err="1"/>
              <a:t>ל</a:t>
            </a:r>
            <a:r>
              <a:rPr lang="en-US" dirty="0"/>
              <a:t> USED (</a:t>
            </a:r>
            <a:r>
              <a:rPr lang="en-US" dirty="0" err="1"/>
              <a:t>עוד</a:t>
            </a:r>
            <a:r>
              <a:rPr lang="en-US" dirty="0"/>
              <a:t> </a:t>
            </a:r>
            <a:r>
              <a:rPr lang="en-US" dirty="0" err="1"/>
              <a:t>לא</a:t>
            </a:r>
            <a:r>
              <a:rPr lang="en-US" dirty="0"/>
              <a:t> RUNNABLE).</a:t>
            </a:r>
            <a:endParaRPr dirty="0"/>
          </a:p>
          <a:p>
            <a:pPr marL="0" lvl="0" indent="0" algn="r" rtl="1">
              <a:lnSpc>
                <a:spcPct val="100000"/>
              </a:lnSpc>
              <a:spcBef>
                <a:spcPts val="360"/>
              </a:spcBef>
              <a:spcAft>
                <a:spcPts val="0"/>
              </a:spcAft>
              <a:buClr>
                <a:schemeClr val="dk1"/>
              </a:buClr>
              <a:buSzPts val="1400"/>
              <a:buFont typeface="Arial"/>
              <a:buNone/>
            </a:pPr>
            <a:r>
              <a:rPr lang="en-US" dirty="0" err="1"/>
              <a:t>איך</a:t>
            </a:r>
            <a:r>
              <a:rPr lang="en-US" dirty="0"/>
              <a:t> fork </a:t>
            </a:r>
            <a:r>
              <a:rPr lang="en-US" dirty="0" err="1"/>
              <a:t>מבצע</a:t>
            </a:r>
            <a:r>
              <a:rPr lang="en-US" dirty="0"/>
              <a:t> </a:t>
            </a:r>
            <a:r>
              <a:rPr lang="en-US" dirty="0" err="1"/>
              <a:t>אתחול</a:t>
            </a:r>
            <a:r>
              <a:rPr lang="en-US" dirty="0"/>
              <a:t> </a:t>
            </a:r>
            <a:r>
              <a:rPr lang="en-US" dirty="0" err="1"/>
              <a:t>לתהליך</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מעתיק</a:t>
            </a:r>
            <a:r>
              <a:rPr lang="en-US" dirty="0"/>
              <a:t> </a:t>
            </a:r>
            <a:r>
              <a:rPr lang="en-US" dirty="0" err="1"/>
              <a:t>את</a:t>
            </a:r>
            <a:r>
              <a:rPr lang="en-US" dirty="0"/>
              <a:t> </a:t>
            </a:r>
            <a:r>
              <a:rPr lang="en-US" dirty="0" err="1"/>
              <a:t>כל</a:t>
            </a:r>
            <a:r>
              <a:rPr lang="en-US" dirty="0"/>
              <a:t> </a:t>
            </a:r>
            <a:r>
              <a:rPr lang="en-US" dirty="0" err="1"/>
              <a:t>זכרון</a:t>
            </a:r>
            <a:r>
              <a:rPr lang="en-US" dirty="0"/>
              <a:t> </a:t>
            </a:r>
            <a:r>
              <a:rPr lang="en-US" dirty="0" err="1"/>
              <a:t>תהליך</a:t>
            </a:r>
            <a:r>
              <a:rPr lang="en-US" dirty="0"/>
              <a:t> </a:t>
            </a:r>
            <a:r>
              <a:rPr lang="en-US" dirty="0" err="1"/>
              <a:t>האב</a:t>
            </a:r>
            <a:r>
              <a:rPr lang="en-US" dirty="0"/>
              <a:t> </a:t>
            </a:r>
            <a:r>
              <a:rPr lang="en-US" dirty="0" err="1"/>
              <a:t>בעזרת</a:t>
            </a:r>
            <a:r>
              <a:rPr lang="en-US" dirty="0"/>
              <a:t> </a:t>
            </a:r>
            <a:r>
              <a:rPr lang="en-US" dirty="0" err="1"/>
              <a:t>uvmcopy</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מעתיקים</a:t>
            </a:r>
            <a:r>
              <a:rPr lang="en-US" dirty="0"/>
              <a:t> </a:t>
            </a:r>
            <a:r>
              <a:rPr lang="en-US" dirty="0" err="1"/>
              <a:t>את</a:t>
            </a:r>
            <a:r>
              <a:rPr lang="en-US" dirty="0"/>
              <a:t> </a:t>
            </a:r>
            <a:r>
              <a:rPr lang="en-US" dirty="0" err="1"/>
              <a:t>גודל</a:t>
            </a:r>
            <a:r>
              <a:rPr lang="en-US" dirty="0"/>
              <a:t> </a:t>
            </a:r>
            <a:r>
              <a:rPr lang="en-US" dirty="0" err="1"/>
              <a:t>הזכרון</a:t>
            </a:r>
            <a:r>
              <a:rPr lang="en-US" dirty="0"/>
              <a:t> </a:t>
            </a:r>
            <a:r>
              <a:rPr lang="en-US" dirty="0" err="1"/>
              <a:t>ואת</a:t>
            </a:r>
            <a:r>
              <a:rPr lang="en-US" dirty="0"/>
              <a:t> </a:t>
            </a:r>
            <a:r>
              <a:rPr lang="en-US" dirty="0" err="1"/>
              <a:t>הtrapframe</a:t>
            </a:r>
            <a:r>
              <a:rPr lang="en-US" dirty="0"/>
              <a:t> </a:t>
            </a:r>
            <a:r>
              <a:rPr lang="en-US" dirty="0" err="1"/>
              <a:t>כי</a:t>
            </a:r>
            <a:r>
              <a:rPr lang="en-US" dirty="0"/>
              <a:t> </a:t>
            </a:r>
            <a:r>
              <a:rPr lang="en-US" dirty="0" err="1"/>
              <a:t>נרצה</a:t>
            </a:r>
            <a:r>
              <a:rPr lang="en-US" dirty="0"/>
              <a:t> </a:t>
            </a:r>
            <a:r>
              <a:rPr lang="en-US" dirty="0" err="1"/>
              <a:t>שהריצה</a:t>
            </a:r>
            <a:r>
              <a:rPr lang="en-US" dirty="0"/>
              <a:t> </a:t>
            </a:r>
            <a:r>
              <a:rPr lang="en-US" dirty="0" err="1"/>
              <a:t>של</a:t>
            </a:r>
            <a:r>
              <a:rPr lang="en-US" dirty="0"/>
              <a:t> </a:t>
            </a:r>
            <a:r>
              <a:rPr lang="en-US" dirty="0" err="1"/>
              <a:t>תהליך</a:t>
            </a:r>
            <a:r>
              <a:rPr lang="en-US" dirty="0"/>
              <a:t> </a:t>
            </a:r>
            <a:r>
              <a:rPr lang="en-US" dirty="0" err="1"/>
              <a:t>הבן</a:t>
            </a:r>
            <a:r>
              <a:rPr lang="en-US" dirty="0"/>
              <a:t> </a:t>
            </a:r>
            <a:r>
              <a:rPr lang="en-US" dirty="0" err="1"/>
              <a:t>תימשך</a:t>
            </a:r>
            <a:r>
              <a:rPr lang="en-US" dirty="0"/>
              <a:t> </a:t>
            </a:r>
            <a:r>
              <a:rPr lang="en-US" dirty="0" err="1"/>
              <a:t>מאותה</a:t>
            </a:r>
            <a:r>
              <a:rPr lang="en-US" dirty="0"/>
              <a:t> </a:t>
            </a:r>
            <a:r>
              <a:rPr lang="en-US" dirty="0" err="1"/>
              <a:t>נקודה</a:t>
            </a:r>
            <a:r>
              <a:rPr lang="en-US" dirty="0"/>
              <a:t> </a:t>
            </a:r>
            <a:r>
              <a:rPr lang="en-US" dirty="0" err="1"/>
              <a:t>שתהליך</a:t>
            </a:r>
            <a:r>
              <a:rPr lang="en-US" dirty="0"/>
              <a:t> </a:t>
            </a:r>
            <a:r>
              <a:rPr lang="en-US" dirty="0" err="1"/>
              <a:t>האב</a:t>
            </a:r>
            <a:r>
              <a:rPr lang="en-US" dirty="0"/>
              <a:t> </a:t>
            </a:r>
            <a:r>
              <a:rPr lang="en-US" dirty="0" err="1"/>
              <a:t>היה</a:t>
            </a:r>
            <a:r>
              <a:rPr lang="en-US" dirty="0"/>
              <a:t> </a:t>
            </a:r>
            <a:r>
              <a:rPr lang="en-US" dirty="0" err="1"/>
              <a:t>בה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אבל</a:t>
            </a:r>
            <a:r>
              <a:rPr lang="en-US" dirty="0"/>
              <a:t> </a:t>
            </a:r>
            <a:r>
              <a:rPr lang="en-US" dirty="0" err="1"/>
              <a:t>ברגיסטר</a:t>
            </a:r>
            <a:r>
              <a:rPr lang="en-US" dirty="0"/>
              <a:t> a0 </a:t>
            </a:r>
            <a:r>
              <a:rPr lang="en-US" dirty="0" err="1"/>
              <a:t>של</a:t>
            </a:r>
            <a:r>
              <a:rPr lang="en-US" dirty="0"/>
              <a:t> </a:t>
            </a:r>
            <a:r>
              <a:rPr lang="en-US" dirty="0" err="1"/>
              <a:t>תהליך</a:t>
            </a:r>
            <a:r>
              <a:rPr lang="en-US" dirty="0"/>
              <a:t> </a:t>
            </a:r>
            <a:r>
              <a:rPr lang="en-US" dirty="0" err="1"/>
              <a:t>הבן</a:t>
            </a:r>
            <a:r>
              <a:rPr lang="en-US" dirty="0"/>
              <a:t> </a:t>
            </a:r>
            <a:r>
              <a:rPr lang="en-US" dirty="0" err="1"/>
              <a:t>נשים</a:t>
            </a:r>
            <a:r>
              <a:rPr lang="en-US" dirty="0"/>
              <a:t> 0 – </a:t>
            </a:r>
            <a:r>
              <a:rPr lang="en-US" dirty="0" err="1"/>
              <a:t>ערך</a:t>
            </a:r>
            <a:r>
              <a:rPr lang="en-US" dirty="0"/>
              <a:t> </a:t>
            </a:r>
            <a:r>
              <a:rPr lang="en-US" dirty="0" err="1"/>
              <a:t>החזרה</a:t>
            </a:r>
            <a:r>
              <a:rPr lang="en-US" dirty="0"/>
              <a:t> </a:t>
            </a:r>
            <a:r>
              <a:rPr lang="en-US" dirty="0" err="1"/>
              <a:t>של</a:t>
            </a:r>
            <a:r>
              <a:rPr lang="en-US" dirty="0"/>
              <a:t> fork.</a:t>
            </a:r>
            <a:endParaRPr dirty="0"/>
          </a:p>
          <a:p>
            <a:pPr marL="0" lvl="0" indent="0" algn="r" rtl="1">
              <a:lnSpc>
                <a:spcPct val="100000"/>
              </a:lnSpc>
              <a:spcBef>
                <a:spcPts val="360"/>
              </a:spcBef>
              <a:spcAft>
                <a:spcPts val="0"/>
              </a:spcAft>
              <a:buClr>
                <a:schemeClr val="dk1"/>
              </a:buClr>
              <a:buSzPts val="1400"/>
              <a:buFont typeface="Arial"/>
              <a:buNone/>
            </a:pPr>
            <a:r>
              <a:rPr lang="en-US" dirty="0" err="1"/>
              <a:t>בלולאה</a:t>
            </a:r>
            <a:r>
              <a:rPr lang="en-US" dirty="0"/>
              <a:t> </a:t>
            </a:r>
            <a:r>
              <a:rPr lang="en-US" dirty="0" err="1"/>
              <a:t>מתבצעת</a:t>
            </a:r>
            <a:r>
              <a:rPr lang="en-US" dirty="0"/>
              <a:t> </a:t>
            </a:r>
            <a:r>
              <a:rPr lang="en-US" dirty="0" err="1"/>
              <a:t>העתקה</a:t>
            </a:r>
            <a:r>
              <a:rPr lang="en-US" dirty="0"/>
              <a:t> </a:t>
            </a:r>
            <a:r>
              <a:rPr lang="en-US" dirty="0" err="1"/>
              <a:t>של</a:t>
            </a:r>
            <a:r>
              <a:rPr lang="en-US" dirty="0"/>
              <a:t> </a:t>
            </a:r>
            <a:r>
              <a:rPr lang="en-US" dirty="0" err="1"/>
              <a:t>הfile</a:t>
            </a:r>
            <a:r>
              <a:rPr lang="en-US" dirty="0"/>
              <a:t> descriptors.</a:t>
            </a:r>
            <a:endParaRPr dirty="0"/>
          </a:p>
          <a:p>
            <a:pPr marL="0" lvl="0" indent="0" algn="r" rtl="1">
              <a:lnSpc>
                <a:spcPct val="100000"/>
              </a:lnSpc>
              <a:spcBef>
                <a:spcPts val="360"/>
              </a:spcBef>
              <a:spcAft>
                <a:spcPts val="0"/>
              </a:spcAft>
              <a:buClr>
                <a:schemeClr val="dk1"/>
              </a:buClr>
              <a:buSzPts val="1400"/>
              <a:buFont typeface="Arial"/>
              <a:buNone/>
            </a:pPr>
            <a:r>
              <a:rPr lang="en-US" dirty="0" err="1"/>
              <a:t>safestrscpy</a:t>
            </a:r>
            <a:r>
              <a:rPr lang="en-US" dirty="0"/>
              <a:t> – </a:t>
            </a:r>
            <a:r>
              <a:rPr lang="en-US" dirty="0" err="1"/>
              <a:t>להעתקה</a:t>
            </a:r>
            <a:r>
              <a:rPr lang="en-US" dirty="0"/>
              <a:t> </a:t>
            </a:r>
            <a:r>
              <a:rPr lang="en-US" dirty="0" err="1"/>
              <a:t>של</a:t>
            </a:r>
            <a:r>
              <a:rPr lang="en-US" dirty="0"/>
              <a:t> </a:t>
            </a:r>
            <a:r>
              <a:rPr lang="en-US" dirty="0" err="1"/>
              <a:t>שם</a:t>
            </a:r>
            <a:r>
              <a:rPr lang="en-US" dirty="0"/>
              <a:t> </a:t>
            </a:r>
            <a:r>
              <a:rPr lang="en-US" dirty="0" err="1"/>
              <a:t>התהליך</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אתחול</a:t>
            </a:r>
            <a:r>
              <a:rPr lang="en-US" dirty="0"/>
              <a:t> </a:t>
            </a:r>
            <a:r>
              <a:rPr lang="en-US" dirty="0" err="1"/>
              <a:t>שדות</a:t>
            </a:r>
            <a:r>
              <a:rPr lang="en-US" dirty="0"/>
              <a:t> parent, </a:t>
            </a:r>
            <a:r>
              <a:rPr lang="en-US" dirty="0" err="1"/>
              <a:t>pid</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עדכון</a:t>
            </a:r>
            <a:r>
              <a:rPr lang="en-US" dirty="0"/>
              <a:t> </a:t>
            </a:r>
            <a:r>
              <a:rPr lang="en-US" dirty="0" err="1"/>
              <a:t>שדה</a:t>
            </a:r>
            <a:r>
              <a:rPr lang="en-US" dirty="0"/>
              <a:t> </a:t>
            </a:r>
            <a:r>
              <a:rPr lang="en-US" dirty="0" err="1"/>
              <a:t>המצב</a:t>
            </a:r>
            <a:r>
              <a:rPr lang="en-US" dirty="0"/>
              <a:t> </a:t>
            </a:r>
            <a:r>
              <a:rPr lang="en-US" dirty="0" err="1"/>
              <a:t>לrunnable</a:t>
            </a:r>
            <a:r>
              <a:rPr lang="en-US" dirty="0"/>
              <a:t>. </a:t>
            </a:r>
            <a:endParaRPr dirty="0"/>
          </a:p>
        </p:txBody>
      </p:sp>
      <p:sp>
        <p:nvSpPr>
          <p:cNvPr id="125" name="Google Shape;12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6" name="Google Shape;136;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dirty="0" err="1"/>
              <a:t>כעת</a:t>
            </a:r>
            <a:r>
              <a:rPr lang="en-US" dirty="0"/>
              <a:t> </a:t>
            </a:r>
            <a:r>
              <a:rPr lang="en-US" dirty="0" err="1"/>
              <a:t>נדבר</a:t>
            </a:r>
            <a:r>
              <a:rPr lang="en-US" dirty="0"/>
              <a:t> </a:t>
            </a:r>
            <a:r>
              <a:rPr lang="en-US" dirty="0" err="1"/>
              <a:t>על</a:t>
            </a:r>
            <a:r>
              <a:rPr lang="en-US" dirty="0"/>
              <a:t> </a:t>
            </a:r>
            <a:r>
              <a:rPr lang="en-US" dirty="0" err="1"/>
              <a:t>המעבר</a:t>
            </a:r>
            <a:r>
              <a:rPr lang="en-US" dirty="0"/>
              <a:t> </a:t>
            </a:r>
            <a:r>
              <a:rPr lang="en-US" dirty="0" err="1"/>
              <a:t>מnew</a:t>
            </a:r>
            <a:r>
              <a:rPr lang="en-US" dirty="0"/>
              <a:t> </a:t>
            </a:r>
            <a:r>
              <a:rPr lang="en-US" dirty="0" err="1"/>
              <a:t>לready</a:t>
            </a:r>
            <a:r>
              <a:rPr lang="en-US" dirty="0"/>
              <a:t>. </a:t>
            </a:r>
            <a:r>
              <a:rPr lang="en-US" dirty="0" err="1"/>
              <a:t>כלומר</a:t>
            </a:r>
            <a:r>
              <a:rPr lang="en-US" dirty="0"/>
              <a:t> </a:t>
            </a:r>
            <a:r>
              <a:rPr lang="en-US" dirty="0" err="1"/>
              <a:t>ממצב</a:t>
            </a:r>
            <a:r>
              <a:rPr lang="en-US" dirty="0"/>
              <a:t> </a:t>
            </a:r>
            <a:r>
              <a:rPr lang="en-US" dirty="0" err="1"/>
              <a:t>שתהליך</a:t>
            </a:r>
            <a:r>
              <a:rPr lang="en-US" dirty="0"/>
              <a:t> </a:t>
            </a:r>
            <a:r>
              <a:rPr lang="en-US" dirty="0" err="1"/>
              <a:t>הסתיים</a:t>
            </a:r>
            <a:r>
              <a:rPr lang="en-US" dirty="0"/>
              <a:t> </a:t>
            </a:r>
            <a:r>
              <a:rPr lang="en-US" dirty="0" err="1"/>
              <a:t>להיווצר</a:t>
            </a:r>
            <a:r>
              <a:rPr lang="en-US" dirty="0"/>
              <a:t> </a:t>
            </a:r>
            <a:r>
              <a:rPr lang="en-US" dirty="0" err="1"/>
              <a:t>ועד</a:t>
            </a:r>
            <a:r>
              <a:rPr lang="en-US" dirty="0"/>
              <a:t> </a:t>
            </a:r>
            <a:r>
              <a:rPr lang="en-US" dirty="0" err="1"/>
              <a:t>שהוא</a:t>
            </a:r>
            <a:r>
              <a:rPr lang="en-US" dirty="0"/>
              <a:t> </a:t>
            </a:r>
            <a:r>
              <a:rPr lang="en-US" dirty="0" err="1"/>
              <a:t>מוכן</a:t>
            </a:r>
            <a:r>
              <a:rPr lang="en-US" dirty="0"/>
              <a:t> </a:t>
            </a:r>
            <a:r>
              <a:rPr lang="en-US" dirty="0" err="1"/>
              <a:t>לריצה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כל</a:t>
            </a:r>
            <a:r>
              <a:rPr lang="en-US" dirty="0"/>
              <a:t> </a:t>
            </a:r>
            <a:r>
              <a:rPr lang="en-US" dirty="0" err="1"/>
              <a:t>התהליכים</a:t>
            </a:r>
            <a:r>
              <a:rPr lang="en-US" dirty="0"/>
              <a:t> </a:t>
            </a:r>
            <a:r>
              <a:rPr lang="en-US" dirty="0" err="1"/>
              <a:t>פרט</a:t>
            </a:r>
            <a:r>
              <a:rPr lang="en-US" dirty="0"/>
              <a:t> </a:t>
            </a:r>
            <a:r>
              <a:rPr lang="en-US" dirty="0" err="1"/>
              <a:t>לתהליך</a:t>
            </a:r>
            <a:r>
              <a:rPr lang="en-US" dirty="0"/>
              <a:t> </a:t>
            </a:r>
            <a:r>
              <a:rPr lang="en-US" dirty="0" err="1"/>
              <a:t>הראשון</a:t>
            </a:r>
            <a:r>
              <a:rPr lang="en-US" dirty="0"/>
              <a:t> </a:t>
            </a:r>
            <a:r>
              <a:rPr lang="en-US" dirty="0" err="1"/>
              <a:t>נוצרים</a:t>
            </a:r>
            <a:r>
              <a:rPr lang="en-US" dirty="0"/>
              <a:t> </a:t>
            </a:r>
            <a:r>
              <a:rPr lang="en-US" dirty="0" err="1"/>
              <a:t>בעזרת</a:t>
            </a:r>
            <a:r>
              <a:rPr lang="en-US" dirty="0"/>
              <a:t> fork.</a:t>
            </a:r>
            <a:endParaRPr dirty="0"/>
          </a:p>
          <a:p>
            <a:pPr marL="0" lvl="0" indent="0" algn="r" rtl="1">
              <a:lnSpc>
                <a:spcPct val="100000"/>
              </a:lnSpc>
              <a:spcBef>
                <a:spcPts val="360"/>
              </a:spcBef>
              <a:spcAft>
                <a:spcPts val="0"/>
              </a:spcAft>
              <a:buClr>
                <a:schemeClr val="dk1"/>
              </a:buClr>
              <a:buSzPts val="1400"/>
              <a:buFont typeface="Arial"/>
              <a:buNone/>
            </a:pPr>
            <a:r>
              <a:rPr lang="en-US" dirty="0"/>
              <a:t>p </a:t>
            </a:r>
            <a:r>
              <a:rPr lang="en-US" dirty="0" err="1"/>
              <a:t>זה</a:t>
            </a:r>
            <a:r>
              <a:rPr lang="en-US" dirty="0"/>
              <a:t> </a:t>
            </a:r>
            <a:r>
              <a:rPr lang="en-US" dirty="0" err="1"/>
              <a:t>תהליך</a:t>
            </a:r>
            <a:r>
              <a:rPr lang="en-US" dirty="0"/>
              <a:t> </a:t>
            </a:r>
            <a:r>
              <a:rPr lang="en-US" dirty="0" err="1"/>
              <a:t>האב</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np </a:t>
            </a:r>
            <a:r>
              <a:rPr lang="en-US" dirty="0" err="1"/>
              <a:t>זה</a:t>
            </a:r>
            <a:r>
              <a:rPr lang="en-US" dirty="0"/>
              <a:t> </a:t>
            </a:r>
            <a:r>
              <a:rPr lang="en-US" dirty="0" err="1"/>
              <a:t>תהליך</a:t>
            </a:r>
            <a:r>
              <a:rPr lang="en-US" dirty="0"/>
              <a:t> </a:t>
            </a:r>
            <a:r>
              <a:rPr lang="en-US" dirty="0" err="1"/>
              <a:t>הבן</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allocproc</a:t>
            </a:r>
            <a:r>
              <a:rPr lang="en-US" dirty="0"/>
              <a:t> – </a:t>
            </a:r>
            <a:r>
              <a:rPr lang="en-US" dirty="0" err="1"/>
              <a:t>עוברת</a:t>
            </a:r>
            <a:r>
              <a:rPr lang="en-US" dirty="0"/>
              <a:t> </a:t>
            </a:r>
            <a:r>
              <a:rPr lang="en-US" dirty="0" err="1"/>
              <a:t>לטבלת</a:t>
            </a:r>
            <a:r>
              <a:rPr lang="en-US" dirty="0"/>
              <a:t> </a:t>
            </a:r>
            <a:r>
              <a:rPr lang="en-US" dirty="0" err="1"/>
              <a:t>התהליכים</a:t>
            </a:r>
            <a:r>
              <a:rPr lang="en-US" dirty="0"/>
              <a:t> </a:t>
            </a:r>
            <a:r>
              <a:rPr lang="en-US" dirty="0" err="1"/>
              <a:t>ומחפשת</a:t>
            </a:r>
            <a:r>
              <a:rPr lang="en-US" dirty="0"/>
              <a:t> </a:t>
            </a:r>
            <a:r>
              <a:rPr lang="en-US" dirty="0" err="1"/>
              <a:t>מקום</a:t>
            </a:r>
            <a:r>
              <a:rPr lang="en-US" dirty="0"/>
              <a:t> </a:t>
            </a:r>
            <a:r>
              <a:rPr lang="en-US" dirty="0" err="1"/>
              <a:t>בטבלה</a:t>
            </a:r>
            <a:r>
              <a:rPr lang="en-US" dirty="0"/>
              <a:t> </a:t>
            </a:r>
            <a:r>
              <a:rPr lang="en-US" dirty="0" err="1"/>
              <a:t>שהוא</a:t>
            </a:r>
            <a:r>
              <a:rPr lang="en-US" dirty="0"/>
              <a:t> UNUSED </a:t>
            </a:r>
            <a:r>
              <a:rPr lang="en-US" dirty="0" err="1"/>
              <a:t>ואם</a:t>
            </a:r>
            <a:r>
              <a:rPr lang="en-US" dirty="0"/>
              <a:t> </a:t>
            </a:r>
            <a:r>
              <a:rPr lang="en-US" dirty="0" err="1"/>
              <a:t>לא</a:t>
            </a:r>
            <a:r>
              <a:rPr lang="en-US" dirty="0"/>
              <a:t> </a:t>
            </a:r>
            <a:r>
              <a:rPr lang="en-US" dirty="0" err="1"/>
              <a:t>מצאה</a:t>
            </a:r>
            <a:r>
              <a:rPr lang="en-US" dirty="0"/>
              <a:t> </a:t>
            </a:r>
            <a:r>
              <a:rPr lang="en-US" dirty="0" err="1"/>
              <a:t>אז</a:t>
            </a:r>
            <a:r>
              <a:rPr lang="en-US" dirty="0"/>
              <a:t> </a:t>
            </a:r>
            <a:r>
              <a:rPr lang="en-US" dirty="0" err="1"/>
              <a:t>לא</a:t>
            </a:r>
            <a:r>
              <a:rPr lang="en-US" dirty="0"/>
              <a:t> </a:t>
            </a:r>
            <a:r>
              <a:rPr lang="en-US" dirty="0" err="1"/>
              <a:t>ניתן</a:t>
            </a:r>
            <a:r>
              <a:rPr lang="en-US" dirty="0"/>
              <a:t> </a:t>
            </a:r>
            <a:r>
              <a:rPr lang="en-US" dirty="0" err="1"/>
              <a:t>ליצור</a:t>
            </a:r>
            <a:r>
              <a:rPr lang="en-US" dirty="0"/>
              <a:t> </a:t>
            </a:r>
            <a:r>
              <a:rPr lang="en-US" dirty="0" err="1"/>
              <a:t>את</a:t>
            </a:r>
            <a:r>
              <a:rPr lang="en-US" dirty="0"/>
              <a:t> </a:t>
            </a:r>
            <a:r>
              <a:rPr lang="en-US" dirty="0" err="1"/>
              <a:t>התהליך</a:t>
            </a:r>
            <a:r>
              <a:rPr lang="en-US" dirty="0"/>
              <a:t> (</a:t>
            </a:r>
            <a:r>
              <a:rPr lang="en-US" dirty="0" err="1"/>
              <a:t>מחזירים</a:t>
            </a:r>
            <a:r>
              <a:rPr lang="en-US" dirty="0"/>
              <a:t> -1).</a:t>
            </a:r>
            <a:endParaRPr dirty="0"/>
          </a:p>
          <a:p>
            <a:pPr marL="0" lvl="0" indent="0" algn="r" rtl="1">
              <a:lnSpc>
                <a:spcPct val="100000"/>
              </a:lnSpc>
              <a:spcBef>
                <a:spcPts val="360"/>
              </a:spcBef>
              <a:spcAft>
                <a:spcPts val="0"/>
              </a:spcAft>
              <a:buClr>
                <a:schemeClr val="dk1"/>
              </a:buClr>
              <a:buSzPts val="1400"/>
              <a:buFont typeface="Arial"/>
              <a:buNone/>
            </a:pPr>
            <a:r>
              <a:rPr lang="en-US" dirty="0" err="1"/>
              <a:t>אחרת</a:t>
            </a:r>
            <a:r>
              <a:rPr lang="en-US" dirty="0"/>
              <a:t>, </a:t>
            </a:r>
            <a:r>
              <a:rPr lang="en-US" dirty="0" err="1"/>
              <a:t>היא</a:t>
            </a:r>
            <a:r>
              <a:rPr lang="en-US" dirty="0"/>
              <a:t> </a:t>
            </a:r>
            <a:r>
              <a:rPr lang="en-US" dirty="0" err="1"/>
              <a:t>תיצור</a:t>
            </a:r>
            <a:r>
              <a:rPr lang="en-US" dirty="0"/>
              <a:t> </a:t>
            </a:r>
            <a:r>
              <a:rPr lang="en-US" dirty="0" err="1"/>
              <a:t>pid</a:t>
            </a:r>
            <a:r>
              <a:rPr lang="en-US" dirty="0"/>
              <a:t> </a:t>
            </a:r>
            <a:r>
              <a:rPr lang="en-US" dirty="0" err="1"/>
              <a:t>לתהליך</a:t>
            </a:r>
            <a:r>
              <a:rPr lang="en-US" dirty="0"/>
              <a:t> </a:t>
            </a:r>
            <a:r>
              <a:rPr lang="en-US" dirty="0" err="1"/>
              <a:t>שנוצר</a:t>
            </a:r>
            <a:r>
              <a:rPr lang="en-US" dirty="0"/>
              <a:t> </a:t>
            </a:r>
            <a:r>
              <a:rPr lang="en-US" dirty="0" err="1"/>
              <a:t>ותעדכן</a:t>
            </a:r>
            <a:r>
              <a:rPr lang="en-US" dirty="0"/>
              <a:t> </a:t>
            </a:r>
            <a:r>
              <a:rPr lang="en-US" dirty="0" err="1"/>
              <a:t>את</a:t>
            </a:r>
            <a:r>
              <a:rPr lang="en-US" dirty="0"/>
              <a:t> </a:t>
            </a:r>
            <a:r>
              <a:rPr lang="en-US" dirty="0" err="1"/>
              <a:t>המקום</a:t>
            </a:r>
            <a:r>
              <a:rPr lang="en-US" dirty="0"/>
              <a:t> </a:t>
            </a:r>
            <a:r>
              <a:rPr lang="en-US" dirty="0" err="1"/>
              <a:t>בטבלה</a:t>
            </a:r>
            <a:r>
              <a:rPr lang="en-US" dirty="0"/>
              <a:t> </a:t>
            </a:r>
            <a:r>
              <a:rPr lang="en-US" dirty="0" err="1"/>
              <a:t>ל</a:t>
            </a:r>
            <a:r>
              <a:rPr lang="en-US" dirty="0"/>
              <a:t> USED (</a:t>
            </a:r>
            <a:r>
              <a:rPr lang="en-US" dirty="0" err="1"/>
              <a:t>עוד</a:t>
            </a:r>
            <a:r>
              <a:rPr lang="en-US" dirty="0"/>
              <a:t> </a:t>
            </a:r>
            <a:r>
              <a:rPr lang="en-US" dirty="0" err="1"/>
              <a:t>לא</a:t>
            </a:r>
            <a:r>
              <a:rPr lang="en-US" dirty="0"/>
              <a:t> RUNNABLE).</a:t>
            </a:r>
            <a:endParaRPr dirty="0"/>
          </a:p>
          <a:p>
            <a:pPr marL="0" lvl="0" indent="0" algn="r" rtl="1">
              <a:lnSpc>
                <a:spcPct val="100000"/>
              </a:lnSpc>
              <a:spcBef>
                <a:spcPts val="360"/>
              </a:spcBef>
              <a:spcAft>
                <a:spcPts val="0"/>
              </a:spcAft>
              <a:buClr>
                <a:schemeClr val="dk1"/>
              </a:buClr>
              <a:buSzPts val="1400"/>
              <a:buFont typeface="Arial"/>
              <a:buNone/>
            </a:pPr>
            <a:r>
              <a:rPr lang="en-US" dirty="0" err="1"/>
              <a:t>איך</a:t>
            </a:r>
            <a:r>
              <a:rPr lang="en-US" dirty="0"/>
              <a:t> fork </a:t>
            </a:r>
            <a:r>
              <a:rPr lang="en-US" dirty="0" err="1"/>
              <a:t>מבצע</a:t>
            </a:r>
            <a:r>
              <a:rPr lang="en-US" dirty="0"/>
              <a:t> </a:t>
            </a:r>
            <a:r>
              <a:rPr lang="en-US" dirty="0" err="1"/>
              <a:t>אתחול</a:t>
            </a:r>
            <a:r>
              <a:rPr lang="en-US" dirty="0"/>
              <a:t> </a:t>
            </a:r>
            <a:r>
              <a:rPr lang="en-US" dirty="0" err="1"/>
              <a:t>לתהליך</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מעתיק</a:t>
            </a:r>
            <a:r>
              <a:rPr lang="en-US" dirty="0"/>
              <a:t> </a:t>
            </a:r>
            <a:r>
              <a:rPr lang="en-US" dirty="0" err="1"/>
              <a:t>את</a:t>
            </a:r>
            <a:r>
              <a:rPr lang="en-US" dirty="0"/>
              <a:t> </a:t>
            </a:r>
            <a:r>
              <a:rPr lang="en-US" dirty="0" err="1"/>
              <a:t>כל</a:t>
            </a:r>
            <a:r>
              <a:rPr lang="en-US" dirty="0"/>
              <a:t> </a:t>
            </a:r>
            <a:r>
              <a:rPr lang="en-US" dirty="0" err="1"/>
              <a:t>זכרון</a:t>
            </a:r>
            <a:r>
              <a:rPr lang="en-US" dirty="0"/>
              <a:t> </a:t>
            </a:r>
            <a:r>
              <a:rPr lang="en-US" dirty="0" err="1"/>
              <a:t>תהליך</a:t>
            </a:r>
            <a:r>
              <a:rPr lang="en-US" dirty="0"/>
              <a:t> </a:t>
            </a:r>
            <a:r>
              <a:rPr lang="en-US" dirty="0" err="1"/>
              <a:t>האב</a:t>
            </a:r>
            <a:r>
              <a:rPr lang="en-US" dirty="0"/>
              <a:t> </a:t>
            </a:r>
            <a:r>
              <a:rPr lang="en-US" dirty="0" err="1"/>
              <a:t>בעזרת</a:t>
            </a:r>
            <a:r>
              <a:rPr lang="en-US" dirty="0"/>
              <a:t> </a:t>
            </a:r>
            <a:r>
              <a:rPr lang="en-US" dirty="0" err="1"/>
              <a:t>uvmcopy</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מעתיקים</a:t>
            </a:r>
            <a:r>
              <a:rPr lang="en-US" dirty="0"/>
              <a:t> </a:t>
            </a:r>
            <a:r>
              <a:rPr lang="en-US" dirty="0" err="1"/>
              <a:t>את</a:t>
            </a:r>
            <a:r>
              <a:rPr lang="en-US" dirty="0"/>
              <a:t> </a:t>
            </a:r>
            <a:r>
              <a:rPr lang="en-US" dirty="0" err="1"/>
              <a:t>גודל</a:t>
            </a:r>
            <a:r>
              <a:rPr lang="en-US" dirty="0"/>
              <a:t> </a:t>
            </a:r>
            <a:r>
              <a:rPr lang="en-US" dirty="0" err="1"/>
              <a:t>הזכרון</a:t>
            </a:r>
            <a:r>
              <a:rPr lang="en-US" dirty="0"/>
              <a:t> </a:t>
            </a:r>
            <a:r>
              <a:rPr lang="en-US" dirty="0" err="1"/>
              <a:t>ואת</a:t>
            </a:r>
            <a:r>
              <a:rPr lang="en-US" dirty="0"/>
              <a:t> </a:t>
            </a:r>
            <a:r>
              <a:rPr lang="en-US" dirty="0" err="1"/>
              <a:t>הtrapframe</a:t>
            </a:r>
            <a:r>
              <a:rPr lang="en-US" dirty="0"/>
              <a:t> </a:t>
            </a:r>
            <a:r>
              <a:rPr lang="en-US" dirty="0" err="1"/>
              <a:t>כי</a:t>
            </a:r>
            <a:r>
              <a:rPr lang="en-US" dirty="0"/>
              <a:t> </a:t>
            </a:r>
            <a:r>
              <a:rPr lang="en-US" dirty="0" err="1"/>
              <a:t>נרצה</a:t>
            </a:r>
            <a:r>
              <a:rPr lang="en-US" dirty="0"/>
              <a:t> </a:t>
            </a:r>
            <a:r>
              <a:rPr lang="en-US" dirty="0" err="1"/>
              <a:t>שהריצה</a:t>
            </a:r>
            <a:r>
              <a:rPr lang="en-US" dirty="0"/>
              <a:t> </a:t>
            </a:r>
            <a:r>
              <a:rPr lang="en-US" dirty="0" err="1"/>
              <a:t>של</a:t>
            </a:r>
            <a:r>
              <a:rPr lang="en-US" dirty="0"/>
              <a:t> </a:t>
            </a:r>
            <a:r>
              <a:rPr lang="en-US" dirty="0" err="1"/>
              <a:t>תהליך</a:t>
            </a:r>
            <a:r>
              <a:rPr lang="en-US" dirty="0"/>
              <a:t> </a:t>
            </a:r>
            <a:r>
              <a:rPr lang="en-US" dirty="0" err="1"/>
              <a:t>הבן</a:t>
            </a:r>
            <a:r>
              <a:rPr lang="en-US" dirty="0"/>
              <a:t> </a:t>
            </a:r>
            <a:r>
              <a:rPr lang="en-US" dirty="0" err="1"/>
              <a:t>תימשך</a:t>
            </a:r>
            <a:r>
              <a:rPr lang="en-US" dirty="0"/>
              <a:t> </a:t>
            </a:r>
            <a:r>
              <a:rPr lang="en-US" dirty="0" err="1"/>
              <a:t>מאותה</a:t>
            </a:r>
            <a:r>
              <a:rPr lang="en-US" dirty="0"/>
              <a:t> </a:t>
            </a:r>
            <a:r>
              <a:rPr lang="en-US" dirty="0" err="1"/>
              <a:t>נקודה</a:t>
            </a:r>
            <a:r>
              <a:rPr lang="en-US" dirty="0"/>
              <a:t> </a:t>
            </a:r>
            <a:r>
              <a:rPr lang="en-US" dirty="0" err="1"/>
              <a:t>שתהליך</a:t>
            </a:r>
            <a:r>
              <a:rPr lang="en-US" dirty="0"/>
              <a:t> </a:t>
            </a:r>
            <a:r>
              <a:rPr lang="en-US" dirty="0" err="1"/>
              <a:t>האב</a:t>
            </a:r>
            <a:r>
              <a:rPr lang="en-US" dirty="0"/>
              <a:t> </a:t>
            </a:r>
            <a:r>
              <a:rPr lang="en-US" dirty="0" err="1"/>
              <a:t>היה</a:t>
            </a:r>
            <a:r>
              <a:rPr lang="en-US" dirty="0"/>
              <a:t> </a:t>
            </a:r>
            <a:r>
              <a:rPr lang="en-US" dirty="0" err="1"/>
              <a:t>בה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אבל</a:t>
            </a:r>
            <a:r>
              <a:rPr lang="en-US" dirty="0"/>
              <a:t> </a:t>
            </a:r>
            <a:r>
              <a:rPr lang="en-US" dirty="0" err="1"/>
              <a:t>ברגיסטר</a:t>
            </a:r>
            <a:r>
              <a:rPr lang="en-US" dirty="0"/>
              <a:t> a0 </a:t>
            </a:r>
            <a:r>
              <a:rPr lang="en-US" dirty="0" err="1"/>
              <a:t>של</a:t>
            </a:r>
            <a:r>
              <a:rPr lang="en-US" dirty="0"/>
              <a:t> </a:t>
            </a:r>
            <a:r>
              <a:rPr lang="en-US" dirty="0" err="1"/>
              <a:t>תהליך</a:t>
            </a:r>
            <a:r>
              <a:rPr lang="en-US" dirty="0"/>
              <a:t> </a:t>
            </a:r>
            <a:r>
              <a:rPr lang="en-US" dirty="0" err="1"/>
              <a:t>הבן</a:t>
            </a:r>
            <a:r>
              <a:rPr lang="en-US" dirty="0"/>
              <a:t> </a:t>
            </a:r>
            <a:r>
              <a:rPr lang="en-US" dirty="0" err="1"/>
              <a:t>נשים</a:t>
            </a:r>
            <a:r>
              <a:rPr lang="en-US" dirty="0"/>
              <a:t> 0 – </a:t>
            </a:r>
            <a:r>
              <a:rPr lang="en-US" dirty="0" err="1"/>
              <a:t>ערך</a:t>
            </a:r>
            <a:r>
              <a:rPr lang="en-US" dirty="0"/>
              <a:t> </a:t>
            </a:r>
            <a:r>
              <a:rPr lang="en-US" dirty="0" err="1"/>
              <a:t>החזרה</a:t>
            </a:r>
            <a:r>
              <a:rPr lang="en-US" dirty="0"/>
              <a:t> </a:t>
            </a:r>
            <a:r>
              <a:rPr lang="en-US" dirty="0" err="1"/>
              <a:t>של</a:t>
            </a:r>
            <a:r>
              <a:rPr lang="en-US" dirty="0"/>
              <a:t> fork.</a:t>
            </a:r>
            <a:endParaRPr dirty="0"/>
          </a:p>
          <a:p>
            <a:pPr marL="0" lvl="0" indent="0" algn="r" rtl="1">
              <a:lnSpc>
                <a:spcPct val="100000"/>
              </a:lnSpc>
              <a:spcBef>
                <a:spcPts val="360"/>
              </a:spcBef>
              <a:spcAft>
                <a:spcPts val="0"/>
              </a:spcAft>
              <a:buClr>
                <a:schemeClr val="dk1"/>
              </a:buClr>
              <a:buSzPts val="1400"/>
              <a:buFont typeface="Arial"/>
              <a:buNone/>
            </a:pPr>
            <a:r>
              <a:rPr lang="en-US" dirty="0" err="1"/>
              <a:t>בלולאה</a:t>
            </a:r>
            <a:r>
              <a:rPr lang="en-US" dirty="0"/>
              <a:t> </a:t>
            </a:r>
            <a:r>
              <a:rPr lang="en-US" dirty="0" err="1"/>
              <a:t>מתבצעת</a:t>
            </a:r>
            <a:r>
              <a:rPr lang="en-US" dirty="0"/>
              <a:t> </a:t>
            </a:r>
            <a:r>
              <a:rPr lang="en-US" dirty="0" err="1"/>
              <a:t>העתקה</a:t>
            </a:r>
            <a:r>
              <a:rPr lang="en-US" dirty="0"/>
              <a:t> </a:t>
            </a:r>
            <a:r>
              <a:rPr lang="en-US" dirty="0" err="1"/>
              <a:t>של</a:t>
            </a:r>
            <a:r>
              <a:rPr lang="en-US" dirty="0"/>
              <a:t> </a:t>
            </a:r>
            <a:r>
              <a:rPr lang="en-US" dirty="0" err="1"/>
              <a:t>הfile</a:t>
            </a:r>
            <a:r>
              <a:rPr lang="en-US" dirty="0"/>
              <a:t> descriptors.</a:t>
            </a:r>
            <a:endParaRPr dirty="0"/>
          </a:p>
          <a:p>
            <a:pPr marL="0" lvl="0" indent="0" algn="r" rtl="1">
              <a:lnSpc>
                <a:spcPct val="100000"/>
              </a:lnSpc>
              <a:spcBef>
                <a:spcPts val="360"/>
              </a:spcBef>
              <a:spcAft>
                <a:spcPts val="0"/>
              </a:spcAft>
              <a:buClr>
                <a:schemeClr val="dk1"/>
              </a:buClr>
              <a:buSzPts val="1400"/>
              <a:buFont typeface="Arial"/>
              <a:buNone/>
            </a:pPr>
            <a:r>
              <a:rPr lang="en-US" dirty="0" err="1"/>
              <a:t>safestrscpy</a:t>
            </a:r>
            <a:r>
              <a:rPr lang="en-US" dirty="0"/>
              <a:t> – </a:t>
            </a:r>
            <a:r>
              <a:rPr lang="en-US" dirty="0" err="1"/>
              <a:t>להעתקה</a:t>
            </a:r>
            <a:r>
              <a:rPr lang="en-US" dirty="0"/>
              <a:t> </a:t>
            </a:r>
            <a:r>
              <a:rPr lang="en-US" dirty="0" err="1"/>
              <a:t>של</a:t>
            </a:r>
            <a:r>
              <a:rPr lang="en-US" dirty="0"/>
              <a:t> </a:t>
            </a:r>
            <a:r>
              <a:rPr lang="en-US" dirty="0" err="1"/>
              <a:t>שם</a:t>
            </a:r>
            <a:r>
              <a:rPr lang="en-US" dirty="0"/>
              <a:t> </a:t>
            </a:r>
            <a:r>
              <a:rPr lang="en-US" dirty="0" err="1"/>
              <a:t>התהליך</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אתחול</a:t>
            </a:r>
            <a:r>
              <a:rPr lang="en-US" dirty="0"/>
              <a:t> </a:t>
            </a:r>
            <a:r>
              <a:rPr lang="en-US" dirty="0" err="1"/>
              <a:t>שדות</a:t>
            </a:r>
            <a:r>
              <a:rPr lang="en-US" dirty="0"/>
              <a:t> parent, </a:t>
            </a:r>
            <a:r>
              <a:rPr lang="en-US" dirty="0" err="1"/>
              <a:t>pid</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עדכון</a:t>
            </a:r>
            <a:r>
              <a:rPr lang="en-US" dirty="0"/>
              <a:t> </a:t>
            </a:r>
            <a:r>
              <a:rPr lang="en-US" dirty="0" err="1"/>
              <a:t>שדה</a:t>
            </a:r>
            <a:r>
              <a:rPr lang="en-US" dirty="0"/>
              <a:t> </a:t>
            </a:r>
            <a:r>
              <a:rPr lang="en-US" dirty="0" err="1"/>
              <a:t>המצב</a:t>
            </a:r>
            <a:r>
              <a:rPr lang="en-US" dirty="0"/>
              <a:t> </a:t>
            </a:r>
            <a:r>
              <a:rPr lang="en-US" dirty="0" err="1"/>
              <a:t>לrunnable</a:t>
            </a:r>
            <a:r>
              <a:rPr lang="en-US" dirty="0"/>
              <a:t>. </a:t>
            </a:r>
            <a:endParaRPr dirty="0"/>
          </a:p>
        </p:txBody>
      </p:sp>
      <p:sp>
        <p:nvSpPr>
          <p:cNvPr id="137" name="Google Shape;13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dirty="0" err="1"/>
              <a:t>כעת</a:t>
            </a:r>
            <a:r>
              <a:rPr lang="en-US" dirty="0"/>
              <a:t> </a:t>
            </a:r>
            <a:r>
              <a:rPr lang="en-US" dirty="0" err="1"/>
              <a:t>נדבר</a:t>
            </a:r>
            <a:r>
              <a:rPr lang="en-US" dirty="0"/>
              <a:t> </a:t>
            </a:r>
            <a:r>
              <a:rPr lang="en-US" dirty="0" err="1"/>
              <a:t>על</a:t>
            </a:r>
            <a:r>
              <a:rPr lang="en-US" dirty="0"/>
              <a:t> </a:t>
            </a:r>
            <a:r>
              <a:rPr lang="en-US" dirty="0" err="1"/>
              <a:t>המעבר</a:t>
            </a:r>
            <a:r>
              <a:rPr lang="en-US" dirty="0"/>
              <a:t> </a:t>
            </a:r>
            <a:r>
              <a:rPr lang="en-US" dirty="0" err="1"/>
              <a:t>מnew</a:t>
            </a:r>
            <a:r>
              <a:rPr lang="en-US" dirty="0"/>
              <a:t> </a:t>
            </a:r>
            <a:r>
              <a:rPr lang="en-US" dirty="0" err="1"/>
              <a:t>לready</a:t>
            </a:r>
            <a:r>
              <a:rPr lang="en-US" dirty="0"/>
              <a:t>. </a:t>
            </a:r>
            <a:r>
              <a:rPr lang="en-US" dirty="0" err="1"/>
              <a:t>כלומר</a:t>
            </a:r>
            <a:r>
              <a:rPr lang="en-US" dirty="0"/>
              <a:t> </a:t>
            </a:r>
            <a:r>
              <a:rPr lang="en-US" dirty="0" err="1"/>
              <a:t>ממצב</a:t>
            </a:r>
            <a:r>
              <a:rPr lang="en-US" dirty="0"/>
              <a:t> </a:t>
            </a:r>
            <a:r>
              <a:rPr lang="en-US" dirty="0" err="1"/>
              <a:t>שתהליך</a:t>
            </a:r>
            <a:r>
              <a:rPr lang="en-US" dirty="0"/>
              <a:t> </a:t>
            </a:r>
            <a:r>
              <a:rPr lang="en-US" dirty="0" err="1"/>
              <a:t>הסתיים</a:t>
            </a:r>
            <a:r>
              <a:rPr lang="en-US" dirty="0"/>
              <a:t> </a:t>
            </a:r>
            <a:r>
              <a:rPr lang="en-US" dirty="0" err="1"/>
              <a:t>להיווצר</a:t>
            </a:r>
            <a:r>
              <a:rPr lang="en-US" dirty="0"/>
              <a:t> </a:t>
            </a:r>
            <a:r>
              <a:rPr lang="en-US" dirty="0" err="1"/>
              <a:t>ועד</a:t>
            </a:r>
            <a:r>
              <a:rPr lang="en-US" dirty="0"/>
              <a:t> </a:t>
            </a:r>
            <a:r>
              <a:rPr lang="en-US" dirty="0" err="1"/>
              <a:t>שהוא</a:t>
            </a:r>
            <a:r>
              <a:rPr lang="en-US" dirty="0"/>
              <a:t> </a:t>
            </a:r>
            <a:r>
              <a:rPr lang="en-US" dirty="0" err="1"/>
              <a:t>מוכן</a:t>
            </a:r>
            <a:r>
              <a:rPr lang="en-US" dirty="0"/>
              <a:t> </a:t>
            </a:r>
            <a:r>
              <a:rPr lang="en-US" dirty="0" err="1"/>
              <a:t>לריצה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כל</a:t>
            </a:r>
            <a:r>
              <a:rPr lang="en-US" dirty="0"/>
              <a:t> </a:t>
            </a:r>
            <a:r>
              <a:rPr lang="en-US" dirty="0" err="1"/>
              <a:t>התהליכים</a:t>
            </a:r>
            <a:r>
              <a:rPr lang="en-US" dirty="0"/>
              <a:t> </a:t>
            </a:r>
            <a:r>
              <a:rPr lang="en-US" dirty="0" err="1"/>
              <a:t>פרט</a:t>
            </a:r>
            <a:r>
              <a:rPr lang="en-US" dirty="0"/>
              <a:t> </a:t>
            </a:r>
            <a:r>
              <a:rPr lang="en-US" dirty="0" err="1"/>
              <a:t>לתהליך</a:t>
            </a:r>
            <a:r>
              <a:rPr lang="en-US" dirty="0"/>
              <a:t> </a:t>
            </a:r>
            <a:r>
              <a:rPr lang="en-US" dirty="0" err="1"/>
              <a:t>הראשון</a:t>
            </a:r>
            <a:r>
              <a:rPr lang="en-US" dirty="0"/>
              <a:t> </a:t>
            </a:r>
            <a:r>
              <a:rPr lang="en-US" dirty="0" err="1"/>
              <a:t>נוצרים</a:t>
            </a:r>
            <a:r>
              <a:rPr lang="en-US" dirty="0"/>
              <a:t> </a:t>
            </a:r>
            <a:r>
              <a:rPr lang="en-US" dirty="0" err="1"/>
              <a:t>בעזרת</a:t>
            </a:r>
            <a:r>
              <a:rPr lang="en-US" dirty="0"/>
              <a:t> fork.</a:t>
            </a:r>
            <a:endParaRPr dirty="0"/>
          </a:p>
          <a:p>
            <a:pPr marL="0" lvl="0" indent="0" algn="r" rtl="1">
              <a:lnSpc>
                <a:spcPct val="100000"/>
              </a:lnSpc>
              <a:spcBef>
                <a:spcPts val="360"/>
              </a:spcBef>
              <a:spcAft>
                <a:spcPts val="0"/>
              </a:spcAft>
              <a:buClr>
                <a:schemeClr val="dk1"/>
              </a:buClr>
              <a:buSzPts val="1400"/>
              <a:buFont typeface="Arial"/>
              <a:buNone/>
            </a:pPr>
            <a:r>
              <a:rPr lang="en-US" dirty="0"/>
              <a:t>p </a:t>
            </a:r>
            <a:r>
              <a:rPr lang="en-US" dirty="0" err="1"/>
              <a:t>זה</a:t>
            </a:r>
            <a:r>
              <a:rPr lang="en-US" dirty="0"/>
              <a:t> </a:t>
            </a:r>
            <a:r>
              <a:rPr lang="en-US" dirty="0" err="1"/>
              <a:t>תהליך</a:t>
            </a:r>
            <a:r>
              <a:rPr lang="en-US" dirty="0"/>
              <a:t> </a:t>
            </a:r>
            <a:r>
              <a:rPr lang="en-US" dirty="0" err="1"/>
              <a:t>האב</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a:t>np </a:t>
            </a:r>
            <a:r>
              <a:rPr lang="en-US" dirty="0" err="1"/>
              <a:t>זה</a:t>
            </a:r>
            <a:r>
              <a:rPr lang="en-US" dirty="0"/>
              <a:t> </a:t>
            </a:r>
            <a:r>
              <a:rPr lang="en-US" dirty="0" err="1"/>
              <a:t>תהליך</a:t>
            </a:r>
            <a:r>
              <a:rPr lang="en-US" dirty="0"/>
              <a:t> </a:t>
            </a:r>
            <a:r>
              <a:rPr lang="en-US" dirty="0" err="1"/>
              <a:t>הבן</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allocproc</a:t>
            </a:r>
            <a:r>
              <a:rPr lang="en-US" dirty="0"/>
              <a:t> – </a:t>
            </a:r>
            <a:r>
              <a:rPr lang="en-US" dirty="0" err="1"/>
              <a:t>עוברת</a:t>
            </a:r>
            <a:r>
              <a:rPr lang="en-US" dirty="0"/>
              <a:t> </a:t>
            </a:r>
            <a:r>
              <a:rPr lang="en-US" dirty="0" err="1"/>
              <a:t>לטבלת</a:t>
            </a:r>
            <a:r>
              <a:rPr lang="en-US" dirty="0"/>
              <a:t> </a:t>
            </a:r>
            <a:r>
              <a:rPr lang="en-US" dirty="0" err="1"/>
              <a:t>התהליכים</a:t>
            </a:r>
            <a:r>
              <a:rPr lang="en-US" dirty="0"/>
              <a:t> </a:t>
            </a:r>
            <a:r>
              <a:rPr lang="en-US" dirty="0" err="1"/>
              <a:t>ומחפשת</a:t>
            </a:r>
            <a:r>
              <a:rPr lang="en-US" dirty="0"/>
              <a:t> </a:t>
            </a:r>
            <a:r>
              <a:rPr lang="en-US" dirty="0" err="1"/>
              <a:t>מקום</a:t>
            </a:r>
            <a:r>
              <a:rPr lang="en-US" dirty="0"/>
              <a:t> </a:t>
            </a:r>
            <a:r>
              <a:rPr lang="en-US" dirty="0" err="1"/>
              <a:t>בטבלה</a:t>
            </a:r>
            <a:r>
              <a:rPr lang="en-US" dirty="0"/>
              <a:t> </a:t>
            </a:r>
            <a:r>
              <a:rPr lang="en-US" dirty="0" err="1"/>
              <a:t>שהוא</a:t>
            </a:r>
            <a:r>
              <a:rPr lang="en-US" dirty="0"/>
              <a:t> UNUSED </a:t>
            </a:r>
            <a:r>
              <a:rPr lang="en-US" dirty="0" err="1"/>
              <a:t>ואם</a:t>
            </a:r>
            <a:r>
              <a:rPr lang="en-US" dirty="0"/>
              <a:t> </a:t>
            </a:r>
            <a:r>
              <a:rPr lang="en-US" dirty="0" err="1"/>
              <a:t>לא</a:t>
            </a:r>
            <a:r>
              <a:rPr lang="en-US" dirty="0"/>
              <a:t> </a:t>
            </a:r>
            <a:r>
              <a:rPr lang="en-US" dirty="0" err="1"/>
              <a:t>מצאה</a:t>
            </a:r>
            <a:r>
              <a:rPr lang="en-US" dirty="0"/>
              <a:t> </a:t>
            </a:r>
            <a:r>
              <a:rPr lang="en-US" dirty="0" err="1"/>
              <a:t>אז</a:t>
            </a:r>
            <a:r>
              <a:rPr lang="en-US" dirty="0"/>
              <a:t> </a:t>
            </a:r>
            <a:r>
              <a:rPr lang="en-US" dirty="0" err="1"/>
              <a:t>לא</a:t>
            </a:r>
            <a:r>
              <a:rPr lang="en-US" dirty="0"/>
              <a:t> </a:t>
            </a:r>
            <a:r>
              <a:rPr lang="en-US" dirty="0" err="1"/>
              <a:t>ניתן</a:t>
            </a:r>
            <a:r>
              <a:rPr lang="en-US" dirty="0"/>
              <a:t> </a:t>
            </a:r>
            <a:r>
              <a:rPr lang="en-US" dirty="0" err="1"/>
              <a:t>ליצור</a:t>
            </a:r>
            <a:r>
              <a:rPr lang="en-US" dirty="0"/>
              <a:t> </a:t>
            </a:r>
            <a:r>
              <a:rPr lang="en-US" dirty="0" err="1"/>
              <a:t>את</a:t>
            </a:r>
            <a:r>
              <a:rPr lang="en-US" dirty="0"/>
              <a:t> </a:t>
            </a:r>
            <a:r>
              <a:rPr lang="en-US" dirty="0" err="1"/>
              <a:t>התהליך</a:t>
            </a:r>
            <a:r>
              <a:rPr lang="en-US" dirty="0"/>
              <a:t> (</a:t>
            </a:r>
            <a:r>
              <a:rPr lang="en-US" dirty="0" err="1"/>
              <a:t>מחזירים</a:t>
            </a:r>
            <a:r>
              <a:rPr lang="en-US" dirty="0"/>
              <a:t> -1).</a:t>
            </a:r>
            <a:endParaRPr dirty="0"/>
          </a:p>
          <a:p>
            <a:pPr marL="0" lvl="0" indent="0" algn="r" rtl="1">
              <a:lnSpc>
                <a:spcPct val="100000"/>
              </a:lnSpc>
              <a:spcBef>
                <a:spcPts val="360"/>
              </a:spcBef>
              <a:spcAft>
                <a:spcPts val="0"/>
              </a:spcAft>
              <a:buClr>
                <a:schemeClr val="dk1"/>
              </a:buClr>
              <a:buSzPts val="1400"/>
              <a:buFont typeface="Arial"/>
              <a:buNone/>
            </a:pPr>
            <a:r>
              <a:rPr lang="en-US" dirty="0" err="1"/>
              <a:t>אחרת</a:t>
            </a:r>
            <a:r>
              <a:rPr lang="en-US" dirty="0"/>
              <a:t>, </a:t>
            </a:r>
            <a:r>
              <a:rPr lang="en-US" dirty="0" err="1"/>
              <a:t>היא</a:t>
            </a:r>
            <a:r>
              <a:rPr lang="en-US" dirty="0"/>
              <a:t> </a:t>
            </a:r>
            <a:r>
              <a:rPr lang="en-US" dirty="0" err="1"/>
              <a:t>תיצור</a:t>
            </a:r>
            <a:r>
              <a:rPr lang="en-US" dirty="0"/>
              <a:t> </a:t>
            </a:r>
            <a:r>
              <a:rPr lang="en-US" dirty="0" err="1"/>
              <a:t>pid</a:t>
            </a:r>
            <a:r>
              <a:rPr lang="en-US" dirty="0"/>
              <a:t> </a:t>
            </a:r>
            <a:r>
              <a:rPr lang="en-US" dirty="0" err="1"/>
              <a:t>לתהליך</a:t>
            </a:r>
            <a:r>
              <a:rPr lang="en-US" dirty="0"/>
              <a:t> </a:t>
            </a:r>
            <a:r>
              <a:rPr lang="en-US" dirty="0" err="1"/>
              <a:t>שנוצר</a:t>
            </a:r>
            <a:r>
              <a:rPr lang="en-US" dirty="0"/>
              <a:t> </a:t>
            </a:r>
            <a:r>
              <a:rPr lang="en-US" dirty="0" err="1"/>
              <a:t>ותעדכן</a:t>
            </a:r>
            <a:r>
              <a:rPr lang="en-US" dirty="0"/>
              <a:t> </a:t>
            </a:r>
            <a:r>
              <a:rPr lang="en-US" dirty="0" err="1"/>
              <a:t>את</a:t>
            </a:r>
            <a:r>
              <a:rPr lang="en-US" dirty="0"/>
              <a:t> </a:t>
            </a:r>
            <a:r>
              <a:rPr lang="en-US" dirty="0" err="1"/>
              <a:t>המקום</a:t>
            </a:r>
            <a:r>
              <a:rPr lang="en-US" dirty="0"/>
              <a:t> </a:t>
            </a:r>
            <a:r>
              <a:rPr lang="en-US" dirty="0" err="1"/>
              <a:t>בטבלה</a:t>
            </a:r>
            <a:r>
              <a:rPr lang="en-US" dirty="0"/>
              <a:t> </a:t>
            </a:r>
            <a:r>
              <a:rPr lang="en-US" dirty="0" err="1"/>
              <a:t>ל</a:t>
            </a:r>
            <a:r>
              <a:rPr lang="en-US" dirty="0"/>
              <a:t> USED (</a:t>
            </a:r>
            <a:r>
              <a:rPr lang="en-US" dirty="0" err="1"/>
              <a:t>עוד</a:t>
            </a:r>
            <a:r>
              <a:rPr lang="en-US" dirty="0"/>
              <a:t> </a:t>
            </a:r>
            <a:r>
              <a:rPr lang="en-US" dirty="0" err="1"/>
              <a:t>לא</a:t>
            </a:r>
            <a:r>
              <a:rPr lang="en-US" dirty="0"/>
              <a:t> RUNNABLE).</a:t>
            </a:r>
            <a:endParaRPr dirty="0"/>
          </a:p>
          <a:p>
            <a:pPr marL="0" lvl="0" indent="0" algn="r" rtl="1">
              <a:lnSpc>
                <a:spcPct val="100000"/>
              </a:lnSpc>
              <a:spcBef>
                <a:spcPts val="360"/>
              </a:spcBef>
              <a:spcAft>
                <a:spcPts val="0"/>
              </a:spcAft>
              <a:buClr>
                <a:schemeClr val="dk1"/>
              </a:buClr>
              <a:buSzPts val="1400"/>
              <a:buFont typeface="Arial"/>
              <a:buNone/>
            </a:pPr>
            <a:r>
              <a:rPr lang="en-US" dirty="0" err="1"/>
              <a:t>איך</a:t>
            </a:r>
            <a:r>
              <a:rPr lang="en-US" dirty="0"/>
              <a:t> fork </a:t>
            </a:r>
            <a:r>
              <a:rPr lang="en-US" dirty="0" err="1"/>
              <a:t>מבצע</a:t>
            </a:r>
            <a:r>
              <a:rPr lang="en-US" dirty="0"/>
              <a:t> </a:t>
            </a:r>
            <a:r>
              <a:rPr lang="en-US" dirty="0" err="1"/>
              <a:t>אתחול</a:t>
            </a:r>
            <a:r>
              <a:rPr lang="en-US" dirty="0"/>
              <a:t> </a:t>
            </a:r>
            <a:r>
              <a:rPr lang="en-US" dirty="0" err="1"/>
              <a:t>לתהליך</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מעתיק</a:t>
            </a:r>
            <a:r>
              <a:rPr lang="en-US" dirty="0"/>
              <a:t> </a:t>
            </a:r>
            <a:r>
              <a:rPr lang="en-US" dirty="0" err="1"/>
              <a:t>את</a:t>
            </a:r>
            <a:r>
              <a:rPr lang="en-US" dirty="0"/>
              <a:t> </a:t>
            </a:r>
            <a:r>
              <a:rPr lang="en-US" dirty="0" err="1"/>
              <a:t>כל</a:t>
            </a:r>
            <a:r>
              <a:rPr lang="en-US" dirty="0"/>
              <a:t> </a:t>
            </a:r>
            <a:r>
              <a:rPr lang="en-US" dirty="0" err="1"/>
              <a:t>זכרון</a:t>
            </a:r>
            <a:r>
              <a:rPr lang="en-US" dirty="0"/>
              <a:t> </a:t>
            </a:r>
            <a:r>
              <a:rPr lang="en-US" dirty="0" err="1"/>
              <a:t>תהליך</a:t>
            </a:r>
            <a:r>
              <a:rPr lang="en-US" dirty="0"/>
              <a:t> </a:t>
            </a:r>
            <a:r>
              <a:rPr lang="en-US" dirty="0" err="1"/>
              <a:t>האב</a:t>
            </a:r>
            <a:r>
              <a:rPr lang="en-US" dirty="0"/>
              <a:t> </a:t>
            </a:r>
            <a:r>
              <a:rPr lang="en-US" dirty="0" err="1"/>
              <a:t>בעזרת</a:t>
            </a:r>
            <a:r>
              <a:rPr lang="en-US" dirty="0"/>
              <a:t> </a:t>
            </a:r>
            <a:r>
              <a:rPr lang="en-US" dirty="0" err="1"/>
              <a:t>uvmcopy</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מעתיקים</a:t>
            </a:r>
            <a:r>
              <a:rPr lang="en-US" dirty="0"/>
              <a:t> </a:t>
            </a:r>
            <a:r>
              <a:rPr lang="en-US" dirty="0" err="1"/>
              <a:t>את</a:t>
            </a:r>
            <a:r>
              <a:rPr lang="en-US" dirty="0"/>
              <a:t> </a:t>
            </a:r>
            <a:r>
              <a:rPr lang="en-US" dirty="0" err="1"/>
              <a:t>גודל</a:t>
            </a:r>
            <a:r>
              <a:rPr lang="en-US" dirty="0"/>
              <a:t> </a:t>
            </a:r>
            <a:r>
              <a:rPr lang="en-US" dirty="0" err="1"/>
              <a:t>הזכרון</a:t>
            </a:r>
            <a:r>
              <a:rPr lang="en-US" dirty="0"/>
              <a:t> </a:t>
            </a:r>
            <a:r>
              <a:rPr lang="en-US" dirty="0" err="1"/>
              <a:t>ואת</a:t>
            </a:r>
            <a:r>
              <a:rPr lang="en-US" dirty="0"/>
              <a:t> </a:t>
            </a:r>
            <a:r>
              <a:rPr lang="en-US" dirty="0" err="1"/>
              <a:t>הtrapframe</a:t>
            </a:r>
            <a:r>
              <a:rPr lang="en-US" dirty="0"/>
              <a:t> </a:t>
            </a:r>
            <a:r>
              <a:rPr lang="en-US" dirty="0" err="1"/>
              <a:t>כי</a:t>
            </a:r>
            <a:r>
              <a:rPr lang="en-US" dirty="0"/>
              <a:t> </a:t>
            </a:r>
            <a:r>
              <a:rPr lang="en-US" dirty="0" err="1"/>
              <a:t>נרצה</a:t>
            </a:r>
            <a:r>
              <a:rPr lang="en-US" dirty="0"/>
              <a:t> </a:t>
            </a:r>
            <a:r>
              <a:rPr lang="en-US" dirty="0" err="1"/>
              <a:t>שהריצה</a:t>
            </a:r>
            <a:r>
              <a:rPr lang="en-US" dirty="0"/>
              <a:t> </a:t>
            </a:r>
            <a:r>
              <a:rPr lang="en-US" dirty="0" err="1"/>
              <a:t>של</a:t>
            </a:r>
            <a:r>
              <a:rPr lang="en-US" dirty="0"/>
              <a:t> </a:t>
            </a:r>
            <a:r>
              <a:rPr lang="en-US" dirty="0" err="1"/>
              <a:t>תהליך</a:t>
            </a:r>
            <a:r>
              <a:rPr lang="en-US" dirty="0"/>
              <a:t> </a:t>
            </a:r>
            <a:r>
              <a:rPr lang="en-US" dirty="0" err="1"/>
              <a:t>הבן</a:t>
            </a:r>
            <a:r>
              <a:rPr lang="en-US" dirty="0"/>
              <a:t> </a:t>
            </a:r>
            <a:r>
              <a:rPr lang="en-US" dirty="0" err="1"/>
              <a:t>תימשך</a:t>
            </a:r>
            <a:r>
              <a:rPr lang="en-US" dirty="0"/>
              <a:t> </a:t>
            </a:r>
            <a:r>
              <a:rPr lang="en-US" dirty="0" err="1"/>
              <a:t>מאותה</a:t>
            </a:r>
            <a:r>
              <a:rPr lang="en-US" dirty="0"/>
              <a:t> </a:t>
            </a:r>
            <a:r>
              <a:rPr lang="en-US" dirty="0" err="1"/>
              <a:t>נקודה</a:t>
            </a:r>
            <a:r>
              <a:rPr lang="en-US" dirty="0"/>
              <a:t> </a:t>
            </a:r>
            <a:r>
              <a:rPr lang="en-US" dirty="0" err="1"/>
              <a:t>שתהליך</a:t>
            </a:r>
            <a:r>
              <a:rPr lang="en-US" dirty="0"/>
              <a:t> </a:t>
            </a:r>
            <a:r>
              <a:rPr lang="en-US" dirty="0" err="1"/>
              <a:t>האב</a:t>
            </a:r>
            <a:r>
              <a:rPr lang="en-US" dirty="0"/>
              <a:t> </a:t>
            </a:r>
            <a:r>
              <a:rPr lang="en-US" dirty="0" err="1"/>
              <a:t>היה</a:t>
            </a:r>
            <a:r>
              <a:rPr lang="en-US" dirty="0"/>
              <a:t> </a:t>
            </a:r>
            <a:r>
              <a:rPr lang="en-US" dirty="0" err="1"/>
              <a:t>בה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אבל</a:t>
            </a:r>
            <a:r>
              <a:rPr lang="en-US" dirty="0"/>
              <a:t> </a:t>
            </a:r>
            <a:r>
              <a:rPr lang="en-US" dirty="0" err="1"/>
              <a:t>ברגיסטר</a:t>
            </a:r>
            <a:r>
              <a:rPr lang="en-US" dirty="0"/>
              <a:t> a0 </a:t>
            </a:r>
            <a:r>
              <a:rPr lang="en-US" dirty="0" err="1"/>
              <a:t>של</a:t>
            </a:r>
            <a:r>
              <a:rPr lang="en-US" dirty="0"/>
              <a:t> </a:t>
            </a:r>
            <a:r>
              <a:rPr lang="en-US" dirty="0" err="1"/>
              <a:t>תהליך</a:t>
            </a:r>
            <a:r>
              <a:rPr lang="en-US" dirty="0"/>
              <a:t> </a:t>
            </a:r>
            <a:r>
              <a:rPr lang="en-US" dirty="0" err="1"/>
              <a:t>הבן</a:t>
            </a:r>
            <a:r>
              <a:rPr lang="en-US" dirty="0"/>
              <a:t> </a:t>
            </a:r>
            <a:r>
              <a:rPr lang="en-US" dirty="0" err="1"/>
              <a:t>נשים</a:t>
            </a:r>
            <a:r>
              <a:rPr lang="en-US" dirty="0"/>
              <a:t> 0 – </a:t>
            </a:r>
            <a:r>
              <a:rPr lang="en-US" dirty="0" err="1"/>
              <a:t>ערך</a:t>
            </a:r>
            <a:r>
              <a:rPr lang="en-US" dirty="0"/>
              <a:t> </a:t>
            </a:r>
            <a:r>
              <a:rPr lang="en-US" dirty="0" err="1"/>
              <a:t>החזרה</a:t>
            </a:r>
            <a:r>
              <a:rPr lang="en-US" dirty="0"/>
              <a:t> </a:t>
            </a:r>
            <a:r>
              <a:rPr lang="en-US" dirty="0" err="1"/>
              <a:t>של</a:t>
            </a:r>
            <a:r>
              <a:rPr lang="en-US" dirty="0"/>
              <a:t> fork.</a:t>
            </a:r>
            <a:endParaRPr dirty="0"/>
          </a:p>
          <a:p>
            <a:pPr marL="0" lvl="0" indent="0" algn="r" rtl="1">
              <a:lnSpc>
                <a:spcPct val="100000"/>
              </a:lnSpc>
              <a:spcBef>
                <a:spcPts val="360"/>
              </a:spcBef>
              <a:spcAft>
                <a:spcPts val="0"/>
              </a:spcAft>
              <a:buClr>
                <a:schemeClr val="dk1"/>
              </a:buClr>
              <a:buSzPts val="1400"/>
              <a:buFont typeface="Arial"/>
              <a:buNone/>
            </a:pPr>
            <a:r>
              <a:rPr lang="en-US" dirty="0" err="1"/>
              <a:t>בלולאה</a:t>
            </a:r>
            <a:r>
              <a:rPr lang="en-US" dirty="0"/>
              <a:t> </a:t>
            </a:r>
            <a:r>
              <a:rPr lang="en-US" dirty="0" err="1"/>
              <a:t>מתבצעת</a:t>
            </a:r>
            <a:r>
              <a:rPr lang="en-US" dirty="0"/>
              <a:t> </a:t>
            </a:r>
            <a:r>
              <a:rPr lang="en-US" dirty="0" err="1"/>
              <a:t>העתקה</a:t>
            </a:r>
            <a:r>
              <a:rPr lang="en-US" dirty="0"/>
              <a:t> </a:t>
            </a:r>
            <a:r>
              <a:rPr lang="en-US" dirty="0" err="1"/>
              <a:t>של</a:t>
            </a:r>
            <a:r>
              <a:rPr lang="en-US" dirty="0"/>
              <a:t> </a:t>
            </a:r>
            <a:r>
              <a:rPr lang="en-US" dirty="0" err="1"/>
              <a:t>הfile</a:t>
            </a:r>
            <a:r>
              <a:rPr lang="en-US" dirty="0"/>
              <a:t> descriptors.</a:t>
            </a:r>
            <a:endParaRPr dirty="0"/>
          </a:p>
          <a:p>
            <a:pPr marL="0" lvl="0" indent="0" algn="r" rtl="1">
              <a:lnSpc>
                <a:spcPct val="100000"/>
              </a:lnSpc>
              <a:spcBef>
                <a:spcPts val="360"/>
              </a:spcBef>
              <a:spcAft>
                <a:spcPts val="0"/>
              </a:spcAft>
              <a:buClr>
                <a:schemeClr val="dk1"/>
              </a:buClr>
              <a:buSzPts val="1400"/>
              <a:buFont typeface="Arial"/>
              <a:buNone/>
            </a:pPr>
            <a:r>
              <a:rPr lang="en-US" dirty="0" err="1"/>
              <a:t>safestrscpy</a:t>
            </a:r>
            <a:r>
              <a:rPr lang="en-US" dirty="0"/>
              <a:t> – </a:t>
            </a:r>
            <a:r>
              <a:rPr lang="en-US" dirty="0" err="1"/>
              <a:t>להעתקה</a:t>
            </a:r>
            <a:r>
              <a:rPr lang="en-US" dirty="0"/>
              <a:t> </a:t>
            </a:r>
            <a:r>
              <a:rPr lang="en-US" dirty="0" err="1"/>
              <a:t>של</a:t>
            </a:r>
            <a:r>
              <a:rPr lang="en-US" dirty="0"/>
              <a:t> </a:t>
            </a:r>
            <a:r>
              <a:rPr lang="en-US" dirty="0" err="1"/>
              <a:t>שם</a:t>
            </a:r>
            <a:r>
              <a:rPr lang="en-US" dirty="0"/>
              <a:t> </a:t>
            </a:r>
            <a:r>
              <a:rPr lang="en-US" dirty="0" err="1"/>
              <a:t>התהליך</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אתחול</a:t>
            </a:r>
            <a:r>
              <a:rPr lang="en-US" dirty="0"/>
              <a:t> </a:t>
            </a:r>
            <a:r>
              <a:rPr lang="en-US" dirty="0" err="1"/>
              <a:t>שדות</a:t>
            </a:r>
            <a:r>
              <a:rPr lang="en-US" dirty="0"/>
              <a:t> parent, </a:t>
            </a:r>
            <a:r>
              <a:rPr lang="en-US" dirty="0" err="1"/>
              <a:t>pid</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עדכון</a:t>
            </a:r>
            <a:r>
              <a:rPr lang="en-US" dirty="0"/>
              <a:t> </a:t>
            </a:r>
            <a:r>
              <a:rPr lang="en-US" dirty="0" err="1"/>
              <a:t>שדה</a:t>
            </a:r>
            <a:r>
              <a:rPr lang="en-US" dirty="0"/>
              <a:t> </a:t>
            </a:r>
            <a:r>
              <a:rPr lang="en-US" dirty="0" err="1"/>
              <a:t>המצב</a:t>
            </a:r>
            <a:r>
              <a:rPr lang="en-US" dirty="0"/>
              <a:t> </a:t>
            </a:r>
            <a:r>
              <a:rPr lang="en-US" dirty="0" err="1"/>
              <a:t>לrunnable</a:t>
            </a:r>
            <a:r>
              <a:rPr lang="en-US" dirty="0"/>
              <a:t>. </a:t>
            </a:r>
            <a:endParaRPr dirty="0"/>
          </a:p>
        </p:txBody>
      </p:sp>
      <p:sp>
        <p:nvSpPr>
          <p:cNvPr id="149" name="Google Shape;149;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r" rtl="1">
              <a:spcBef>
                <a:spcPts val="0"/>
              </a:spcBef>
              <a:spcAft>
                <a:spcPts val="0"/>
              </a:spcAft>
              <a:buNone/>
            </a:pPr>
            <a:r>
              <a:rPr lang="en-US" sz="1200" b="0" i="0" dirty="0" err="1">
                <a:solidFill>
                  <a:srgbClr val="000000"/>
                </a:solidFill>
                <a:latin typeface="Calibri"/>
                <a:ea typeface="Calibri"/>
                <a:cs typeface="Calibri"/>
                <a:sym typeface="Calibri"/>
              </a:rPr>
              <a:t>דיברנו</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על</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מעבר</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מיוזר</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ספייס</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לקרנל</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ספייס</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ומערכת</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ההפעלה</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שומרת</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בtrapframe</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את</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כל</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הרגיסטרים</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של</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אותו</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תהליך</a:t>
            </a:r>
            <a:r>
              <a:rPr lang="en-US" sz="1200" b="0" i="0" dirty="0">
                <a:solidFill>
                  <a:srgbClr val="000000"/>
                </a:solidFill>
                <a:latin typeface="Calibri"/>
                <a:ea typeface="Calibri"/>
                <a:cs typeface="Calibri"/>
                <a:sym typeface="Calibri"/>
              </a:rPr>
              <a:t>.</a:t>
            </a:r>
            <a:endParaRPr dirty="0"/>
          </a:p>
          <a:p>
            <a:pPr marL="0" marR="0" lvl="0" indent="0" algn="r" rtl="1">
              <a:spcBef>
                <a:spcPts val="360"/>
              </a:spcBef>
              <a:spcAft>
                <a:spcPts val="0"/>
              </a:spcAft>
              <a:buNone/>
            </a:pPr>
            <a:r>
              <a:rPr lang="en-US" sz="1200" b="0" i="0" dirty="0" err="1">
                <a:solidFill>
                  <a:srgbClr val="000000"/>
                </a:solidFill>
                <a:latin typeface="Calibri"/>
                <a:ea typeface="Calibri"/>
                <a:cs typeface="Calibri"/>
                <a:sym typeface="Calibri"/>
              </a:rPr>
              <a:t>בנוסף</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מערכת</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ההפעלה</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שומרת</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במבנה</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נתונים</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נוסף</a:t>
            </a:r>
            <a:r>
              <a:rPr lang="en-US" sz="1200" b="0" i="0" dirty="0">
                <a:solidFill>
                  <a:srgbClr val="000000"/>
                </a:solidFill>
                <a:latin typeface="Calibri"/>
                <a:ea typeface="Calibri"/>
                <a:cs typeface="Calibri"/>
                <a:sym typeface="Calibri"/>
              </a:rPr>
              <a:t> context  </a:t>
            </a:r>
            <a:r>
              <a:rPr lang="en-US" sz="1200" b="0" i="0" dirty="0" err="1">
                <a:solidFill>
                  <a:srgbClr val="000000"/>
                </a:solidFill>
                <a:latin typeface="Calibri"/>
                <a:ea typeface="Calibri"/>
                <a:cs typeface="Calibri"/>
                <a:sym typeface="Calibri"/>
              </a:rPr>
              <a:t>שהוא</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חלק</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מהרגיסטרים</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ולמעשה</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הcontext</a:t>
            </a:r>
            <a:r>
              <a:rPr lang="en-US" sz="1200" b="0" i="0" dirty="0">
                <a:solidFill>
                  <a:srgbClr val="000000"/>
                </a:solidFill>
                <a:latin typeface="Calibri"/>
                <a:ea typeface="Calibri"/>
                <a:cs typeface="Calibri"/>
                <a:sym typeface="Calibri"/>
              </a:rPr>
              <a:t> switch  </a:t>
            </a:r>
            <a:r>
              <a:rPr lang="en-US" sz="1200" b="0" i="0" dirty="0" err="1">
                <a:solidFill>
                  <a:srgbClr val="000000"/>
                </a:solidFill>
                <a:latin typeface="Calibri"/>
                <a:ea typeface="Calibri"/>
                <a:cs typeface="Calibri"/>
                <a:sym typeface="Calibri"/>
              </a:rPr>
              <a:t>שקורה</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בשני</a:t>
            </a:r>
            <a:r>
              <a:rPr lang="en-US" sz="1200" b="0" i="0" dirty="0">
                <a:solidFill>
                  <a:srgbClr val="000000"/>
                </a:solidFill>
                <a:latin typeface="Calibri"/>
                <a:ea typeface="Calibri"/>
                <a:cs typeface="Calibri"/>
                <a:sym typeface="Calibri"/>
              </a:rPr>
              <a:t> </a:t>
            </a:r>
            <a:r>
              <a:rPr lang="en-US" sz="1200" b="0" i="0" dirty="0" err="1">
                <a:solidFill>
                  <a:srgbClr val="000000"/>
                </a:solidFill>
                <a:latin typeface="Calibri"/>
                <a:ea typeface="Calibri"/>
                <a:cs typeface="Calibri"/>
                <a:sym typeface="Calibri"/>
              </a:rPr>
              <a:t>שלבים</a:t>
            </a:r>
            <a:r>
              <a:rPr lang="en-US" sz="1200" b="0" i="0" dirty="0">
                <a:solidFill>
                  <a:srgbClr val="000000"/>
                </a:solidFill>
                <a:latin typeface="Calibri"/>
                <a:ea typeface="Calibri"/>
                <a:cs typeface="Calibri"/>
                <a:sym typeface="Calibri"/>
              </a:rPr>
              <a:t>:</a:t>
            </a:r>
            <a:endParaRPr dirty="0"/>
          </a:p>
          <a:p>
            <a:pPr marL="0" lvl="0" indent="0" algn="r" rtl="1">
              <a:lnSpc>
                <a:spcPct val="100000"/>
              </a:lnSpc>
              <a:spcBef>
                <a:spcPts val="360"/>
              </a:spcBef>
              <a:spcAft>
                <a:spcPts val="0"/>
              </a:spcAft>
              <a:buClr>
                <a:schemeClr val="dk1"/>
              </a:buClr>
              <a:buSzPts val="1400"/>
              <a:buFont typeface="Arial"/>
              <a:buNone/>
            </a:pPr>
            <a:r>
              <a:rPr lang="en-US" dirty="0" err="1"/>
              <a:t>נניח</a:t>
            </a:r>
            <a:r>
              <a:rPr lang="en-US" dirty="0"/>
              <a:t> </a:t>
            </a:r>
            <a:r>
              <a:rPr lang="en-US" dirty="0" err="1"/>
              <a:t>ויש</a:t>
            </a:r>
            <a:r>
              <a:rPr lang="en-US" dirty="0"/>
              <a:t> </a:t>
            </a:r>
            <a:r>
              <a:rPr lang="en-US" dirty="0" err="1"/>
              <a:t>שני</a:t>
            </a:r>
            <a:r>
              <a:rPr lang="en-US" dirty="0"/>
              <a:t> </a:t>
            </a:r>
            <a:r>
              <a:rPr lang="en-US" dirty="0" err="1"/>
              <a:t>תהליכים</a:t>
            </a:r>
            <a:r>
              <a:rPr lang="en-US" dirty="0"/>
              <a:t> ls, cat </a:t>
            </a:r>
            <a:r>
              <a:rPr lang="en-US" dirty="0" err="1"/>
              <a:t>אז</a:t>
            </a:r>
            <a:r>
              <a:rPr lang="en-US" dirty="0"/>
              <a:t> </a:t>
            </a:r>
            <a:r>
              <a:rPr lang="en-US" dirty="0" err="1"/>
              <a:t>איך</a:t>
            </a:r>
            <a:r>
              <a:rPr lang="en-US" dirty="0"/>
              <a:t> </a:t>
            </a:r>
            <a:r>
              <a:rPr lang="en-US" dirty="0" err="1"/>
              <a:t>מתבצע</a:t>
            </a:r>
            <a:r>
              <a:rPr lang="en-US" dirty="0"/>
              <a:t> </a:t>
            </a:r>
            <a:r>
              <a:rPr lang="en-US" dirty="0" err="1"/>
              <a:t>המעבר</a:t>
            </a:r>
            <a:r>
              <a:rPr lang="en-US" dirty="0"/>
              <a:t> </a:t>
            </a:r>
            <a:r>
              <a:rPr lang="en-US" dirty="0" err="1"/>
              <a:t>בין</a:t>
            </a:r>
            <a:r>
              <a:rPr lang="en-US" dirty="0"/>
              <a:t> </a:t>
            </a:r>
            <a:r>
              <a:rPr lang="en-US" dirty="0" err="1"/>
              <a:t>שני</a:t>
            </a:r>
            <a:r>
              <a:rPr lang="en-US" dirty="0"/>
              <a:t> </a:t>
            </a:r>
            <a:r>
              <a:rPr lang="en-US" dirty="0" err="1"/>
              <a:t>התהליכים</a:t>
            </a:r>
            <a:r>
              <a:rPr lang="en-US" dirty="0"/>
              <a:t>?</a:t>
            </a:r>
            <a:endParaRPr dirty="0"/>
          </a:p>
          <a:p>
            <a:pPr marL="0" marR="0" lvl="0" indent="0" algn="r" rtl="1">
              <a:lnSpc>
                <a:spcPct val="100000"/>
              </a:lnSpc>
              <a:spcBef>
                <a:spcPts val="360"/>
              </a:spcBef>
              <a:spcAft>
                <a:spcPts val="0"/>
              </a:spcAft>
              <a:buClr>
                <a:srgbClr val="000000"/>
              </a:buClr>
              <a:buSzPts val="1400"/>
              <a:buFont typeface="Arial"/>
              <a:buNone/>
            </a:pPr>
            <a:r>
              <a:rPr lang="en-US" dirty="0" err="1"/>
              <a:t>שלב</a:t>
            </a:r>
            <a:r>
              <a:rPr lang="en-US" dirty="0"/>
              <a:t> </a:t>
            </a:r>
            <a:r>
              <a:rPr lang="en-US" dirty="0" err="1"/>
              <a:t>ראשון</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מתבצע</a:t>
            </a:r>
            <a:r>
              <a:rPr lang="en-US" dirty="0"/>
              <a:t> </a:t>
            </a:r>
            <a:r>
              <a:rPr lang="en-US" dirty="0" err="1"/>
              <a:t>מעבר</a:t>
            </a:r>
            <a:r>
              <a:rPr lang="en-US" dirty="0"/>
              <a:t> </a:t>
            </a:r>
            <a:r>
              <a:rPr lang="en-US" dirty="0" err="1"/>
              <a:t>מהיוזר</a:t>
            </a:r>
            <a:r>
              <a:rPr lang="en-US" dirty="0"/>
              <a:t> </a:t>
            </a:r>
            <a:r>
              <a:rPr lang="en-US" dirty="0" err="1"/>
              <a:t>ספייס</a:t>
            </a:r>
            <a:r>
              <a:rPr lang="en-US" dirty="0"/>
              <a:t> </a:t>
            </a:r>
            <a:r>
              <a:rPr lang="en-US" dirty="0" err="1"/>
              <a:t>של</a:t>
            </a:r>
            <a:r>
              <a:rPr lang="en-US" dirty="0"/>
              <a:t> </a:t>
            </a:r>
            <a:r>
              <a:rPr lang="en-US" dirty="0" err="1"/>
              <a:t>הshell</a:t>
            </a:r>
            <a:r>
              <a:rPr lang="en-US" dirty="0"/>
              <a:t> </a:t>
            </a:r>
            <a:r>
              <a:rPr lang="en-US" dirty="0" err="1"/>
              <a:t>לקרנל</a:t>
            </a:r>
            <a:r>
              <a:rPr lang="en-US" dirty="0"/>
              <a:t> </a:t>
            </a:r>
            <a:r>
              <a:rPr lang="en-US" dirty="0" err="1"/>
              <a:t>ספייס</a:t>
            </a:r>
            <a:r>
              <a:rPr lang="en-US" dirty="0"/>
              <a:t> </a:t>
            </a:r>
            <a:r>
              <a:rPr lang="en-US" dirty="0" err="1"/>
              <a:t>שלו</a:t>
            </a:r>
            <a:r>
              <a:rPr lang="en-US" dirty="0"/>
              <a:t> (</a:t>
            </a:r>
            <a:r>
              <a:rPr lang="en-US" dirty="0" err="1"/>
              <a:t>כמו</a:t>
            </a:r>
            <a:r>
              <a:rPr lang="en-US" dirty="0"/>
              <a:t> </a:t>
            </a:r>
            <a:r>
              <a:rPr lang="en-US" dirty="0" err="1"/>
              <a:t>שראינו</a:t>
            </a:r>
            <a:r>
              <a:rPr lang="en-US" dirty="0"/>
              <a:t> </a:t>
            </a:r>
            <a:r>
              <a:rPr lang="en-US" dirty="0" err="1"/>
              <a:t>בתרגול</a:t>
            </a:r>
            <a:r>
              <a:rPr lang="en-US" dirty="0"/>
              <a:t> </a:t>
            </a:r>
            <a:r>
              <a:rPr lang="en-US" dirty="0" err="1"/>
              <a:t>הקודם</a:t>
            </a:r>
            <a:r>
              <a:rPr lang="en-US" dirty="0"/>
              <a:t>), </a:t>
            </a:r>
            <a:r>
              <a:rPr lang="en-US" dirty="0" err="1"/>
              <a:t>שומר</a:t>
            </a:r>
            <a:r>
              <a:rPr lang="en-US" dirty="0"/>
              <a:t> </a:t>
            </a:r>
            <a:r>
              <a:rPr lang="en-US" dirty="0" err="1"/>
              <a:t>את</a:t>
            </a:r>
            <a:r>
              <a:rPr lang="en-US" dirty="0"/>
              <a:t> </a:t>
            </a:r>
            <a:r>
              <a:rPr lang="en-US" dirty="0" err="1"/>
              <a:t>הtrapframe</a:t>
            </a:r>
            <a:r>
              <a:rPr lang="en-US" dirty="0"/>
              <a:t> </a:t>
            </a:r>
            <a:r>
              <a:rPr lang="en-US" dirty="0" err="1"/>
              <a:t>ומתחיל</a:t>
            </a:r>
            <a:r>
              <a:rPr lang="en-US" dirty="0"/>
              <a:t> </a:t>
            </a:r>
            <a:r>
              <a:rPr lang="en-US" dirty="0" err="1"/>
              <a:t>לרוץ</a:t>
            </a:r>
            <a:r>
              <a:rPr lang="en-US" dirty="0"/>
              <a:t> </a:t>
            </a:r>
            <a:r>
              <a:rPr lang="en-US" dirty="0" err="1"/>
              <a:t>בקרנל</a:t>
            </a:r>
            <a:r>
              <a:rPr lang="en-US" dirty="0"/>
              <a:t>. </a:t>
            </a:r>
            <a:endParaRPr dirty="0"/>
          </a:p>
          <a:p>
            <a:pPr marL="0" lvl="0" indent="0" algn="r" rtl="1">
              <a:lnSpc>
                <a:spcPct val="100000"/>
              </a:lnSpc>
              <a:spcBef>
                <a:spcPts val="360"/>
              </a:spcBef>
              <a:spcAft>
                <a:spcPts val="0"/>
              </a:spcAft>
              <a:buClr>
                <a:schemeClr val="dk1"/>
              </a:buClr>
              <a:buSzPts val="1400"/>
              <a:buFont typeface="Arial"/>
              <a:buNone/>
            </a:pPr>
            <a:r>
              <a:rPr lang="en-US" dirty="0" err="1"/>
              <a:t>מתוך</a:t>
            </a:r>
            <a:r>
              <a:rPr lang="en-US" dirty="0"/>
              <a:t> </a:t>
            </a:r>
            <a:r>
              <a:rPr lang="en-US" dirty="0" err="1"/>
              <a:t>הקרנל</a:t>
            </a:r>
            <a:r>
              <a:rPr lang="en-US" dirty="0"/>
              <a:t> </a:t>
            </a:r>
            <a:r>
              <a:rPr lang="en-US" dirty="0" err="1"/>
              <a:t>קוראים</a:t>
            </a:r>
            <a:r>
              <a:rPr lang="en-US" dirty="0"/>
              <a:t> </a:t>
            </a:r>
            <a:r>
              <a:rPr lang="en-US" dirty="0" err="1"/>
              <a:t>לפונקצית</a:t>
            </a:r>
            <a:r>
              <a:rPr lang="en-US" dirty="0"/>
              <a:t> </a:t>
            </a:r>
            <a:r>
              <a:rPr lang="en-US" dirty="0" err="1"/>
              <a:t>swtch</a:t>
            </a:r>
            <a:r>
              <a:rPr lang="en-US" dirty="0"/>
              <a:t> </a:t>
            </a:r>
            <a:r>
              <a:rPr lang="en-US" dirty="0" err="1"/>
              <a:t>והיא</a:t>
            </a:r>
            <a:r>
              <a:rPr lang="en-US" dirty="0"/>
              <a:t> </a:t>
            </a:r>
            <a:r>
              <a:rPr lang="en-US" dirty="0" err="1"/>
              <a:t>שומרת</a:t>
            </a:r>
            <a:r>
              <a:rPr lang="en-US" dirty="0"/>
              <a:t> </a:t>
            </a:r>
            <a:r>
              <a:rPr lang="en-US" dirty="0" err="1"/>
              <a:t>את</a:t>
            </a:r>
            <a:r>
              <a:rPr lang="en-US" dirty="0"/>
              <a:t> </a:t>
            </a:r>
            <a:r>
              <a:rPr lang="en-US" dirty="0" err="1"/>
              <a:t>הcontext</a:t>
            </a:r>
            <a:r>
              <a:rPr lang="en-US" dirty="0"/>
              <a:t> </a:t>
            </a:r>
            <a:r>
              <a:rPr lang="en-US" dirty="0" err="1"/>
              <a:t>ששם</a:t>
            </a:r>
            <a:r>
              <a:rPr lang="en-US" dirty="0"/>
              <a:t> </a:t>
            </a:r>
            <a:r>
              <a:rPr lang="en-US" dirty="0" err="1"/>
              <a:t>נשמרים</a:t>
            </a:r>
            <a:r>
              <a:rPr lang="en-US" dirty="0"/>
              <a:t> </a:t>
            </a:r>
            <a:r>
              <a:rPr lang="en-US" dirty="0" err="1"/>
              <a:t>חלק</a:t>
            </a:r>
            <a:r>
              <a:rPr lang="en-US" dirty="0"/>
              <a:t> </a:t>
            </a:r>
            <a:r>
              <a:rPr lang="en-US" dirty="0" err="1"/>
              <a:t>מהרגיסטרים</a:t>
            </a:r>
            <a:r>
              <a:rPr lang="en-US" dirty="0"/>
              <a:t>, </a:t>
            </a:r>
            <a:r>
              <a:rPr lang="en-US" dirty="0" err="1"/>
              <a:t>למשל</a:t>
            </a:r>
            <a:r>
              <a:rPr lang="en-US" dirty="0"/>
              <a:t> – stack pointer, return address </a:t>
            </a:r>
            <a:r>
              <a:rPr lang="en-US" dirty="0" err="1"/>
              <a:t>ועוד</a:t>
            </a:r>
            <a:r>
              <a:rPr lang="en-US" dirty="0"/>
              <a:t> </a:t>
            </a:r>
            <a:r>
              <a:rPr lang="en-US" dirty="0" err="1"/>
              <a:t>חלק</a:t>
            </a:r>
            <a:r>
              <a:rPr lang="en-US" dirty="0"/>
              <a:t> </a:t>
            </a:r>
            <a:r>
              <a:rPr lang="en-US" dirty="0" err="1"/>
              <a:t>מהרגיסטרים</a:t>
            </a:r>
            <a:r>
              <a:rPr lang="en-US" dirty="0"/>
              <a:t> </a:t>
            </a:r>
            <a:r>
              <a:rPr lang="en-US" dirty="0" err="1"/>
              <a:t>שמשתמשים</a:t>
            </a:r>
            <a:r>
              <a:rPr lang="en-US" dirty="0"/>
              <a:t> </a:t>
            </a:r>
            <a:r>
              <a:rPr lang="en-US" dirty="0" err="1"/>
              <a:t>בהם</a:t>
            </a:r>
            <a:r>
              <a:rPr lang="en-US" dirty="0"/>
              <a:t> </a:t>
            </a:r>
            <a:r>
              <a:rPr lang="en-US" dirty="0" err="1"/>
              <a:t>בקרנל</a:t>
            </a:r>
            <a:r>
              <a:rPr lang="en-US" dirty="0"/>
              <a:t> </a:t>
            </a:r>
            <a:r>
              <a:rPr lang="en-US" dirty="0" err="1"/>
              <a:t>ספייס</a:t>
            </a:r>
            <a:r>
              <a:rPr lang="en-US" dirty="0"/>
              <a:t> </a:t>
            </a:r>
            <a:r>
              <a:rPr lang="en-US" dirty="0" err="1"/>
              <a:t>ואלו</a:t>
            </a:r>
            <a:r>
              <a:rPr lang="en-US" dirty="0"/>
              <a:t> </a:t>
            </a:r>
            <a:r>
              <a:rPr lang="en-US" dirty="0" err="1"/>
              <a:t>בלבד</a:t>
            </a:r>
            <a:r>
              <a:rPr lang="en-US" dirty="0"/>
              <a:t> </a:t>
            </a:r>
            <a:r>
              <a:rPr lang="en-US" dirty="0" err="1"/>
              <a:t>נשמרים</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עוברים</a:t>
            </a:r>
            <a:r>
              <a:rPr lang="en-US" dirty="0"/>
              <a:t> </a:t>
            </a:r>
            <a:r>
              <a:rPr lang="en-US" dirty="0" err="1"/>
              <a:t>לקרנל</a:t>
            </a:r>
            <a:r>
              <a:rPr lang="en-US" dirty="0"/>
              <a:t> </a:t>
            </a:r>
            <a:r>
              <a:rPr lang="en-US" dirty="0" err="1"/>
              <a:t>ספייס</a:t>
            </a:r>
            <a:r>
              <a:rPr lang="en-US" dirty="0"/>
              <a:t> </a:t>
            </a:r>
            <a:r>
              <a:rPr lang="en-US" dirty="0" err="1"/>
              <a:t>של</a:t>
            </a:r>
            <a:r>
              <a:rPr lang="en-US" dirty="0"/>
              <a:t> </a:t>
            </a:r>
            <a:r>
              <a:rPr lang="en-US" dirty="0" err="1"/>
              <a:t>הscheduler</a:t>
            </a:r>
            <a:r>
              <a:rPr lang="en-US" dirty="0"/>
              <a:t> </a:t>
            </a:r>
            <a:r>
              <a:rPr lang="en-US" dirty="0" err="1"/>
              <a:t>וממנו</a:t>
            </a:r>
            <a:r>
              <a:rPr lang="en-US" dirty="0"/>
              <a:t> </a:t>
            </a:r>
            <a:r>
              <a:rPr lang="en-US" dirty="0" err="1"/>
              <a:t>טוענים</a:t>
            </a:r>
            <a:r>
              <a:rPr lang="en-US" dirty="0"/>
              <a:t> </a:t>
            </a:r>
            <a:r>
              <a:rPr lang="en-US" dirty="0" err="1"/>
              <a:t>את</a:t>
            </a:r>
            <a:r>
              <a:rPr lang="en-US" dirty="0"/>
              <a:t> </a:t>
            </a:r>
            <a:r>
              <a:rPr lang="en-US" dirty="0" err="1"/>
              <a:t>הקרנל</a:t>
            </a:r>
            <a:r>
              <a:rPr lang="en-US" dirty="0"/>
              <a:t> </a:t>
            </a:r>
            <a:r>
              <a:rPr lang="en-US" dirty="0" err="1"/>
              <a:t>ספייס</a:t>
            </a:r>
            <a:r>
              <a:rPr lang="en-US" dirty="0"/>
              <a:t> </a:t>
            </a:r>
            <a:r>
              <a:rPr lang="en-US" dirty="0" err="1"/>
              <a:t>של</a:t>
            </a:r>
            <a:r>
              <a:rPr lang="en-US" dirty="0"/>
              <a:t> cat.</a:t>
            </a:r>
            <a:endParaRPr dirty="0"/>
          </a:p>
          <a:p>
            <a:pPr marL="0" lvl="0" indent="0" algn="r" rtl="1">
              <a:lnSpc>
                <a:spcPct val="100000"/>
              </a:lnSpc>
              <a:spcBef>
                <a:spcPts val="360"/>
              </a:spcBef>
              <a:spcAft>
                <a:spcPts val="0"/>
              </a:spcAft>
              <a:buClr>
                <a:schemeClr val="dk1"/>
              </a:buClr>
              <a:buSzPts val="1400"/>
              <a:buFont typeface="Arial"/>
              <a:buNone/>
            </a:pPr>
            <a:r>
              <a:rPr lang="en-US" dirty="0" err="1"/>
              <a:t>לאחר</a:t>
            </a:r>
            <a:r>
              <a:rPr lang="en-US" dirty="0"/>
              <a:t> </a:t>
            </a:r>
            <a:r>
              <a:rPr lang="en-US" dirty="0" err="1"/>
              <a:t>מכן</a:t>
            </a:r>
            <a:r>
              <a:rPr lang="en-US" dirty="0"/>
              <a:t> </a:t>
            </a:r>
            <a:r>
              <a:rPr lang="en-US" dirty="0" err="1"/>
              <a:t>יוצאים</a:t>
            </a:r>
            <a:r>
              <a:rPr lang="en-US" dirty="0"/>
              <a:t> </a:t>
            </a:r>
            <a:r>
              <a:rPr lang="en-US" dirty="0" err="1"/>
              <a:t>מהקרנל</a:t>
            </a:r>
            <a:r>
              <a:rPr lang="en-US" dirty="0"/>
              <a:t> </a:t>
            </a:r>
            <a:r>
              <a:rPr lang="en-US" dirty="0" err="1"/>
              <a:t>ספייס</a:t>
            </a:r>
            <a:r>
              <a:rPr lang="en-US" dirty="0"/>
              <a:t> </a:t>
            </a:r>
            <a:r>
              <a:rPr lang="en-US" dirty="0" err="1"/>
              <a:t>דרך</a:t>
            </a:r>
            <a:r>
              <a:rPr lang="en-US" dirty="0"/>
              <a:t> </a:t>
            </a:r>
            <a:r>
              <a:rPr lang="en-US" dirty="0" err="1"/>
              <a:t>הtrapframe</a:t>
            </a:r>
            <a:r>
              <a:rPr lang="en-US" dirty="0"/>
              <a:t> </a:t>
            </a:r>
            <a:r>
              <a:rPr lang="en-US" dirty="0" err="1"/>
              <a:t>של</a:t>
            </a:r>
            <a:r>
              <a:rPr lang="en-US" dirty="0"/>
              <a:t> cat </a:t>
            </a:r>
            <a:r>
              <a:rPr lang="en-US" dirty="0" err="1"/>
              <a:t>ועוברים</a:t>
            </a:r>
            <a:r>
              <a:rPr lang="en-US" dirty="0"/>
              <a:t> </a:t>
            </a:r>
            <a:r>
              <a:rPr lang="en-US" dirty="0" err="1"/>
              <a:t>ליוזר</a:t>
            </a:r>
            <a:r>
              <a:rPr lang="en-US" dirty="0"/>
              <a:t> </a:t>
            </a:r>
            <a:r>
              <a:rPr lang="en-US" dirty="0" err="1"/>
              <a:t>ספייס</a:t>
            </a:r>
            <a:r>
              <a:rPr lang="en-US" dirty="0"/>
              <a:t> </a:t>
            </a:r>
            <a:r>
              <a:rPr lang="en-US" dirty="0" err="1"/>
              <a:t>של</a:t>
            </a:r>
            <a:r>
              <a:rPr lang="en-US" dirty="0"/>
              <a:t> cat.</a:t>
            </a:r>
            <a:endParaRPr dirty="0"/>
          </a:p>
          <a:p>
            <a:pPr marL="0" lvl="0" indent="0" algn="r" rtl="1">
              <a:lnSpc>
                <a:spcPct val="100000"/>
              </a:lnSpc>
              <a:spcBef>
                <a:spcPts val="360"/>
              </a:spcBef>
              <a:spcAft>
                <a:spcPts val="0"/>
              </a:spcAft>
              <a:buClr>
                <a:schemeClr val="dk1"/>
              </a:buClr>
              <a:buSzPts val="1400"/>
              <a:buFont typeface="Arial"/>
              <a:buNone/>
            </a:pPr>
            <a:r>
              <a:rPr lang="en-US" dirty="0" err="1"/>
              <a:t>לסיכום</a:t>
            </a:r>
            <a:r>
              <a:rPr lang="en-US" dirty="0"/>
              <a:t>:</a:t>
            </a:r>
            <a:endParaRPr dirty="0"/>
          </a:p>
          <a:p>
            <a:pPr marL="228600" lvl="0" indent="-228600" algn="r" rtl="1">
              <a:lnSpc>
                <a:spcPct val="100000"/>
              </a:lnSpc>
              <a:spcBef>
                <a:spcPts val="360"/>
              </a:spcBef>
              <a:spcAft>
                <a:spcPts val="0"/>
              </a:spcAft>
              <a:buClr>
                <a:schemeClr val="dk1"/>
              </a:buClr>
              <a:buSzPts val="1400"/>
              <a:buFont typeface="Arial"/>
              <a:buAutoNum type="arabicParenR"/>
            </a:pPr>
            <a:r>
              <a:rPr lang="en-US" dirty="0" err="1"/>
              <a:t>עוברים</a:t>
            </a:r>
            <a:r>
              <a:rPr lang="en-US" dirty="0"/>
              <a:t> </a:t>
            </a:r>
            <a:r>
              <a:rPr lang="en-US" dirty="0" err="1"/>
              <a:t>מיוזר</a:t>
            </a:r>
            <a:r>
              <a:rPr lang="en-US" dirty="0"/>
              <a:t> </a:t>
            </a:r>
            <a:r>
              <a:rPr lang="en-US" dirty="0" err="1"/>
              <a:t>ספייס</a:t>
            </a:r>
            <a:r>
              <a:rPr lang="en-US" dirty="0"/>
              <a:t> </a:t>
            </a:r>
            <a:r>
              <a:rPr lang="en-US" dirty="0" err="1"/>
              <a:t>של</a:t>
            </a:r>
            <a:r>
              <a:rPr lang="en-US" dirty="0"/>
              <a:t> </a:t>
            </a:r>
            <a:r>
              <a:rPr lang="en-US" dirty="0" err="1"/>
              <a:t>תכנית</a:t>
            </a:r>
            <a:r>
              <a:rPr lang="en-US" dirty="0"/>
              <a:t> </a:t>
            </a:r>
            <a:r>
              <a:rPr lang="en-US" dirty="0" err="1"/>
              <a:t>א</a:t>
            </a:r>
            <a:r>
              <a:rPr lang="en-US" dirty="0"/>
              <a:t>' </a:t>
            </a:r>
            <a:r>
              <a:rPr lang="en-US" dirty="0" err="1"/>
              <a:t>לקרנל</a:t>
            </a:r>
            <a:r>
              <a:rPr lang="en-US" dirty="0"/>
              <a:t> </a:t>
            </a:r>
            <a:r>
              <a:rPr lang="en-US" dirty="0" err="1"/>
              <a:t>ספייס</a:t>
            </a:r>
            <a:r>
              <a:rPr lang="en-US" dirty="0"/>
              <a:t> </a:t>
            </a:r>
            <a:r>
              <a:rPr lang="en-US" dirty="0" err="1"/>
              <a:t>של</a:t>
            </a:r>
            <a:r>
              <a:rPr lang="en-US" dirty="0"/>
              <a:t> </a:t>
            </a:r>
            <a:r>
              <a:rPr lang="en-US" dirty="0" err="1"/>
              <a:t>תכנית</a:t>
            </a:r>
            <a:r>
              <a:rPr lang="en-US" dirty="0"/>
              <a:t> </a:t>
            </a:r>
            <a:r>
              <a:rPr lang="en-US" dirty="0" err="1"/>
              <a:t>א</a:t>
            </a:r>
            <a:r>
              <a:rPr lang="en-US" dirty="0"/>
              <a:t>'.</a:t>
            </a:r>
            <a:endParaRPr dirty="0"/>
          </a:p>
          <a:p>
            <a:pPr marL="228600" lvl="0" indent="-228600" algn="r" rtl="1">
              <a:lnSpc>
                <a:spcPct val="100000"/>
              </a:lnSpc>
              <a:spcBef>
                <a:spcPts val="360"/>
              </a:spcBef>
              <a:spcAft>
                <a:spcPts val="0"/>
              </a:spcAft>
              <a:buClr>
                <a:schemeClr val="dk1"/>
              </a:buClr>
              <a:buSzPts val="1400"/>
              <a:buFont typeface="Arial"/>
              <a:buAutoNum type="arabicParenR"/>
            </a:pPr>
            <a:r>
              <a:rPr lang="en-US" dirty="0" err="1"/>
              <a:t>מבצע</a:t>
            </a:r>
            <a:r>
              <a:rPr lang="en-US" dirty="0"/>
              <a:t> </a:t>
            </a:r>
            <a:r>
              <a:rPr lang="en-US" dirty="0" err="1"/>
              <a:t>swtch</a:t>
            </a:r>
            <a:r>
              <a:rPr lang="en-US" dirty="0"/>
              <a:t> </a:t>
            </a:r>
            <a:r>
              <a:rPr lang="en-US" dirty="0" err="1"/>
              <a:t>ועובר</a:t>
            </a:r>
            <a:r>
              <a:rPr lang="en-US" dirty="0"/>
              <a:t> </a:t>
            </a:r>
            <a:r>
              <a:rPr lang="en-US" dirty="0" err="1"/>
              <a:t>לקרנל</a:t>
            </a:r>
            <a:r>
              <a:rPr lang="en-US" dirty="0"/>
              <a:t> </a:t>
            </a:r>
            <a:r>
              <a:rPr lang="en-US" dirty="0" err="1"/>
              <a:t>של</a:t>
            </a:r>
            <a:r>
              <a:rPr lang="en-US" dirty="0"/>
              <a:t> </a:t>
            </a:r>
            <a:r>
              <a:rPr lang="en-US" dirty="0" err="1"/>
              <a:t>הscheduler</a:t>
            </a:r>
            <a:r>
              <a:rPr lang="en-US" dirty="0"/>
              <a:t>.</a:t>
            </a:r>
            <a:endParaRPr dirty="0"/>
          </a:p>
          <a:p>
            <a:pPr marL="228600" lvl="0" indent="-228600" algn="r" rtl="1">
              <a:lnSpc>
                <a:spcPct val="100000"/>
              </a:lnSpc>
              <a:spcBef>
                <a:spcPts val="360"/>
              </a:spcBef>
              <a:spcAft>
                <a:spcPts val="0"/>
              </a:spcAft>
              <a:buClr>
                <a:schemeClr val="dk1"/>
              </a:buClr>
              <a:buSzPts val="1400"/>
              <a:buFont typeface="Arial"/>
              <a:buAutoNum type="arabicParenR"/>
            </a:pPr>
            <a:r>
              <a:rPr lang="en-US" dirty="0" err="1"/>
              <a:t>מבצע</a:t>
            </a:r>
            <a:r>
              <a:rPr lang="en-US" dirty="0"/>
              <a:t> </a:t>
            </a:r>
            <a:r>
              <a:rPr lang="en-US" dirty="0" err="1"/>
              <a:t>עוד</a:t>
            </a:r>
            <a:r>
              <a:rPr lang="en-US" dirty="0"/>
              <a:t> </a:t>
            </a:r>
            <a:r>
              <a:rPr lang="en-US" dirty="0" err="1"/>
              <a:t>swtch</a:t>
            </a:r>
            <a:r>
              <a:rPr lang="en-US" dirty="0"/>
              <a:t> </a:t>
            </a:r>
            <a:r>
              <a:rPr lang="en-US" dirty="0" err="1"/>
              <a:t>ועובר</a:t>
            </a:r>
            <a:r>
              <a:rPr lang="en-US" dirty="0"/>
              <a:t> </a:t>
            </a:r>
            <a:r>
              <a:rPr lang="en-US" dirty="0" err="1"/>
              <a:t>לקרנל</a:t>
            </a:r>
            <a:r>
              <a:rPr lang="en-US" dirty="0"/>
              <a:t> </a:t>
            </a:r>
            <a:r>
              <a:rPr lang="en-US" dirty="0" err="1"/>
              <a:t>בפייס</a:t>
            </a:r>
            <a:r>
              <a:rPr lang="en-US" dirty="0"/>
              <a:t> </a:t>
            </a:r>
            <a:r>
              <a:rPr lang="en-US" dirty="0" err="1"/>
              <a:t>של</a:t>
            </a:r>
            <a:r>
              <a:rPr lang="en-US" dirty="0"/>
              <a:t> </a:t>
            </a:r>
            <a:r>
              <a:rPr lang="en-US" dirty="0" err="1"/>
              <a:t>תכנית</a:t>
            </a:r>
            <a:r>
              <a:rPr lang="en-US" dirty="0"/>
              <a:t> </a:t>
            </a:r>
            <a:r>
              <a:rPr lang="en-US" dirty="0" err="1"/>
              <a:t>ב</a:t>
            </a:r>
            <a:r>
              <a:rPr lang="en-US" dirty="0"/>
              <a:t>’ </a:t>
            </a:r>
            <a:r>
              <a:rPr lang="en-US" dirty="0" err="1"/>
              <a:t>ואז</a:t>
            </a:r>
            <a:r>
              <a:rPr lang="en-US" dirty="0"/>
              <a:t> </a:t>
            </a:r>
            <a:r>
              <a:rPr lang="en-US" dirty="0" err="1"/>
              <a:t>ליוזר</a:t>
            </a:r>
            <a:r>
              <a:rPr lang="en-US" dirty="0"/>
              <a:t> </a:t>
            </a:r>
            <a:r>
              <a:rPr lang="en-US" dirty="0" err="1"/>
              <a:t>ספייס</a:t>
            </a:r>
            <a:r>
              <a:rPr lang="en-US" dirty="0"/>
              <a:t> </a:t>
            </a:r>
            <a:r>
              <a:rPr lang="en-US" dirty="0" err="1"/>
              <a:t>של</a:t>
            </a:r>
            <a:r>
              <a:rPr lang="en-US" dirty="0"/>
              <a:t> </a:t>
            </a:r>
            <a:r>
              <a:rPr lang="en-US" dirty="0" err="1"/>
              <a:t>תכנית</a:t>
            </a:r>
            <a:r>
              <a:rPr lang="en-US" dirty="0"/>
              <a:t> </a:t>
            </a:r>
            <a:r>
              <a:rPr lang="en-US" dirty="0" err="1"/>
              <a:t>ב</a:t>
            </a:r>
            <a:r>
              <a:rPr lang="en-US" dirty="0"/>
              <a:t>'.</a:t>
            </a:r>
            <a:endParaRPr dirty="0"/>
          </a:p>
          <a:p>
            <a:pPr marL="0" lvl="0" indent="0" algn="r" rtl="1">
              <a:lnSpc>
                <a:spcPct val="100000"/>
              </a:lnSpc>
              <a:spcBef>
                <a:spcPts val="360"/>
              </a:spcBef>
              <a:spcAft>
                <a:spcPts val="0"/>
              </a:spcAft>
              <a:buClr>
                <a:schemeClr val="dk1"/>
              </a:buClr>
              <a:buSzPts val="1400"/>
              <a:buFont typeface="Arial"/>
              <a:buNone/>
            </a:pPr>
            <a:endParaRPr dirty="0"/>
          </a:p>
          <a:p>
            <a:pPr marL="0" lvl="0" indent="0" algn="r" rtl="1">
              <a:lnSpc>
                <a:spcPct val="100000"/>
              </a:lnSpc>
              <a:spcBef>
                <a:spcPts val="360"/>
              </a:spcBef>
              <a:spcAft>
                <a:spcPts val="0"/>
              </a:spcAft>
              <a:buClr>
                <a:schemeClr val="dk1"/>
              </a:buClr>
              <a:buSzPts val="1400"/>
              <a:buFont typeface="Arial"/>
              <a:buNone/>
            </a:pPr>
            <a:endParaRPr dirty="0"/>
          </a:p>
          <a:p>
            <a:pPr marL="0" lvl="0" indent="0" algn="r" rtl="1">
              <a:lnSpc>
                <a:spcPct val="100000"/>
              </a:lnSpc>
              <a:spcBef>
                <a:spcPts val="360"/>
              </a:spcBef>
              <a:spcAft>
                <a:spcPts val="0"/>
              </a:spcAft>
              <a:buClr>
                <a:schemeClr val="dk1"/>
              </a:buClr>
              <a:buSzPts val="1400"/>
              <a:buFont typeface="Arial"/>
              <a:buNone/>
            </a:pPr>
            <a:r>
              <a:rPr lang="en-US" dirty="0"/>
              <a:t> </a:t>
            </a:r>
            <a:endParaRPr dirty="0"/>
          </a:p>
        </p:txBody>
      </p:sp>
      <p:sp>
        <p:nvSpPr>
          <p:cNvPr id="161" name="Google Shape;16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איך תהליך עובר ממצב runnable/ready לrunning?</a:t>
            </a:r>
            <a:endParaRPr/>
          </a:p>
          <a:p>
            <a:pPr marL="0" lvl="0" indent="0" algn="r" rtl="1">
              <a:lnSpc>
                <a:spcPct val="100000"/>
              </a:lnSpc>
              <a:spcBef>
                <a:spcPts val="360"/>
              </a:spcBef>
              <a:spcAft>
                <a:spcPts val="0"/>
              </a:spcAft>
              <a:buClr>
                <a:schemeClr val="dk1"/>
              </a:buClr>
              <a:buSzPts val="1400"/>
              <a:buFont typeface="Arial"/>
              <a:buNone/>
            </a:pPr>
            <a:r>
              <a:rPr lang="en-US"/>
              <a:t>תזמון:</a:t>
            </a:r>
            <a:endParaRPr/>
          </a:p>
          <a:p>
            <a:pPr marL="0" lvl="0" indent="0" algn="r" rtl="1">
              <a:lnSpc>
                <a:spcPct val="100000"/>
              </a:lnSpc>
              <a:spcBef>
                <a:spcPts val="360"/>
              </a:spcBef>
              <a:spcAft>
                <a:spcPts val="0"/>
              </a:spcAft>
              <a:buClr>
                <a:schemeClr val="dk1"/>
              </a:buClr>
              <a:buSzPts val="1400"/>
              <a:buFont typeface="Arial"/>
              <a:buNone/>
            </a:pPr>
            <a:r>
              <a:rPr lang="en-US"/>
              <a:t>הscheduler של מערכת ההפעלה – לכל cpu יש scheduler משלו וכל ליבה למעשה מריצה scheduler משלה.</a:t>
            </a:r>
            <a:endParaRPr/>
          </a:p>
          <a:p>
            <a:pPr marL="0" lvl="0" indent="0" algn="r" rtl="1">
              <a:lnSpc>
                <a:spcPct val="100000"/>
              </a:lnSpc>
              <a:spcBef>
                <a:spcPts val="360"/>
              </a:spcBef>
              <a:spcAft>
                <a:spcPts val="0"/>
              </a:spcAft>
              <a:buClr>
                <a:schemeClr val="dk1"/>
              </a:buClr>
              <a:buSzPts val="1400"/>
              <a:buFont typeface="Arial"/>
              <a:buNone/>
            </a:pPr>
            <a:r>
              <a:rPr lang="en-US"/>
              <a:t>הscheduler רץ בלולאה אינסופית ורץ על כל התהליכים.</a:t>
            </a:r>
            <a:endParaRPr/>
          </a:p>
          <a:p>
            <a:pPr marL="0" lvl="0" indent="0" algn="r" rtl="1">
              <a:lnSpc>
                <a:spcPct val="100000"/>
              </a:lnSpc>
              <a:spcBef>
                <a:spcPts val="360"/>
              </a:spcBef>
              <a:spcAft>
                <a:spcPts val="0"/>
              </a:spcAft>
              <a:buClr>
                <a:schemeClr val="dk1"/>
              </a:buClr>
              <a:buSzPts val="1400"/>
              <a:buFont typeface="Arial"/>
              <a:buNone/>
            </a:pPr>
            <a:r>
              <a:rPr lang="en-US"/>
              <a:t>בכל תהליך תופס את המנעול ובודק האם הוא runnable, אם כן, הוא משנה את המצב לrunning ומעדכן את שדה הproc של הcpu להיות התהליך הנוכחי.</a:t>
            </a:r>
            <a:endParaRPr/>
          </a:p>
          <a:p>
            <a:pPr marL="0" lvl="0" indent="0" algn="r" rtl="1">
              <a:lnSpc>
                <a:spcPct val="100000"/>
              </a:lnSpc>
              <a:spcBef>
                <a:spcPts val="360"/>
              </a:spcBef>
              <a:spcAft>
                <a:spcPts val="0"/>
              </a:spcAft>
              <a:buClr>
                <a:schemeClr val="dk1"/>
              </a:buClr>
              <a:buSzPts val="1400"/>
              <a:buFont typeface="Arial"/>
              <a:buNone/>
            </a:pPr>
            <a:r>
              <a:rPr lang="en-US"/>
              <a:t>לאחר מכן הוא קורא לפונקציה swtch והיא עוברת מהcontext של הcpu (למעשה של הscheduler) לcontext של התהליך. הפונקציה swtch בסיום לא חוזרת לקוד של הscheduler, אלא עוברת לקרנל (לcontext) של תהליך p.</a:t>
            </a:r>
            <a:endParaRPr/>
          </a:p>
          <a:p>
            <a:pPr marL="0" lvl="0" indent="0" algn="r" rtl="1">
              <a:lnSpc>
                <a:spcPct val="100000"/>
              </a:lnSpc>
              <a:spcBef>
                <a:spcPts val="360"/>
              </a:spcBef>
              <a:spcAft>
                <a:spcPts val="0"/>
              </a:spcAft>
              <a:buClr>
                <a:schemeClr val="dk1"/>
              </a:buClr>
              <a:buSzPts val="1400"/>
              <a:buFont typeface="Arial"/>
              <a:buNone/>
            </a:pPr>
            <a:r>
              <a:rPr lang="en-US"/>
              <a:t>איך זה קורה? כלומר, איך קורה שעוברים לcontext של התהליך – ניתן לראות זאת בקוד של swtch בשקף הבא.</a:t>
            </a:r>
            <a:endParaRPr/>
          </a:p>
          <a:p>
            <a:pPr marL="0" lvl="0" indent="0" algn="r" rtl="1">
              <a:lnSpc>
                <a:spcPct val="100000"/>
              </a:lnSpc>
              <a:spcBef>
                <a:spcPts val="360"/>
              </a:spcBef>
              <a:spcAft>
                <a:spcPts val="0"/>
              </a:spcAft>
              <a:buClr>
                <a:schemeClr val="dk1"/>
              </a:buClr>
              <a:buSzPts val="1400"/>
              <a:buFont typeface="Arial"/>
              <a:buNone/>
            </a:pPr>
            <a:endParaRPr/>
          </a:p>
        </p:txBody>
      </p:sp>
      <p:sp>
        <p:nvSpPr>
          <p:cNvPr id="175" name="Google Shape;17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8" name="Google Shape;188;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איך תהליך עובר ממצב runnable/ready לrunning?</a:t>
            </a:r>
            <a:endParaRPr/>
          </a:p>
          <a:p>
            <a:pPr marL="0" lvl="0" indent="0" algn="r" rtl="1">
              <a:lnSpc>
                <a:spcPct val="100000"/>
              </a:lnSpc>
              <a:spcBef>
                <a:spcPts val="360"/>
              </a:spcBef>
              <a:spcAft>
                <a:spcPts val="0"/>
              </a:spcAft>
              <a:buClr>
                <a:schemeClr val="dk1"/>
              </a:buClr>
              <a:buSzPts val="1400"/>
              <a:buFont typeface="Arial"/>
              <a:buNone/>
            </a:pPr>
            <a:r>
              <a:rPr lang="en-US"/>
              <a:t>תזמון:</a:t>
            </a:r>
            <a:endParaRPr/>
          </a:p>
          <a:p>
            <a:pPr marL="0" lvl="0" indent="0" algn="r" rtl="1">
              <a:lnSpc>
                <a:spcPct val="100000"/>
              </a:lnSpc>
              <a:spcBef>
                <a:spcPts val="360"/>
              </a:spcBef>
              <a:spcAft>
                <a:spcPts val="0"/>
              </a:spcAft>
              <a:buClr>
                <a:schemeClr val="dk1"/>
              </a:buClr>
              <a:buSzPts val="1400"/>
              <a:buFont typeface="Arial"/>
              <a:buNone/>
            </a:pPr>
            <a:r>
              <a:rPr lang="en-US"/>
              <a:t>הscheduler של מערכת ההפעלה – לכל cpu יש scheduler משלו וכל ליבה למעשה מריצה scheduler משלה.</a:t>
            </a:r>
            <a:endParaRPr/>
          </a:p>
          <a:p>
            <a:pPr marL="0" lvl="0" indent="0" algn="r" rtl="1">
              <a:lnSpc>
                <a:spcPct val="100000"/>
              </a:lnSpc>
              <a:spcBef>
                <a:spcPts val="360"/>
              </a:spcBef>
              <a:spcAft>
                <a:spcPts val="0"/>
              </a:spcAft>
              <a:buClr>
                <a:schemeClr val="dk1"/>
              </a:buClr>
              <a:buSzPts val="1400"/>
              <a:buFont typeface="Arial"/>
              <a:buNone/>
            </a:pPr>
            <a:r>
              <a:rPr lang="en-US"/>
              <a:t>הscheduler רץ בלולאה אינסופית ורץ על כל התהליכים.</a:t>
            </a:r>
            <a:endParaRPr/>
          </a:p>
          <a:p>
            <a:pPr marL="0" lvl="0" indent="0" algn="r" rtl="1">
              <a:lnSpc>
                <a:spcPct val="100000"/>
              </a:lnSpc>
              <a:spcBef>
                <a:spcPts val="360"/>
              </a:spcBef>
              <a:spcAft>
                <a:spcPts val="0"/>
              </a:spcAft>
              <a:buClr>
                <a:schemeClr val="dk1"/>
              </a:buClr>
              <a:buSzPts val="1400"/>
              <a:buFont typeface="Arial"/>
              <a:buNone/>
            </a:pPr>
            <a:r>
              <a:rPr lang="en-US"/>
              <a:t>בכל תהליך תופס את המנעול ובודק האם הוא runnable, אם כן, הוא משנה את המצב לrunning ומעדכן את שדה הproc של הcpu להיות התהליך הנוכחי.</a:t>
            </a:r>
            <a:endParaRPr/>
          </a:p>
          <a:p>
            <a:pPr marL="0" lvl="0" indent="0" algn="r" rtl="1">
              <a:lnSpc>
                <a:spcPct val="100000"/>
              </a:lnSpc>
              <a:spcBef>
                <a:spcPts val="360"/>
              </a:spcBef>
              <a:spcAft>
                <a:spcPts val="0"/>
              </a:spcAft>
              <a:buClr>
                <a:schemeClr val="dk1"/>
              </a:buClr>
              <a:buSzPts val="1400"/>
              <a:buFont typeface="Arial"/>
              <a:buNone/>
            </a:pPr>
            <a:r>
              <a:rPr lang="en-US"/>
              <a:t>לאחר מכן הוא קורא לפונקציה swtch והיא עוברת מהcontext של הcpu (למעשה של הscheduler) לcontext של התהליך. הפונקציה swtch בסיום לא חוזרת לקוד של הscheduler, אלא עוברת לקרנל (לcontext) של תהליך p.</a:t>
            </a:r>
            <a:endParaRPr/>
          </a:p>
          <a:p>
            <a:pPr marL="0" lvl="0" indent="0" algn="r" rtl="1">
              <a:lnSpc>
                <a:spcPct val="100000"/>
              </a:lnSpc>
              <a:spcBef>
                <a:spcPts val="360"/>
              </a:spcBef>
              <a:spcAft>
                <a:spcPts val="0"/>
              </a:spcAft>
              <a:buClr>
                <a:schemeClr val="dk1"/>
              </a:buClr>
              <a:buSzPts val="1400"/>
              <a:buFont typeface="Arial"/>
              <a:buNone/>
            </a:pPr>
            <a:r>
              <a:rPr lang="en-US"/>
              <a:t>איך זה קורה? כלומר, איך קורה שעוברים לcontext של התהליך – ניתן לראות זאת בקוד של swtch בשקף הבא.</a:t>
            </a:r>
            <a:endParaRPr/>
          </a:p>
          <a:p>
            <a:pPr marL="0" lvl="0" indent="0" algn="r" rtl="1">
              <a:lnSpc>
                <a:spcPct val="100000"/>
              </a:lnSpc>
              <a:spcBef>
                <a:spcPts val="360"/>
              </a:spcBef>
              <a:spcAft>
                <a:spcPts val="0"/>
              </a:spcAft>
              <a:buClr>
                <a:schemeClr val="dk1"/>
              </a:buClr>
              <a:buSzPts val="1400"/>
              <a:buFont typeface="Arial"/>
              <a:buNone/>
            </a:pPr>
            <a:endParaRPr/>
          </a:p>
        </p:txBody>
      </p:sp>
      <p:sp>
        <p:nvSpPr>
          <p:cNvPr id="189" name="Google Shape;189;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a0 מחזיק את המצביע של הcontext של הcpu. A1 מצביע לcontext של התהליך ואנחנו רוצים להחליף ביניהם.</a:t>
            </a:r>
            <a:endParaRPr/>
          </a:p>
          <a:p>
            <a:pPr marL="0" lvl="0" indent="0" algn="r" rtl="1">
              <a:lnSpc>
                <a:spcPct val="100000"/>
              </a:lnSpc>
              <a:spcBef>
                <a:spcPts val="360"/>
              </a:spcBef>
              <a:spcAft>
                <a:spcPts val="0"/>
              </a:spcAft>
              <a:buClr>
                <a:schemeClr val="dk1"/>
              </a:buClr>
              <a:buSzPts val="1400"/>
              <a:buFont typeface="Arial"/>
              <a:buNone/>
            </a:pPr>
            <a:r>
              <a:rPr lang="en-US"/>
              <a:t>הפונקציה שומרת את כל הרגיסטרים בa0 ולאחר מכן טוענת את כל המידע מתוך a1 לרגיסטרים.</a:t>
            </a:r>
            <a:endParaRPr/>
          </a:p>
          <a:p>
            <a:pPr marL="0" lvl="0" indent="0" algn="r" rtl="1">
              <a:lnSpc>
                <a:spcPct val="100000"/>
              </a:lnSpc>
              <a:spcBef>
                <a:spcPts val="360"/>
              </a:spcBef>
              <a:spcAft>
                <a:spcPts val="0"/>
              </a:spcAft>
              <a:buClr>
                <a:schemeClr val="dk1"/>
              </a:buClr>
              <a:buSzPts val="1400"/>
              <a:buFont typeface="Arial"/>
              <a:buNone/>
            </a:pPr>
            <a:r>
              <a:rPr lang="en-US"/>
              <a:t>לבסוף עושה return – אז למה לא חוזרים לשורה הבאה בפונקציה שקראה לה בscheduler.</a:t>
            </a:r>
            <a:endParaRPr/>
          </a:p>
          <a:p>
            <a:pPr marL="0" lvl="0" indent="0" algn="r" rtl="1">
              <a:lnSpc>
                <a:spcPct val="100000"/>
              </a:lnSpc>
              <a:spcBef>
                <a:spcPts val="360"/>
              </a:spcBef>
              <a:spcAft>
                <a:spcPts val="0"/>
              </a:spcAft>
              <a:buClr>
                <a:schemeClr val="dk1"/>
              </a:buClr>
              <a:buSzPts val="1400"/>
              <a:buFont typeface="Arial"/>
              <a:buNone/>
            </a:pPr>
            <a:r>
              <a:rPr lang="en-US"/>
              <a:t>באסמבלי כתובת החזרה נמצאת בראש המחסנית (תזכורת: כשקוראים לפונקציה עם call, כתובת החזרה נדחפת למחסנית ובret שולפים את הכתובת מהמחסנית וקופצים אליה – כך זה עובד בx86). </a:t>
            </a:r>
            <a:endParaRPr/>
          </a:p>
          <a:p>
            <a:pPr marL="0" lvl="0" indent="0" algn="r" rtl="1">
              <a:lnSpc>
                <a:spcPct val="100000"/>
              </a:lnSpc>
              <a:spcBef>
                <a:spcPts val="360"/>
              </a:spcBef>
              <a:spcAft>
                <a:spcPts val="0"/>
              </a:spcAft>
              <a:buClr>
                <a:schemeClr val="dk1"/>
              </a:buClr>
              <a:buSzPts val="1400"/>
              <a:buFont typeface="Arial"/>
              <a:buNone/>
            </a:pPr>
            <a:r>
              <a:rPr lang="en-US"/>
              <a:t>בrisc-v כתובת החזרה נשמרת ברגיסטר ra. לכן לאחר ההחלפה שבה טענו לra את תוכן ra של הcontext של תהליך p, אנחנו נקפוץ לכתובת החזרה המוחזקת באותו ra. (ra = p-&gt;context-&gt;ra).</a:t>
            </a:r>
            <a:endParaRPr/>
          </a:p>
          <a:p>
            <a:pPr marL="0" lvl="0" indent="0" algn="r" rtl="1">
              <a:lnSpc>
                <a:spcPct val="100000"/>
              </a:lnSpc>
              <a:spcBef>
                <a:spcPts val="360"/>
              </a:spcBef>
              <a:spcAft>
                <a:spcPts val="0"/>
              </a:spcAft>
              <a:buClr>
                <a:schemeClr val="dk1"/>
              </a:buClr>
              <a:buSzPts val="1400"/>
              <a:buFont typeface="Arial"/>
              <a:buNone/>
            </a:pPr>
            <a:r>
              <a:rPr lang="en-US"/>
              <a:t>עד כאן המעבר בין runnable ל running.</a:t>
            </a:r>
            <a:endParaRPr/>
          </a:p>
        </p:txBody>
      </p:sp>
      <p:sp>
        <p:nvSpPr>
          <p:cNvPr id="217" name="Google Shape;217;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dirty="0" err="1"/>
              <a:t>כעת</a:t>
            </a:r>
            <a:r>
              <a:rPr lang="en-US" dirty="0"/>
              <a:t> </a:t>
            </a:r>
            <a:r>
              <a:rPr lang="en-US" dirty="0" err="1"/>
              <a:t>נשאלת</a:t>
            </a:r>
            <a:r>
              <a:rPr lang="en-US" dirty="0"/>
              <a:t> </a:t>
            </a:r>
            <a:r>
              <a:rPr lang="en-US" dirty="0" err="1"/>
              <a:t>השאלה</a:t>
            </a:r>
            <a:r>
              <a:rPr lang="en-US" dirty="0"/>
              <a:t> – </a:t>
            </a:r>
            <a:r>
              <a:rPr lang="en-US" dirty="0" err="1"/>
              <a:t>מה</a:t>
            </a:r>
            <a:r>
              <a:rPr lang="en-US" dirty="0"/>
              <a:t> </a:t>
            </a:r>
            <a:r>
              <a:rPr lang="en-US" dirty="0" err="1"/>
              <a:t>הכתובת</a:t>
            </a:r>
            <a:r>
              <a:rPr lang="en-US" dirty="0"/>
              <a:t> </a:t>
            </a:r>
            <a:r>
              <a:rPr lang="en-US" dirty="0" err="1"/>
              <a:t>שרגיסטר</a:t>
            </a:r>
            <a:r>
              <a:rPr lang="en-US" dirty="0"/>
              <a:t> </a:t>
            </a:r>
            <a:r>
              <a:rPr lang="en-US" dirty="0" err="1"/>
              <a:t>ra</a:t>
            </a:r>
            <a:r>
              <a:rPr lang="en-US" dirty="0"/>
              <a:t> </a:t>
            </a:r>
            <a:r>
              <a:rPr lang="en-US" dirty="0" err="1"/>
              <a:t>של</a:t>
            </a:r>
            <a:r>
              <a:rPr lang="en-US" dirty="0"/>
              <a:t> </a:t>
            </a:r>
            <a:r>
              <a:rPr lang="en-US" dirty="0" err="1"/>
              <a:t>התהליך</a:t>
            </a:r>
            <a:r>
              <a:rPr lang="en-US" dirty="0"/>
              <a:t> </a:t>
            </a:r>
            <a:r>
              <a:rPr lang="en-US" dirty="0" err="1"/>
              <a:t>מחזיק</a:t>
            </a:r>
            <a:r>
              <a:rPr lang="en-US" dirty="0"/>
              <a:t>? </a:t>
            </a:r>
            <a:r>
              <a:rPr lang="en-US" dirty="0" err="1"/>
              <a:t>כלומר</a:t>
            </a:r>
            <a:r>
              <a:rPr lang="en-US" dirty="0"/>
              <a:t>, </a:t>
            </a:r>
            <a:r>
              <a:rPr lang="en-US" dirty="0" err="1"/>
              <a:t>איזו</a:t>
            </a:r>
            <a:r>
              <a:rPr lang="en-US" dirty="0"/>
              <a:t> </a:t>
            </a:r>
            <a:r>
              <a:rPr lang="en-US" dirty="0" err="1"/>
              <a:t>שורת</a:t>
            </a:r>
            <a:r>
              <a:rPr lang="en-US" dirty="0"/>
              <a:t> </a:t>
            </a:r>
            <a:r>
              <a:rPr lang="en-US" dirty="0" err="1"/>
              <a:t>קוד</a:t>
            </a:r>
            <a:r>
              <a:rPr lang="en-US" dirty="0"/>
              <a:t> </a:t>
            </a:r>
            <a:r>
              <a:rPr lang="en-US" dirty="0" err="1"/>
              <a:t>נבצע</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התשובה</a:t>
            </a:r>
            <a:r>
              <a:rPr lang="en-US" dirty="0"/>
              <a:t> </a:t>
            </a:r>
            <a:r>
              <a:rPr lang="en-US" dirty="0" err="1"/>
              <a:t>היא</a:t>
            </a:r>
            <a:r>
              <a:rPr lang="en-US" dirty="0"/>
              <a:t>- </a:t>
            </a:r>
            <a:r>
              <a:rPr lang="en-US" dirty="0" err="1"/>
              <a:t>השורה</a:t>
            </a:r>
            <a:r>
              <a:rPr lang="en-US" dirty="0"/>
              <a:t> </a:t>
            </a:r>
            <a:r>
              <a:rPr lang="en-US" dirty="0" err="1"/>
              <a:t>שבה</a:t>
            </a:r>
            <a:r>
              <a:rPr lang="en-US" dirty="0"/>
              <a:t> </a:t>
            </a:r>
            <a:r>
              <a:rPr lang="en-US" dirty="0" err="1"/>
              <a:t>התהליך</a:t>
            </a:r>
            <a:r>
              <a:rPr lang="en-US" dirty="0"/>
              <a:t> </a:t>
            </a:r>
            <a:r>
              <a:rPr lang="en-US" dirty="0" err="1"/>
              <a:t>הפסיק</a:t>
            </a:r>
            <a:r>
              <a:rPr lang="en-US" dirty="0"/>
              <a:t> </a:t>
            </a:r>
            <a:r>
              <a:rPr lang="en-US" dirty="0" err="1"/>
              <a:t>לרוץ</a:t>
            </a:r>
            <a:r>
              <a:rPr lang="en-US" dirty="0"/>
              <a:t> </a:t>
            </a:r>
            <a:r>
              <a:rPr lang="en-US" dirty="0" err="1"/>
              <a:t>וכאן</a:t>
            </a:r>
            <a:r>
              <a:rPr lang="en-US" dirty="0"/>
              <a:t> </a:t>
            </a:r>
            <a:r>
              <a:rPr lang="en-US" dirty="0" err="1"/>
              <a:t>יכולים</a:t>
            </a:r>
            <a:r>
              <a:rPr lang="en-US" dirty="0"/>
              <a:t> </a:t>
            </a:r>
            <a:r>
              <a:rPr lang="en-US" dirty="0" err="1"/>
              <a:t>להיות</a:t>
            </a:r>
            <a:r>
              <a:rPr lang="en-US" dirty="0"/>
              <a:t> </a:t>
            </a:r>
            <a:r>
              <a:rPr lang="en-US" dirty="0" err="1"/>
              <a:t>כמה</a:t>
            </a:r>
            <a:r>
              <a:rPr lang="en-US" dirty="0"/>
              <a:t> </a:t>
            </a:r>
            <a:r>
              <a:rPr lang="en-US" dirty="0" err="1"/>
              <a:t>מקומות</a:t>
            </a:r>
            <a:r>
              <a:rPr lang="en-US" dirty="0"/>
              <a:t> </a:t>
            </a:r>
            <a:r>
              <a:rPr lang="en-US" dirty="0" err="1"/>
              <a:t>בקוד</a:t>
            </a:r>
            <a:r>
              <a:rPr lang="en-US" dirty="0"/>
              <a:t> </a:t>
            </a:r>
            <a:r>
              <a:rPr lang="en-US" dirty="0" err="1"/>
              <a:t>שכשיגיע</a:t>
            </a:r>
            <a:r>
              <a:rPr lang="en-US" dirty="0"/>
              <a:t> </a:t>
            </a:r>
            <a:r>
              <a:rPr lang="en-US" dirty="0" err="1"/>
              <a:t>אליהם</a:t>
            </a:r>
            <a:r>
              <a:rPr lang="en-US" dirty="0"/>
              <a:t> </a:t>
            </a:r>
            <a:r>
              <a:rPr lang="en-US" dirty="0" err="1"/>
              <a:t>יפסיק</a:t>
            </a:r>
            <a:r>
              <a:rPr lang="en-US" dirty="0"/>
              <a:t>. </a:t>
            </a:r>
            <a:r>
              <a:rPr lang="en-US" dirty="0" err="1"/>
              <a:t>המקום</a:t>
            </a:r>
            <a:r>
              <a:rPr lang="en-US" dirty="0"/>
              <a:t> </a:t>
            </a:r>
            <a:r>
              <a:rPr lang="en-US" dirty="0" err="1"/>
              <a:t>הכי</a:t>
            </a:r>
            <a:r>
              <a:rPr lang="en-US" dirty="0"/>
              <a:t> </a:t>
            </a:r>
            <a:r>
              <a:rPr lang="en-US" dirty="0" err="1"/>
              <a:t>פשוט</a:t>
            </a:r>
            <a:r>
              <a:rPr lang="en-US" dirty="0"/>
              <a:t> </a:t>
            </a:r>
            <a:r>
              <a:rPr lang="en-US" dirty="0" err="1"/>
              <a:t>זה</a:t>
            </a:r>
            <a:r>
              <a:rPr lang="en-US" dirty="0"/>
              <a:t> </a:t>
            </a:r>
            <a:r>
              <a:rPr lang="en-US" dirty="0" err="1"/>
              <a:t>בביצוע</a:t>
            </a:r>
            <a:r>
              <a:rPr lang="en-US" dirty="0"/>
              <a:t> yield.</a:t>
            </a:r>
            <a:endParaRPr dirty="0"/>
          </a:p>
          <a:p>
            <a:pPr marL="0" lvl="0" indent="0" algn="r" rtl="1">
              <a:lnSpc>
                <a:spcPct val="100000"/>
              </a:lnSpc>
              <a:spcBef>
                <a:spcPts val="360"/>
              </a:spcBef>
              <a:spcAft>
                <a:spcPts val="0"/>
              </a:spcAft>
              <a:buClr>
                <a:schemeClr val="dk1"/>
              </a:buClr>
              <a:buSzPts val="1400"/>
              <a:buFont typeface="Arial"/>
              <a:buNone/>
            </a:pPr>
            <a:r>
              <a:rPr lang="en-US" dirty="0"/>
              <a:t>Yield – </a:t>
            </a:r>
            <a:r>
              <a:rPr lang="en-US" dirty="0" err="1"/>
              <a:t>המקום</a:t>
            </a:r>
            <a:r>
              <a:rPr lang="en-US" dirty="0"/>
              <a:t> </a:t>
            </a:r>
            <a:r>
              <a:rPr lang="en-US" dirty="0" err="1"/>
              <a:t>בוא</a:t>
            </a:r>
            <a:r>
              <a:rPr lang="en-US" dirty="0"/>
              <a:t> </a:t>
            </a:r>
            <a:r>
              <a:rPr lang="en-US" dirty="0" err="1"/>
              <a:t>תהליך</a:t>
            </a:r>
            <a:r>
              <a:rPr lang="en-US" dirty="0"/>
              <a:t> </a:t>
            </a:r>
            <a:r>
              <a:rPr lang="en-US" dirty="0" err="1"/>
              <a:t>עובר</a:t>
            </a:r>
            <a:r>
              <a:rPr lang="en-US" dirty="0"/>
              <a:t> </a:t>
            </a:r>
            <a:r>
              <a:rPr lang="en-US" dirty="0" err="1"/>
              <a:t>מrunning</a:t>
            </a:r>
            <a:r>
              <a:rPr lang="en-US" dirty="0"/>
              <a:t> </a:t>
            </a:r>
            <a:r>
              <a:rPr lang="en-US" dirty="0" err="1"/>
              <a:t>לrunnable</a:t>
            </a:r>
            <a:r>
              <a:rPr lang="en-US" dirty="0"/>
              <a:t>. </a:t>
            </a:r>
            <a:r>
              <a:rPr lang="en-US" dirty="0" err="1"/>
              <a:t>התהליך</a:t>
            </a:r>
            <a:r>
              <a:rPr lang="en-US" dirty="0"/>
              <a:t> </a:t>
            </a:r>
            <a:r>
              <a:rPr lang="en-US" dirty="0" err="1"/>
              <a:t>יכול</a:t>
            </a:r>
            <a:r>
              <a:rPr lang="en-US" dirty="0"/>
              <a:t> </a:t>
            </a:r>
            <a:r>
              <a:rPr lang="en-US" dirty="0" err="1"/>
              <a:t>לקרוא</a:t>
            </a:r>
            <a:r>
              <a:rPr lang="en-US" dirty="0"/>
              <a:t> </a:t>
            </a:r>
            <a:r>
              <a:rPr lang="en-US" dirty="0" err="1"/>
              <a:t>לסיסטם</a:t>
            </a:r>
            <a:r>
              <a:rPr lang="en-US" dirty="0"/>
              <a:t> </a:t>
            </a:r>
            <a:r>
              <a:rPr lang="en-US" dirty="0" err="1"/>
              <a:t>קול</a:t>
            </a:r>
            <a:r>
              <a:rPr lang="en-US" dirty="0"/>
              <a:t> yield </a:t>
            </a:r>
            <a:r>
              <a:rPr lang="en-US" dirty="0" err="1"/>
              <a:t>או</a:t>
            </a:r>
            <a:r>
              <a:rPr lang="en-US" dirty="0"/>
              <a:t> </a:t>
            </a:r>
            <a:r>
              <a:rPr lang="en-US" dirty="0" err="1"/>
              <a:t>שמערכת</a:t>
            </a:r>
            <a:r>
              <a:rPr lang="en-US" dirty="0"/>
              <a:t> </a:t>
            </a:r>
            <a:r>
              <a:rPr lang="en-US" dirty="0" err="1"/>
              <a:t>ההפעלה</a:t>
            </a:r>
            <a:r>
              <a:rPr lang="en-US" dirty="0"/>
              <a:t> </a:t>
            </a:r>
            <a:r>
              <a:rPr lang="en-US" dirty="0" err="1"/>
              <a:t>יכולה</a:t>
            </a:r>
            <a:r>
              <a:rPr lang="en-US" dirty="0"/>
              <a:t> </a:t>
            </a:r>
            <a:r>
              <a:rPr lang="en-US" dirty="0" err="1"/>
              <a:t>לעשות</a:t>
            </a:r>
            <a:r>
              <a:rPr lang="en-US" dirty="0"/>
              <a:t> </a:t>
            </a:r>
            <a:r>
              <a:rPr lang="en-US" dirty="0" err="1"/>
              <a:t>זאת</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באלגוריתם</a:t>
            </a:r>
            <a:r>
              <a:rPr lang="en-US" dirty="0"/>
              <a:t> RR </a:t>
            </a:r>
            <a:r>
              <a:rPr lang="en-US" dirty="0" err="1"/>
              <a:t>ב</a:t>
            </a:r>
            <a:endParaRPr dirty="0"/>
          </a:p>
          <a:p>
            <a:pPr marL="0" lvl="0" indent="0" algn="r" rtl="1">
              <a:lnSpc>
                <a:spcPct val="100000"/>
              </a:lnSpc>
              <a:spcBef>
                <a:spcPts val="360"/>
              </a:spcBef>
              <a:spcAft>
                <a:spcPts val="0"/>
              </a:spcAft>
              <a:buClr>
                <a:schemeClr val="dk1"/>
              </a:buClr>
              <a:buSzPts val="1400"/>
              <a:buFont typeface="Arial"/>
              <a:buNone/>
            </a:pPr>
            <a:r>
              <a:rPr lang="en-US" dirty="0" err="1"/>
              <a:t>הפונקציה</a:t>
            </a:r>
            <a:r>
              <a:rPr lang="en-US" dirty="0"/>
              <a:t> </a:t>
            </a:r>
            <a:r>
              <a:rPr lang="en-US" dirty="0" err="1"/>
              <a:t>usertrap</a:t>
            </a:r>
            <a:r>
              <a:rPr lang="en-US" dirty="0"/>
              <a:t> </a:t>
            </a:r>
            <a:r>
              <a:rPr lang="en-US" dirty="0" err="1"/>
              <a:t>תקרא</a:t>
            </a:r>
            <a:r>
              <a:rPr lang="en-US" dirty="0"/>
              <a:t> </a:t>
            </a:r>
            <a:r>
              <a:rPr lang="en-US" dirty="0" err="1"/>
              <a:t>כאשר</a:t>
            </a:r>
            <a:r>
              <a:rPr lang="en-US" dirty="0"/>
              <a:t> </a:t>
            </a:r>
            <a:r>
              <a:rPr lang="en-US" dirty="0" err="1"/>
              <a:t>מתרחש</a:t>
            </a:r>
            <a:r>
              <a:rPr lang="en-US" dirty="0"/>
              <a:t> trap (</a:t>
            </a:r>
            <a:r>
              <a:rPr lang="en-US" dirty="0" err="1"/>
              <a:t>שלושת</a:t>
            </a:r>
            <a:r>
              <a:rPr lang="en-US" dirty="0"/>
              <a:t> </a:t>
            </a:r>
            <a:r>
              <a:rPr lang="en-US" dirty="0" err="1"/>
              <a:t>הסיבות</a:t>
            </a:r>
            <a:r>
              <a:rPr lang="en-US" dirty="0"/>
              <a:t> </a:t>
            </a:r>
            <a:r>
              <a:rPr lang="en-US" dirty="0" err="1"/>
              <a:t>שציינו</a:t>
            </a:r>
            <a:r>
              <a:rPr lang="en-US" dirty="0"/>
              <a:t> </a:t>
            </a:r>
            <a:r>
              <a:rPr lang="en-US" dirty="0" err="1"/>
              <a:t>בתרגול</a:t>
            </a:r>
            <a:r>
              <a:rPr lang="en-US" dirty="0"/>
              <a:t> </a:t>
            </a:r>
            <a:r>
              <a:rPr lang="en-US" dirty="0" err="1"/>
              <a:t>הקודם</a:t>
            </a:r>
            <a:r>
              <a:rPr lang="en-US" dirty="0"/>
              <a:t>). </a:t>
            </a:r>
            <a:r>
              <a:rPr lang="en-US" dirty="0" err="1"/>
              <a:t>בdevice</a:t>
            </a:r>
            <a:r>
              <a:rPr lang="en-US" dirty="0"/>
              <a:t> interrupt </a:t>
            </a:r>
            <a:r>
              <a:rPr lang="en-US" dirty="0" err="1"/>
              <a:t>למשל</a:t>
            </a:r>
            <a:r>
              <a:rPr lang="en-US" dirty="0"/>
              <a:t> timer, </a:t>
            </a:r>
            <a:r>
              <a:rPr lang="en-US" dirty="0" err="1"/>
              <a:t>כל</a:t>
            </a:r>
            <a:r>
              <a:rPr lang="en-US" dirty="0"/>
              <a:t> 100 </a:t>
            </a:r>
            <a:r>
              <a:rPr lang="en-US" dirty="0" err="1"/>
              <a:t>מילישניות</a:t>
            </a:r>
            <a:r>
              <a:rPr lang="en-US" dirty="0"/>
              <a:t> </a:t>
            </a:r>
            <a:r>
              <a:rPr lang="en-US" dirty="0" err="1"/>
              <a:t>נשלח</a:t>
            </a:r>
            <a:r>
              <a:rPr lang="en-US" dirty="0"/>
              <a:t> interrupt (</a:t>
            </a:r>
            <a:r>
              <a:rPr lang="en-US" dirty="0" err="1"/>
              <a:t>בtrap.c</a:t>
            </a:r>
            <a:r>
              <a:rPr lang="en-US" dirty="0"/>
              <a:t> </a:t>
            </a:r>
            <a:r>
              <a:rPr lang="en-US" dirty="0" err="1"/>
              <a:t>בשורה</a:t>
            </a:r>
            <a:r>
              <a:rPr lang="en-US" dirty="0"/>
              <a:t> 80 </a:t>
            </a:r>
            <a:r>
              <a:rPr lang="en-US" dirty="0" err="1"/>
              <a:t>ניתן</a:t>
            </a:r>
            <a:r>
              <a:rPr lang="en-US" dirty="0"/>
              <a:t> </a:t>
            </a:r>
            <a:r>
              <a:rPr lang="en-US" dirty="0" err="1"/>
              <a:t>לראות</a:t>
            </a:r>
            <a:r>
              <a:rPr lang="en-US" dirty="0"/>
              <a:t> </a:t>
            </a:r>
            <a:r>
              <a:rPr lang="en-US" dirty="0" err="1"/>
              <a:t>את</a:t>
            </a:r>
            <a:r>
              <a:rPr lang="en-US" dirty="0"/>
              <a:t> </a:t>
            </a:r>
            <a:r>
              <a:rPr lang="en-US" dirty="0" err="1"/>
              <a:t>המימוש</a:t>
            </a:r>
            <a:r>
              <a:rPr lang="en-US" dirty="0"/>
              <a:t> </a:t>
            </a:r>
            <a:r>
              <a:rPr lang="en-US" dirty="0" err="1"/>
              <a:t>של</a:t>
            </a:r>
            <a:r>
              <a:rPr lang="en-US" dirty="0"/>
              <a:t> </a:t>
            </a:r>
            <a:r>
              <a:rPr lang="en-US" dirty="0" err="1"/>
              <a:t>זה</a:t>
            </a:r>
            <a:r>
              <a:rPr lang="en-US" dirty="0"/>
              <a:t>) </a:t>
            </a:r>
            <a:r>
              <a:rPr lang="en-US" dirty="0" err="1"/>
              <a:t>ונקראת</a:t>
            </a:r>
            <a:r>
              <a:rPr lang="en-US" dirty="0"/>
              <a:t> </a:t>
            </a:r>
            <a:r>
              <a:rPr lang="en-US" dirty="0" err="1"/>
              <a:t>הפונקציה</a:t>
            </a:r>
            <a:r>
              <a:rPr lang="en-US" dirty="0"/>
              <a:t> yield.</a:t>
            </a:r>
            <a:endParaRPr dirty="0"/>
          </a:p>
          <a:p>
            <a:pPr marL="0" lvl="0" indent="0" algn="r" rtl="1">
              <a:lnSpc>
                <a:spcPct val="100000"/>
              </a:lnSpc>
              <a:spcBef>
                <a:spcPts val="360"/>
              </a:spcBef>
              <a:spcAft>
                <a:spcPts val="0"/>
              </a:spcAft>
              <a:buClr>
                <a:schemeClr val="dk1"/>
              </a:buClr>
              <a:buSzPts val="1400"/>
              <a:buFont typeface="Arial"/>
              <a:buNone/>
            </a:pPr>
            <a:r>
              <a:rPr lang="en-US" dirty="0" err="1"/>
              <a:t>ניתן</a:t>
            </a:r>
            <a:r>
              <a:rPr lang="en-US" dirty="0"/>
              <a:t> </a:t>
            </a:r>
            <a:r>
              <a:rPr lang="en-US" dirty="0" err="1"/>
              <a:t>לשנות</a:t>
            </a:r>
            <a:r>
              <a:rPr lang="en-US" dirty="0"/>
              <a:t> </a:t>
            </a:r>
            <a:r>
              <a:rPr lang="en-US" dirty="0" err="1"/>
              <a:t>את</a:t>
            </a:r>
            <a:r>
              <a:rPr lang="en-US" dirty="0"/>
              <a:t> </a:t>
            </a:r>
            <a:r>
              <a:rPr lang="en-US" dirty="0" err="1"/>
              <a:t>הקוד</a:t>
            </a:r>
            <a:r>
              <a:rPr lang="en-US" dirty="0"/>
              <a:t> </a:t>
            </a:r>
            <a:r>
              <a:rPr lang="en-US" dirty="0" err="1"/>
              <a:t>כך</a:t>
            </a:r>
            <a:r>
              <a:rPr lang="en-US" dirty="0"/>
              <a:t> </a:t>
            </a:r>
            <a:r>
              <a:rPr lang="en-US" dirty="0" err="1"/>
              <a:t>שהyield</a:t>
            </a:r>
            <a:r>
              <a:rPr lang="en-US" dirty="0"/>
              <a:t> </a:t>
            </a:r>
            <a:r>
              <a:rPr lang="en-US" dirty="0" err="1"/>
              <a:t>יתבצע</a:t>
            </a:r>
            <a:r>
              <a:rPr lang="en-US" dirty="0"/>
              <a:t> </a:t>
            </a:r>
            <a:r>
              <a:rPr lang="en-US" dirty="0" err="1"/>
              <a:t>כל</a:t>
            </a:r>
            <a:r>
              <a:rPr lang="en-US" dirty="0"/>
              <a:t> 5 ticks </a:t>
            </a:r>
            <a:r>
              <a:rPr lang="en-US" dirty="0" err="1"/>
              <a:t>שהטיימר</a:t>
            </a:r>
            <a:r>
              <a:rPr lang="en-US" dirty="0"/>
              <a:t> </a:t>
            </a:r>
            <a:r>
              <a:rPr lang="en-US" dirty="0" err="1"/>
              <a:t>נותן</a:t>
            </a:r>
            <a:r>
              <a:rPr lang="en-US" dirty="0"/>
              <a:t> </a:t>
            </a:r>
            <a:r>
              <a:rPr lang="en-US" dirty="0" err="1"/>
              <a:t>במקום</a:t>
            </a:r>
            <a:r>
              <a:rPr lang="en-US" dirty="0"/>
              <a:t> 1 tick </a:t>
            </a:r>
            <a:r>
              <a:rPr lang="en-US" dirty="0" err="1"/>
              <a:t>אפשר</a:t>
            </a:r>
            <a:r>
              <a:rPr lang="en-US" dirty="0"/>
              <a:t> </a:t>
            </a:r>
            <a:r>
              <a:rPr lang="en-US" dirty="0" err="1"/>
              <a:t>להוסיף</a:t>
            </a:r>
            <a:r>
              <a:rPr lang="en-US" dirty="0"/>
              <a:t> </a:t>
            </a:r>
            <a:r>
              <a:rPr lang="en-US" dirty="0" err="1"/>
              <a:t>שדה</a:t>
            </a:r>
            <a:r>
              <a:rPr lang="en-US" dirty="0"/>
              <a:t> </a:t>
            </a:r>
            <a:r>
              <a:rPr lang="en-US" dirty="0" err="1"/>
              <a:t>כללי</a:t>
            </a:r>
            <a:r>
              <a:rPr lang="en-US" dirty="0"/>
              <a:t> c </a:t>
            </a:r>
            <a:r>
              <a:rPr lang="en-US" dirty="0" err="1"/>
              <a:t>למשל</a:t>
            </a:r>
            <a:r>
              <a:rPr lang="en-US" dirty="0"/>
              <a:t> </a:t>
            </a:r>
            <a:r>
              <a:rPr lang="en-US" dirty="0" err="1"/>
              <a:t>ולהגדיל</a:t>
            </a:r>
            <a:r>
              <a:rPr lang="en-US" dirty="0"/>
              <a:t> </a:t>
            </a:r>
            <a:r>
              <a:rPr lang="en-US" dirty="0" err="1"/>
              <a:t>אותו</a:t>
            </a:r>
            <a:r>
              <a:rPr lang="en-US" dirty="0"/>
              <a:t> </a:t>
            </a:r>
            <a:r>
              <a:rPr lang="en-US" dirty="0" err="1"/>
              <a:t>בכל</a:t>
            </a:r>
            <a:r>
              <a:rPr lang="en-US" dirty="0"/>
              <a:t> tick </a:t>
            </a:r>
            <a:r>
              <a:rPr lang="en-US" dirty="0" err="1"/>
              <a:t>ואז</a:t>
            </a:r>
            <a:r>
              <a:rPr lang="en-US" dirty="0"/>
              <a:t> </a:t>
            </a:r>
            <a:r>
              <a:rPr lang="en-US" dirty="0" err="1"/>
              <a:t>אם</a:t>
            </a:r>
            <a:r>
              <a:rPr lang="en-US" dirty="0"/>
              <a:t> </a:t>
            </a:r>
            <a:r>
              <a:rPr lang="en-US" dirty="0" err="1"/>
              <a:t>ערך</a:t>
            </a:r>
            <a:r>
              <a:rPr lang="en-US" dirty="0"/>
              <a:t> </a:t>
            </a:r>
            <a:r>
              <a:rPr lang="en-US" dirty="0" err="1"/>
              <a:t>השדה</a:t>
            </a:r>
            <a:r>
              <a:rPr lang="en-US" dirty="0"/>
              <a:t> </a:t>
            </a:r>
            <a:r>
              <a:rPr lang="en-US" dirty="0" err="1"/>
              <a:t>שווה</a:t>
            </a:r>
            <a:r>
              <a:rPr lang="en-US" dirty="0"/>
              <a:t> ל5 </a:t>
            </a:r>
            <a:r>
              <a:rPr lang="en-US" dirty="0" err="1"/>
              <a:t>רק</a:t>
            </a:r>
            <a:r>
              <a:rPr lang="en-US" dirty="0"/>
              <a:t> </a:t>
            </a:r>
            <a:r>
              <a:rPr lang="en-US" dirty="0" err="1"/>
              <a:t>אז</a:t>
            </a:r>
            <a:r>
              <a:rPr lang="en-US" dirty="0"/>
              <a:t> </a:t>
            </a:r>
            <a:r>
              <a:rPr lang="en-US" dirty="0" err="1"/>
              <a:t>נבצע</a:t>
            </a:r>
            <a:r>
              <a:rPr lang="en-US" dirty="0"/>
              <a:t> yield:</a:t>
            </a:r>
            <a:endParaRPr dirty="0"/>
          </a:p>
          <a:p>
            <a:pPr marL="0" lvl="0" indent="0" algn="l" rtl="1">
              <a:lnSpc>
                <a:spcPct val="100000"/>
              </a:lnSpc>
              <a:spcBef>
                <a:spcPts val="360"/>
              </a:spcBef>
              <a:spcAft>
                <a:spcPts val="0"/>
              </a:spcAft>
              <a:buClr>
                <a:schemeClr val="dk1"/>
              </a:buClr>
              <a:buSzPts val="1400"/>
              <a:buFont typeface="Arial"/>
              <a:buNone/>
            </a:pPr>
            <a:r>
              <a:rPr lang="en-US" dirty="0" err="1"/>
              <a:t>c++</a:t>
            </a:r>
            <a:endParaRPr dirty="0"/>
          </a:p>
          <a:p>
            <a:pPr marL="0" lvl="0" indent="0" algn="l" rtl="1">
              <a:lnSpc>
                <a:spcPct val="100000"/>
              </a:lnSpc>
              <a:spcBef>
                <a:spcPts val="360"/>
              </a:spcBef>
              <a:spcAft>
                <a:spcPts val="0"/>
              </a:spcAft>
              <a:buClr>
                <a:schemeClr val="dk1"/>
              </a:buClr>
              <a:buSzPts val="1400"/>
              <a:buFont typeface="Arial"/>
              <a:buNone/>
            </a:pPr>
            <a:r>
              <a:rPr lang="en-US" dirty="0"/>
              <a:t>if(c==5){yield()}</a:t>
            </a:r>
            <a:endParaRPr dirty="0"/>
          </a:p>
          <a:p>
            <a:pPr marL="0" lvl="0" indent="0" algn="r" rtl="1">
              <a:lnSpc>
                <a:spcPct val="100000"/>
              </a:lnSpc>
              <a:spcBef>
                <a:spcPts val="360"/>
              </a:spcBef>
              <a:spcAft>
                <a:spcPts val="0"/>
              </a:spcAft>
              <a:buClr>
                <a:schemeClr val="dk1"/>
              </a:buClr>
              <a:buSzPts val="1400"/>
              <a:buFont typeface="Arial"/>
              <a:buNone/>
            </a:pPr>
            <a:endParaRPr dirty="0"/>
          </a:p>
          <a:p>
            <a:pPr marL="0" lvl="0" indent="0" algn="r" rtl="1">
              <a:lnSpc>
                <a:spcPct val="100000"/>
              </a:lnSpc>
              <a:spcBef>
                <a:spcPts val="360"/>
              </a:spcBef>
              <a:spcAft>
                <a:spcPts val="0"/>
              </a:spcAft>
              <a:buClr>
                <a:schemeClr val="dk1"/>
              </a:buClr>
              <a:buSzPts val="1400"/>
              <a:buFont typeface="Arial"/>
              <a:buNone/>
            </a:pPr>
            <a:r>
              <a:rPr lang="en-US" dirty="0" err="1"/>
              <a:t>בתוך</a:t>
            </a:r>
            <a:r>
              <a:rPr lang="en-US" dirty="0"/>
              <a:t> yield </a:t>
            </a:r>
            <a:r>
              <a:rPr lang="en-US" dirty="0" err="1"/>
              <a:t>תופסים</a:t>
            </a:r>
            <a:r>
              <a:rPr lang="en-US" dirty="0"/>
              <a:t> </a:t>
            </a:r>
            <a:r>
              <a:rPr lang="en-US" dirty="0" err="1"/>
              <a:t>את</a:t>
            </a:r>
            <a:r>
              <a:rPr lang="en-US" dirty="0"/>
              <a:t> </a:t>
            </a:r>
            <a:r>
              <a:rPr lang="en-US" dirty="0" err="1"/>
              <a:t>מנעול</a:t>
            </a:r>
            <a:r>
              <a:rPr lang="en-US" dirty="0"/>
              <a:t> </a:t>
            </a:r>
            <a:r>
              <a:rPr lang="en-US" dirty="0" err="1"/>
              <a:t>התהליך</a:t>
            </a:r>
            <a:r>
              <a:rPr lang="en-US" dirty="0"/>
              <a:t>, </a:t>
            </a:r>
            <a:r>
              <a:rPr lang="en-US" dirty="0" err="1"/>
              <a:t>משנים</a:t>
            </a:r>
            <a:r>
              <a:rPr lang="en-US" dirty="0"/>
              <a:t> </a:t>
            </a:r>
            <a:r>
              <a:rPr lang="en-US" dirty="0" err="1"/>
              <a:t>את</a:t>
            </a:r>
            <a:r>
              <a:rPr lang="en-US" dirty="0"/>
              <a:t> </a:t>
            </a:r>
            <a:r>
              <a:rPr lang="en-US" dirty="0" err="1"/>
              <a:t>המצב</a:t>
            </a:r>
            <a:r>
              <a:rPr lang="en-US" dirty="0"/>
              <a:t> </a:t>
            </a:r>
            <a:r>
              <a:rPr lang="en-US" dirty="0" err="1"/>
              <a:t>שלו</a:t>
            </a:r>
            <a:r>
              <a:rPr lang="en-US" dirty="0"/>
              <a:t> </a:t>
            </a:r>
            <a:r>
              <a:rPr lang="en-US" dirty="0" err="1"/>
              <a:t>מrunning</a:t>
            </a:r>
            <a:r>
              <a:rPr lang="en-US" dirty="0"/>
              <a:t>  </a:t>
            </a:r>
            <a:r>
              <a:rPr lang="en-US" dirty="0" err="1"/>
              <a:t>לrunnable</a:t>
            </a:r>
            <a:r>
              <a:rPr lang="en-US" dirty="0"/>
              <a:t>. </a:t>
            </a:r>
            <a:r>
              <a:rPr lang="en-US" dirty="0" err="1"/>
              <a:t>וקוראים</a:t>
            </a:r>
            <a:r>
              <a:rPr lang="en-US" dirty="0"/>
              <a:t> </a:t>
            </a:r>
            <a:r>
              <a:rPr lang="en-US" dirty="0" err="1"/>
              <a:t>לפונקציה</a:t>
            </a:r>
            <a:r>
              <a:rPr lang="en-US" dirty="0"/>
              <a:t> sched (</a:t>
            </a:r>
            <a:r>
              <a:rPr lang="en-US" dirty="0" err="1"/>
              <a:t>שורה</a:t>
            </a:r>
            <a:r>
              <a:rPr lang="en-US" dirty="0"/>
              <a:t> 474 </a:t>
            </a:r>
            <a:r>
              <a:rPr lang="en-US" dirty="0" err="1"/>
              <a:t>בproc.c</a:t>
            </a:r>
            <a:r>
              <a:rPr lang="en-US" dirty="0"/>
              <a:t>) </a:t>
            </a:r>
            <a:r>
              <a:rPr lang="en-US" dirty="0" err="1"/>
              <a:t>שהיא</a:t>
            </a:r>
            <a:r>
              <a:rPr lang="en-US" dirty="0"/>
              <a:t> </a:t>
            </a:r>
            <a:r>
              <a:rPr lang="en-US" dirty="0" err="1"/>
              <a:t>פונקציה</a:t>
            </a:r>
            <a:r>
              <a:rPr lang="en-US" dirty="0"/>
              <a:t> </a:t>
            </a:r>
            <a:r>
              <a:rPr lang="en-US" dirty="0" err="1"/>
              <a:t>תאומה</a:t>
            </a:r>
            <a:r>
              <a:rPr lang="en-US" dirty="0"/>
              <a:t> </a:t>
            </a:r>
            <a:r>
              <a:rPr lang="en-US" dirty="0" err="1"/>
              <a:t>של</a:t>
            </a:r>
            <a:r>
              <a:rPr lang="en-US" dirty="0"/>
              <a:t> scheduler.</a:t>
            </a:r>
            <a:endParaRPr dirty="0"/>
          </a:p>
          <a:p>
            <a:pPr marL="0" lvl="0" indent="0" algn="r" rtl="1">
              <a:lnSpc>
                <a:spcPct val="100000"/>
              </a:lnSpc>
              <a:spcBef>
                <a:spcPts val="360"/>
              </a:spcBef>
              <a:spcAft>
                <a:spcPts val="0"/>
              </a:spcAft>
              <a:buClr>
                <a:schemeClr val="dk1"/>
              </a:buClr>
              <a:buSzPts val="1400"/>
              <a:buFont typeface="Arial"/>
              <a:buNone/>
            </a:pPr>
            <a:r>
              <a:rPr lang="en-US" dirty="0" err="1"/>
              <a:t>מה</a:t>
            </a:r>
            <a:r>
              <a:rPr lang="en-US" dirty="0"/>
              <a:t> sched </a:t>
            </a:r>
            <a:r>
              <a:rPr lang="en-US" dirty="0" err="1"/>
              <a:t>עושה</a:t>
            </a:r>
            <a:r>
              <a:rPr lang="en-US" dirty="0"/>
              <a:t>?</a:t>
            </a:r>
            <a:endParaRPr dirty="0"/>
          </a:p>
          <a:p>
            <a:pPr marL="228600" lvl="0" indent="-228600" algn="r" rtl="1">
              <a:lnSpc>
                <a:spcPct val="100000"/>
              </a:lnSpc>
              <a:spcBef>
                <a:spcPts val="360"/>
              </a:spcBef>
              <a:spcAft>
                <a:spcPts val="0"/>
              </a:spcAft>
              <a:buClr>
                <a:schemeClr val="dk1"/>
              </a:buClr>
              <a:buSzPts val="1400"/>
              <a:buFont typeface="Arial"/>
              <a:buAutoNum type="arabicParenR"/>
            </a:pPr>
            <a:r>
              <a:rPr lang="en-US" dirty="0" err="1"/>
              <a:t>בודק</a:t>
            </a:r>
            <a:r>
              <a:rPr lang="en-US" dirty="0"/>
              <a:t> preconditions </a:t>
            </a:r>
            <a:r>
              <a:rPr lang="en-US" dirty="0" err="1"/>
              <a:t>שחייבים</a:t>
            </a:r>
            <a:r>
              <a:rPr lang="en-US" dirty="0"/>
              <a:t> </a:t>
            </a:r>
            <a:r>
              <a:rPr lang="en-US" dirty="0" err="1"/>
              <a:t>להתקיים</a:t>
            </a:r>
            <a:r>
              <a:rPr lang="en-US" dirty="0"/>
              <a:t> – </a:t>
            </a:r>
            <a:r>
              <a:rPr lang="en-US" dirty="0" err="1"/>
              <a:t>בודק</a:t>
            </a:r>
            <a:r>
              <a:rPr lang="en-US" dirty="0"/>
              <a:t> </a:t>
            </a:r>
            <a:r>
              <a:rPr lang="en-US" dirty="0" err="1"/>
              <a:t>שתופסים</a:t>
            </a:r>
            <a:r>
              <a:rPr lang="en-US" dirty="0"/>
              <a:t> </a:t>
            </a:r>
            <a:r>
              <a:rPr lang="en-US" dirty="0" err="1"/>
              <a:t>את</a:t>
            </a:r>
            <a:r>
              <a:rPr lang="en-US" dirty="0"/>
              <a:t> </a:t>
            </a:r>
            <a:r>
              <a:rPr lang="en-US" dirty="0" err="1"/>
              <a:t>מנעול</a:t>
            </a:r>
            <a:r>
              <a:rPr lang="en-US" dirty="0"/>
              <a:t> </a:t>
            </a:r>
            <a:r>
              <a:rPr lang="en-US" dirty="0" err="1"/>
              <a:t>התהליך</a:t>
            </a:r>
            <a:r>
              <a:rPr lang="en-US" dirty="0"/>
              <a:t> (</a:t>
            </a:r>
            <a:r>
              <a:rPr lang="en-US" dirty="0" err="1"/>
              <a:t>שורה</a:t>
            </a:r>
            <a:r>
              <a:rPr lang="en-US" dirty="0"/>
              <a:t> 479), </a:t>
            </a:r>
            <a:r>
              <a:rPr lang="en-US" dirty="0" err="1"/>
              <a:t>בודק</a:t>
            </a:r>
            <a:r>
              <a:rPr lang="en-US" dirty="0"/>
              <a:t> </a:t>
            </a:r>
            <a:r>
              <a:rPr lang="en-US" dirty="0" err="1"/>
              <a:t>שלא</a:t>
            </a:r>
            <a:r>
              <a:rPr lang="en-US" dirty="0"/>
              <a:t> </a:t>
            </a:r>
            <a:r>
              <a:rPr lang="en-US" dirty="0" err="1"/>
              <a:t>תופסים</a:t>
            </a:r>
            <a:r>
              <a:rPr lang="en-US" dirty="0"/>
              <a:t> </a:t>
            </a:r>
            <a:r>
              <a:rPr lang="en-US" dirty="0" err="1"/>
              <a:t>אף</a:t>
            </a:r>
            <a:r>
              <a:rPr lang="en-US" dirty="0"/>
              <a:t> </a:t>
            </a:r>
            <a:r>
              <a:rPr lang="en-US" dirty="0" err="1"/>
              <a:t>מנעול</a:t>
            </a:r>
            <a:r>
              <a:rPr lang="en-US" dirty="0"/>
              <a:t> </a:t>
            </a:r>
            <a:r>
              <a:rPr lang="en-US" dirty="0" err="1"/>
              <a:t>אחר</a:t>
            </a:r>
            <a:r>
              <a:rPr lang="en-US" dirty="0"/>
              <a:t> </a:t>
            </a:r>
            <a:r>
              <a:rPr lang="en-US" dirty="0" err="1"/>
              <a:t>פרט</a:t>
            </a:r>
            <a:r>
              <a:rPr lang="en-US" dirty="0"/>
              <a:t> </a:t>
            </a:r>
            <a:r>
              <a:rPr lang="en-US" dirty="0" err="1"/>
              <a:t>לזה</a:t>
            </a:r>
            <a:r>
              <a:rPr lang="en-US" dirty="0"/>
              <a:t> </a:t>
            </a:r>
            <a:r>
              <a:rPr lang="en-US" dirty="0" err="1"/>
              <a:t>של</a:t>
            </a:r>
            <a:r>
              <a:rPr lang="en-US" dirty="0"/>
              <a:t> </a:t>
            </a:r>
            <a:r>
              <a:rPr lang="en-US" dirty="0" err="1"/>
              <a:t>התהליך</a:t>
            </a:r>
            <a:r>
              <a:rPr lang="en-US" dirty="0"/>
              <a:t> (</a:t>
            </a:r>
            <a:r>
              <a:rPr lang="en-US" dirty="0" err="1"/>
              <a:t>שורה</a:t>
            </a:r>
            <a:r>
              <a:rPr lang="en-US" dirty="0"/>
              <a:t> 481), </a:t>
            </a:r>
            <a:r>
              <a:rPr lang="en-US" dirty="0" err="1"/>
              <a:t>בודק</a:t>
            </a:r>
            <a:r>
              <a:rPr lang="en-US" dirty="0"/>
              <a:t> </a:t>
            </a:r>
            <a:r>
              <a:rPr lang="en-US" dirty="0" err="1"/>
              <a:t>שהמצב</a:t>
            </a:r>
            <a:r>
              <a:rPr lang="en-US" dirty="0"/>
              <a:t> </a:t>
            </a:r>
            <a:r>
              <a:rPr lang="en-US" dirty="0" err="1"/>
              <a:t>של</a:t>
            </a:r>
            <a:r>
              <a:rPr lang="en-US" dirty="0"/>
              <a:t> </a:t>
            </a:r>
            <a:r>
              <a:rPr lang="en-US" dirty="0" err="1"/>
              <a:t>התהליך</a:t>
            </a:r>
            <a:r>
              <a:rPr lang="en-US" dirty="0"/>
              <a:t> </a:t>
            </a:r>
            <a:r>
              <a:rPr lang="en-US" dirty="0" err="1"/>
              <a:t>אינו</a:t>
            </a:r>
            <a:r>
              <a:rPr lang="en-US" dirty="0"/>
              <a:t> running, </a:t>
            </a:r>
            <a:r>
              <a:rPr lang="en-US" dirty="0" err="1"/>
              <a:t>בודק</a:t>
            </a:r>
            <a:r>
              <a:rPr lang="en-US" dirty="0"/>
              <a:t> </a:t>
            </a:r>
            <a:r>
              <a:rPr lang="en-US" dirty="0" err="1"/>
              <a:t>שאין</a:t>
            </a:r>
            <a:r>
              <a:rPr lang="en-US" dirty="0"/>
              <a:t> </a:t>
            </a:r>
            <a:r>
              <a:rPr lang="en-US" dirty="0" err="1"/>
              <a:t>intrerrupt</a:t>
            </a:r>
            <a:r>
              <a:rPr lang="en-US" dirty="0"/>
              <a:t> (</a:t>
            </a:r>
            <a:r>
              <a:rPr lang="en-US" dirty="0" err="1"/>
              <a:t>שורה</a:t>
            </a:r>
            <a:r>
              <a:rPr lang="en-US" dirty="0"/>
              <a:t> 485).</a:t>
            </a:r>
            <a:endParaRPr dirty="0"/>
          </a:p>
          <a:p>
            <a:pPr marL="228600" lvl="0" indent="-228600" algn="r" rtl="1">
              <a:lnSpc>
                <a:spcPct val="100000"/>
              </a:lnSpc>
              <a:spcBef>
                <a:spcPts val="360"/>
              </a:spcBef>
              <a:spcAft>
                <a:spcPts val="0"/>
              </a:spcAft>
              <a:buClr>
                <a:schemeClr val="dk1"/>
              </a:buClr>
              <a:buSzPts val="1400"/>
              <a:buFont typeface="Arial"/>
              <a:buAutoNum type="arabicParenR"/>
            </a:pPr>
            <a:r>
              <a:rPr lang="en-US" dirty="0" err="1"/>
              <a:t>שומרים</a:t>
            </a:r>
            <a:r>
              <a:rPr lang="en-US" dirty="0"/>
              <a:t> </a:t>
            </a:r>
            <a:r>
              <a:rPr lang="en-US" dirty="0" err="1"/>
              <a:t>האם</a:t>
            </a:r>
            <a:r>
              <a:rPr lang="en-US" dirty="0"/>
              <a:t> </a:t>
            </a:r>
            <a:r>
              <a:rPr lang="en-US" dirty="0" err="1"/>
              <a:t>בcpu</a:t>
            </a:r>
            <a:r>
              <a:rPr lang="en-US" dirty="0"/>
              <a:t> </a:t>
            </a:r>
            <a:r>
              <a:rPr lang="en-US" dirty="0" err="1"/>
              <a:t>הזה</a:t>
            </a:r>
            <a:r>
              <a:rPr lang="en-US" dirty="0"/>
              <a:t> </a:t>
            </a:r>
            <a:r>
              <a:rPr lang="en-US" dirty="0" err="1"/>
              <a:t>מאופשרים</a:t>
            </a:r>
            <a:r>
              <a:rPr lang="en-US" dirty="0"/>
              <a:t> interrupts </a:t>
            </a:r>
            <a:r>
              <a:rPr lang="en-US" dirty="0" err="1"/>
              <a:t>בcpu</a:t>
            </a:r>
            <a:r>
              <a:rPr lang="en-US" dirty="0"/>
              <a:t> </a:t>
            </a:r>
            <a:r>
              <a:rPr lang="en-US" dirty="0" err="1"/>
              <a:t>הזה</a:t>
            </a:r>
            <a:r>
              <a:rPr lang="en-US" dirty="0"/>
              <a:t> </a:t>
            </a:r>
            <a:r>
              <a:rPr lang="en-US" dirty="0" err="1"/>
              <a:t>וכששוב</a:t>
            </a:r>
            <a:r>
              <a:rPr lang="en-US" dirty="0"/>
              <a:t> </a:t>
            </a:r>
            <a:r>
              <a:rPr lang="en-US" dirty="0" err="1"/>
              <a:t>התהליך</a:t>
            </a:r>
            <a:r>
              <a:rPr lang="en-US" dirty="0"/>
              <a:t> </a:t>
            </a:r>
            <a:r>
              <a:rPr lang="en-US" dirty="0" err="1"/>
              <a:t>יקבל</a:t>
            </a:r>
            <a:r>
              <a:rPr lang="en-US" dirty="0"/>
              <a:t> </a:t>
            </a:r>
            <a:r>
              <a:rPr lang="en-US" dirty="0" err="1"/>
              <a:t>זמן</a:t>
            </a:r>
            <a:r>
              <a:rPr lang="en-US" dirty="0"/>
              <a:t> </a:t>
            </a:r>
            <a:r>
              <a:rPr lang="en-US" dirty="0" err="1"/>
              <a:t>ריצה</a:t>
            </a:r>
            <a:r>
              <a:rPr lang="en-US" dirty="0"/>
              <a:t> (</a:t>
            </a:r>
            <a:r>
              <a:rPr lang="en-US" dirty="0" err="1"/>
              <a:t>ולכן</a:t>
            </a:r>
            <a:r>
              <a:rPr lang="en-US" dirty="0"/>
              <a:t> </a:t>
            </a:r>
            <a:r>
              <a:rPr lang="en-US" dirty="0" err="1"/>
              <a:t>נמשיך</a:t>
            </a:r>
            <a:r>
              <a:rPr lang="en-US" dirty="0"/>
              <a:t> </a:t>
            </a:r>
            <a:r>
              <a:rPr lang="en-US" dirty="0" err="1"/>
              <a:t>מאותה</a:t>
            </a:r>
            <a:r>
              <a:rPr lang="en-US" dirty="0"/>
              <a:t> </a:t>
            </a:r>
            <a:r>
              <a:rPr lang="en-US" dirty="0" err="1"/>
              <a:t>נקודה</a:t>
            </a:r>
            <a:r>
              <a:rPr lang="en-US" dirty="0"/>
              <a:t> </a:t>
            </a:r>
            <a:r>
              <a:rPr lang="en-US" dirty="0" err="1"/>
              <a:t>בקרנל</a:t>
            </a:r>
            <a:r>
              <a:rPr lang="en-US" dirty="0"/>
              <a:t> </a:t>
            </a:r>
            <a:r>
              <a:rPr lang="en-US" dirty="0" err="1"/>
              <a:t>ספייס</a:t>
            </a:r>
            <a:r>
              <a:rPr lang="en-US" dirty="0"/>
              <a:t>) </a:t>
            </a:r>
            <a:r>
              <a:rPr lang="en-US" dirty="0" err="1"/>
              <a:t>ובזמן</a:t>
            </a:r>
            <a:r>
              <a:rPr lang="en-US" dirty="0"/>
              <a:t> </a:t>
            </a:r>
            <a:r>
              <a:rPr lang="en-US" dirty="0" err="1"/>
              <a:t>שהוא</a:t>
            </a:r>
            <a:r>
              <a:rPr lang="en-US" dirty="0"/>
              <a:t> </a:t>
            </a:r>
            <a:r>
              <a:rPr lang="en-US" dirty="0" err="1"/>
              <a:t>לא</a:t>
            </a:r>
            <a:r>
              <a:rPr lang="en-US" dirty="0"/>
              <a:t> </a:t>
            </a:r>
            <a:r>
              <a:rPr lang="en-US" dirty="0" err="1"/>
              <a:t>רץ</a:t>
            </a:r>
            <a:r>
              <a:rPr lang="en-US" dirty="0"/>
              <a:t> </a:t>
            </a:r>
            <a:r>
              <a:rPr lang="en-US" dirty="0" err="1"/>
              <a:t>יכלו</a:t>
            </a:r>
            <a:r>
              <a:rPr lang="en-US" dirty="0"/>
              <a:t> </a:t>
            </a:r>
            <a:r>
              <a:rPr lang="en-US" dirty="0" err="1"/>
              <a:t>לקרות</a:t>
            </a:r>
            <a:r>
              <a:rPr lang="en-US" dirty="0"/>
              <a:t> </a:t>
            </a:r>
            <a:r>
              <a:rPr lang="en-US" dirty="0" err="1"/>
              <a:t>המון</a:t>
            </a:r>
            <a:r>
              <a:rPr lang="en-US" dirty="0"/>
              <a:t> </a:t>
            </a:r>
            <a:r>
              <a:rPr lang="en-US" dirty="0" err="1"/>
              <a:t>דברים</a:t>
            </a:r>
            <a:r>
              <a:rPr lang="en-US" dirty="0"/>
              <a:t> (</a:t>
            </a:r>
            <a:r>
              <a:rPr lang="en-US" dirty="0" err="1"/>
              <a:t>למשל</a:t>
            </a:r>
            <a:r>
              <a:rPr lang="en-US" dirty="0"/>
              <a:t> </a:t>
            </a:r>
            <a:r>
              <a:rPr lang="en-US" dirty="0" err="1"/>
              <a:t>שינוי</a:t>
            </a:r>
            <a:r>
              <a:rPr lang="en-US" dirty="0"/>
              <a:t> </a:t>
            </a:r>
            <a:r>
              <a:rPr lang="en-US" dirty="0" err="1"/>
              <a:t>בinterrupts</a:t>
            </a:r>
            <a:r>
              <a:rPr lang="en-US" dirty="0"/>
              <a:t> </a:t>
            </a:r>
            <a:r>
              <a:rPr lang="en-US" dirty="0" err="1"/>
              <a:t>ואולי</a:t>
            </a:r>
            <a:r>
              <a:rPr lang="en-US" dirty="0"/>
              <a:t> </a:t>
            </a:r>
            <a:r>
              <a:rPr lang="en-US" dirty="0" err="1"/>
              <a:t>החלפת</a:t>
            </a:r>
            <a:r>
              <a:rPr lang="en-US" dirty="0"/>
              <a:t> </a:t>
            </a:r>
            <a:r>
              <a:rPr lang="en-US" dirty="0" err="1"/>
              <a:t>cpu</a:t>
            </a:r>
            <a:r>
              <a:rPr lang="en-US" dirty="0"/>
              <a:t>), </a:t>
            </a:r>
            <a:r>
              <a:rPr lang="en-US" dirty="0" err="1"/>
              <a:t>ולכן</a:t>
            </a:r>
            <a:r>
              <a:rPr lang="en-US" dirty="0"/>
              <a:t> </a:t>
            </a:r>
            <a:r>
              <a:rPr lang="en-US" dirty="0" err="1"/>
              <a:t>כאשר</a:t>
            </a:r>
            <a:r>
              <a:rPr lang="en-US" dirty="0"/>
              <a:t> </a:t>
            </a:r>
            <a:r>
              <a:rPr lang="en-US" dirty="0" err="1"/>
              <a:t>התהליך</a:t>
            </a:r>
            <a:r>
              <a:rPr lang="en-US" dirty="0"/>
              <a:t> </a:t>
            </a:r>
            <a:r>
              <a:rPr lang="en-US" dirty="0" err="1"/>
              <a:t>שוב</a:t>
            </a:r>
            <a:r>
              <a:rPr lang="en-US" dirty="0"/>
              <a:t> </a:t>
            </a:r>
            <a:r>
              <a:rPr lang="en-US" dirty="0" err="1"/>
              <a:t>יקבל</a:t>
            </a:r>
            <a:r>
              <a:rPr lang="en-US" dirty="0"/>
              <a:t> </a:t>
            </a:r>
            <a:r>
              <a:rPr lang="en-US" dirty="0" err="1"/>
              <a:t>זמן</a:t>
            </a:r>
            <a:r>
              <a:rPr lang="en-US" dirty="0"/>
              <a:t> </a:t>
            </a:r>
            <a:r>
              <a:rPr lang="en-US" dirty="0" err="1"/>
              <a:t>ריצה</a:t>
            </a:r>
            <a:r>
              <a:rPr lang="en-US" dirty="0"/>
              <a:t> </a:t>
            </a:r>
            <a:r>
              <a:rPr lang="en-US" dirty="0" err="1"/>
              <a:t>ולמעשה</a:t>
            </a:r>
            <a:r>
              <a:rPr lang="en-US" dirty="0"/>
              <a:t> </a:t>
            </a:r>
            <a:r>
              <a:rPr lang="en-US" dirty="0" err="1"/>
              <a:t>יהיה</a:t>
            </a:r>
            <a:r>
              <a:rPr lang="en-US" dirty="0"/>
              <a:t> </a:t>
            </a:r>
            <a:r>
              <a:rPr lang="en-US" dirty="0" err="1"/>
              <a:t>בנקודה</a:t>
            </a:r>
            <a:r>
              <a:rPr lang="en-US" dirty="0"/>
              <a:t> </a:t>
            </a:r>
            <a:r>
              <a:rPr lang="en-US" dirty="0" err="1"/>
              <a:t>לאחר</a:t>
            </a:r>
            <a:r>
              <a:rPr lang="en-US" dirty="0"/>
              <a:t> </a:t>
            </a:r>
            <a:r>
              <a:rPr lang="en-US" dirty="0" err="1"/>
              <a:t>הקריאה</a:t>
            </a:r>
            <a:r>
              <a:rPr lang="en-US" dirty="0"/>
              <a:t> </a:t>
            </a:r>
            <a:r>
              <a:rPr lang="en-US" dirty="0" err="1"/>
              <a:t>לswtch</a:t>
            </a:r>
            <a:r>
              <a:rPr lang="en-US" dirty="0"/>
              <a:t> </a:t>
            </a:r>
            <a:r>
              <a:rPr lang="en-US" dirty="0" err="1"/>
              <a:t>בשורה</a:t>
            </a:r>
            <a:r>
              <a:rPr lang="en-US" dirty="0"/>
              <a:t> 490, </a:t>
            </a:r>
            <a:r>
              <a:rPr lang="en-US" dirty="0" err="1"/>
              <a:t>מעדכנים</a:t>
            </a:r>
            <a:r>
              <a:rPr lang="en-US" dirty="0"/>
              <a:t> </a:t>
            </a:r>
            <a:r>
              <a:rPr lang="en-US" dirty="0" err="1"/>
              <a:t>את</a:t>
            </a:r>
            <a:r>
              <a:rPr lang="en-US" dirty="0"/>
              <a:t> </a:t>
            </a:r>
            <a:r>
              <a:rPr lang="en-US" dirty="0" err="1"/>
              <a:t>השדה</a:t>
            </a:r>
            <a:r>
              <a:rPr lang="en-US" dirty="0"/>
              <a:t> </a:t>
            </a:r>
            <a:r>
              <a:rPr lang="en-US" dirty="0" err="1"/>
              <a:t>להיות</a:t>
            </a:r>
            <a:r>
              <a:rPr lang="en-US" dirty="0"/>
              <a:t> </a:t>
            </a:r>
            <a:r>
              <a:rPr lang="en-US" dirty="0" err="1"/>
              <a:t>זה</a:t>
            </a:r>
            <a:r>
              <a:rPr lang="en-US" dirty="0"/>
              <a:t> </a:t>
            </a:r>
            <a:r>
              <a:rPr lang="en-US" dirty="0" err="1"/>
              <a:t>ששמרנו</a:t>
            </a:r>
            <a:r>
              <a:rPr lang="en-US" dirty="0"/>
              <a:t> </a:t>
            </a:r>
            <a:r>
              <a:rPr lang="en-US" dirty="0" err="1"/>
              <a:t>לפני</a:t>
            </a:r>
            <a:r>
              <a:rPr lang="en-US" dirty="0"/>
              <a:t> </a:t>
            </a:r>
            <a:r>
              <a:rPr lang="en-US" dirty="0" err="1"/>
              <a:t>שהפסקנו</a:t>
            </a:r>
            <a:r>
              <a:rPr lang="en-US" dirty="0"/>
              <a:t> </a:t>
            </a:r>
            <a:r>
              <a:rPr lang="en-US" dirty="0" err="1"/>
              <a:t>את</a:t>
            </a:r>
            <a:r>
              <a:rPr lang="en-US" dirty="0"/>
              <a:t> </a:t>
            </a:r>
            <a:r>
              <a:rPr lang="en-US" dirty="0" err="1"/>
              <a:t>זמן</a:t>
            </a:r>
            <a:r>
              <a:rPr lang="en-US" dirty="0"/>
              <a:t> </a:t>
            </a:r>
            <a:r>
              <a:rPr lang="en-US" dirty="0" err="1"/>
              <a:t>ריצתו</a:t>
            </a:r>
            <a:r>
              <a:rPr lang="en-US" dirty="0"/>
              <a:t> </a:t>
            </a:r>
            <a:r>
              <a:rPr lang="en-US" dirty="0" err="1"/>
              <a:t>של</a:t>
            </a:r>
            <a:r>
              <a:rPr lang="en-US" dirty="0"/>
              <a:t> </a:t>
            </a:r>
            <a:r>
              <a:rPr lang="en-US" dirty="0" err="1"/>
              <a:t>התהליך</a:t>
            </a:r>
            <a:r>
              <a:rPr lang="en-US" dirty="0"/>
              <a:t>.</a:t>
            </a:r>
            <a:endParaRPr dirty="0"/>
          </a:p>
          <a:p>
            <a:pPr marL="228600" lvl="0" indent="-228600" algn="r" rtl="1">
              <a:lnSpc>
                <a:spcPct val="100000"/>
              </a:lnSpc>
              <a:spcBef>
                <a:spcPts val="360"/>
              </a:spcBef>
              <a:spcAft>
                <a:spcPts val="0"/>
              </a:spcAft>
              <a:buClr>
                <a:schemeClr val="dk1"/>
              </a:buClr>
              <a:buSzPts val="1400"/>
              <a:buFont typeface="Arial"/>
              <a:buAutoNum type="arabicParenR"/>
            </a:pPr>
            <a:r>
              <a:rPr lang="en-US" dirty="0" err="1"/>
              <a:t>קורא</a:t>
            </a:r>
            <a:r>
              <a:rPr lang="en-US" dirty="0"/>
              <a:t> </a:t>
            </a:r>
            <a:r>
              <a:rPr lang="en-US" dirty="0" err="1"/>
              <a:t>שוב</a:t>
            </a:r>
            <a:r>
              <a:rPr lang="en-US" dirty="0"/>
              <a:t> </a:t>
            </a:r>
            <a:r>
              <a:rPr lang="en-US" dirty="0" err="1"/>
              <a:t>לפונקציה</a:t>
            </a:r>
            <a:r>
              <a:rPr lang="en-US" dirty="0"/>
              <a:t> </a:t>
            </a:r>
            <a:r>
              <a:rPr lang="en-US" dirty="0" err="1"/>
              <a:t>swtch</a:t>
            </a:r>
            <a:r>
              <a:rPr lang="en-US" dirty="0"/>
              <a:t> </a:t>
            </a:r>
            <a:r>
              <a:rPr lang="en-US" dirty="0" err="1"/>
              <a:t>ועושה</a:t>
            </a:r>
            <a:r>
              <a:rPr lang="en-US" dirty="0"/>
              <a:t> </a:t>
            </a:r>
            <a:r>
              <a:rPr lang="en-US" dirty="0" err="1"/>
              <a:t>ההיפך</a:t>
            </a:r>
            <a:r>
              <a:rPr lang="en-US" dirty="0"/>
              <a:t> </a:t>
            </a:r>
            <a:r>
              <a:rPr lang="en-US" dirty="0" err="1"/>
              <a:t>ממה</a:t>
            </a:r>
            <a:r>
              <a:rPr lang="en-US" dirty="0"/>
              <a:t> </a:t>
            </a:r>
            <a:r>
              <a:rPr lang="en-US" dirty="0" err="1"/>
              <a:t>שראינו</a:t>
            </a:r>
            <a:r>
              <a:rPr lang="en-US" dirty="0"/>
              <a:t> </a:t>
            </a:r>
            <a:r>
              <a:rPr lang="en-US" dirty="0" err="1"/>
              <a:t>בscheduler</a:t>
            </a:r>
            <a:r>
              <a:rPr lang="en-US" dirty="0"/>
              <a:t>, </a:t>
            </a:r>
            <a:r>
              <a:rPr lang="en-US" dirty="0" err="1"/>
              <a:t>כלומר</a:t>
            </a:r>
            <a:r>
              <a:rPr lang="en-US" dirty="0"/>
              <a:t> </a:t>
            </a:r>
            <a:r>
              <a:rPr lang="en-US" dirty="0" err="1"/>
              <a:t>הפרמטר</a:t>
            </a:r>
            <a:r>
              <a:rPr lang="en-US" dirty="0"/>
              <a:t> </a:t>
            </a:r>
            <a:r>
              <a:rPr lang="en-US" dirty="0" err="1"/>
              <a:t>הראשון</a:t>
            </a:r>
            <a:r>
              <a:rPr lang="en-US" dirty="0"/>
              <a:t> </a:t>
            </a:r>
            <a:r>
              <a:rPr lang="en-US" dirty="0" err="1"/>
              <a:t>יהיה</a:t>
            </a:r>
            <a:r>
              <a:rPr lang="en-US" dirty="0"/>
              <a:t> </a:t>
            </a:r>
            <a:r>
              <a:rPr lang="en-US" dirty="0" err="1"/>
              <a:t>הקונטקסט</a:t>
            </a:r>
            <a:r>
              <a:rPr lang="en-US" dirty="0"/>
              <a:t> </a:t>
            </a:r>
            <a:r>
              <a:rPr lang="en-US" dirty="0" err="1"/>
              <a:t>של</a:t>
            </a:r>
            <a:r>
              <a:rPr lang="en-US" dirty="0"/>
              <a:t> </a:t>
            </a:r>
            <a:r>
              <a:rPr lang="en-US" dirty="0" err="1"/>
              <a:t>התהליך</a:t>
            </a:r>
            <a:r>
              <a:rPr lang="en-US" dirty="0"/>
              <a:t> </a:t>
            </a:r>
            <a:r>
              <a:rPr lang="en-US" dirty="0" err="1"/>
              <a:t>והשני</a:t>
            </a:r>
            <a:r>
              <a:rPr lang="en-US" dirty="0"/>
              <a:t> </a:t>
            </a:r>
            <a:r>
              <a:rPr lang="en-US" dirty="0" err="1"/>
              <a:t>של</a:t>
            </a:r>
            <a:r>
              <a:rPr lang="en-US" dirty="0"/>
              <a:t> </a:t>
            </a:r>
            <a:r>
              <a:rPr lang="en-US" dirty="0" err="1"/>
              <a:t>המעבד</a:t>
            </a:r>
            <a:r>
              <a:rPr lang="en-US" dirty="0"/>
              <a:t>.</a:t>
            </a:r>
            <a:endParaRPr dirty="0"/>
          </a:p>
          <a:p>
            <a:pPr marL="0" lvl="0" indent="0" algn="r" rtl="1">
              <a:lnSpc>
                <a:spcPct val="100000"/>
              </a:lnSpc>
              <a:spcBef>
                <a:spcPts val="360"/>
              </a:spcBef>
              <a:spcAft>
                <a:spcPts val="0"/>
              </a:spcAft>
              <a:buClr>
                <a:schemeClr val="dk1"/>
              </a:buClr>
              <a:buSzPts val="1400"/>
              <a:buFont typeface="Arial"/>
              <a:buNone/>
            </a:pPr>
            <a:endParaRPr dirty="0"/>
          </a:p>
          <a:p>
            <a:pPr marL="0" lvl="0" indent="0" algn="r" rtl="1">
              <a:lnSpc>
                <a:spcPct val="100000"/>
              </a:lnSpc>
              <a:spcBef>
                <a:spcPts val="360"/>
              </a:spcBef>
              <a:spcAft>
                <a:spcPts val="0"/>
              </a:spcAft>
              <a:buClr>
                <a:schemeClr val="dk1"/>
              </a:buClr>
              <a:buSzPts val="1400"/>
              <a:buFont typeface="Arial"/>
              <a:buNone/>
            </a:pPr>
            <a:r>
              <a:rPr lang="en-US" dirty="0" err="1"/>
              <a:t>שאלה</a:t>
            </a:r>
            <a:r>
              <a:rPr lang="en-US" dirty="0"/>
              <a:t>:</a:t>
            </a:r>
            <a:endParaRPr dirty="0"/>
          </a:p>
          <a:p>
            <a:pPr marL="0" lvl="0" indent="0" algn="r" rtl="1">
              <a:lnSpc>
                <a:spcPct val="100000"/>
              </a:lnSpc>
              <a:spcBef>
                <a:spcPts val="360"/>
              </a:spcBef>
              <a:spcAft>
                <a:spcPts val="0"/>
              </a:spcAft>
              <a:buClr>
                <a:schemeClr val="dk1"/>
              </a:buClr>
              <a:buSzPts val="1400"/>
              <a:buFont typeface="Arial"/>
              <a:buNone/>
            </a:pPr>
            <a:r>
              <a:rPr lang="en-US" dirty="0" err="1"/>
              <a:t>הפעם</a:t>
            </a:r>
            <a:r>
              <a:rPr lang="en-US" dirty="0"/>
              <a:t> </a:t>
            </a:r>
            <a:r>
              <a:rPr lang="en-US" dirty="0" err="1"/>
              <a:t>כשיתבצע</a:t>
            </a:r>
            <a:r>
              <a:rPr lang="en-US" dirty="0"/>
              <a:t> ret </a:t>
            </a:r>
            <a:r>
              <a:rPr lang="en-US" dirty="0" err="1"/>
              <a:t>מתוך</a:t>
            </a:r>
            <a:r>
              <a:rPr lang="en-US" dirty="0"/>
              <a:t> </a:t>
            </a:r>
            <a:r>
              <a:rPr lang="en-US" dirty="0" err="1"/>
              <a:t>swtch</a:t>
            </a:r>
            <a:r>
              <a:rPr lang="en-US" dirty="0"/>
              <a:t>, </a:t>
            </a:r>
            <a:r>
              <a:rPr lang="en-US" dirty="0" err="1"/>
              <a:t>לאן</a:t>
            </a:r>
            <a:r>
              <a:rPr lang="en-US" dirty="0"/>
              <a:t> </a:t>
            </a:r>
            <a:r>
              <a:rPr lang="en-US" dirty="0" err="1"/>
              <a:t>נחזור</a:t>
            </a:r>
            <a:r>
              <a:rPr lang="en-US" dirty="0"/>
              <a:t>? </a:t>
            </a:r>
            <a:r>
              <a:rPr lang="en-US" dirty="0" err="1"/>
              <a:t>לשורת</a:t>
            </a:r>
            <a:r>
              <a:rPr lang="en-US" dirty="0"/>
              <a:t> </a:t>
            </a:r>
            <a:r>
              <a:rPr lang="en-US" dirty="0" err="1"/>
              <a:t>הפקודה</a:t>
            </a:r>
            <a:r>
              <a:rPr lang="en-US" dirty="0"/>
              <a:t> </a:t>
            </a:r>
            <a:r>
              <a:rPr lang="en-US" dirty="0" err="1"/>
              <a:t>בscheduler</a:t>
            </a:r>
            <a:r>
              <a:rPr lang="en-US" dirty="0"/>
              <a:t> </a:t>
            </a:r>
            <a:r>
              <a:rPr lang="en-US" dirty="0" err="1"/>
              <a:t>לאחר</a:t>
            </a:r>
            <a:r>
              <a:rPr lang="en-US" dirty="0"/>
              <a:t> </a:t>
            </a:r>
            <a:r>
              <a:rPr lang="en-US" dirty="0" err="1"/>
              <a:t>הקריאה</a:t>
            </a:r>
            <a:r>
              <a:rPr lang="en-US" dirty="0"/>
              <a:t> </a:t>
            </a:r>
            <a:r>
              <a:rPr lang="en-US" dirty="0" err="1"/>
              <a:t>לswtch</a:t>
            </a:r>
            <a:r>
              <a:rPr lang="en-US" dirty="0"/>
              <a:t>  </a:t>
            </a:r>
            <a:r>
              <a:rPr lang="en-US" dirty="0" err="1"/>
              <a:t>כי</a:t>
            </a:r>
            <a:r>
              <a:rPr lang="en-US" dirty="0"/>
              <a:t> </a:t>
            </a:r>
            <a:r>
              <a:rPr lang="en-US" dirty="0" err="1"/>
              <a:t>זה</a:t>
            </a:r>
            <a:r>
              <a:rPr lang="en-US" dirty="0"/>
              <a:t> </a:t>
            </a:r>
            <a:r>
              <a:rPr lang="en-US" dirty="0" err="1"/>
              <a:t>הערך</a:t>
            </a:r>
            <a:r>
              <a:rPr lang="en-US" dirty="0"/>
              <a:t> </a:t>
            </a:r>
            <a:r>
              <a:rPr lang="en-US" dirty="0" err="1"/>
              <a:t>שהיה</a:t>
            </a:r>
            <a:r>
              <a:rPr lang="en-US" dirty="0"/>
              <a:t> </a:t>
            </a:r>
            <a:r>
              <a:rPr lang="en-US" dirty="0" err="1"/>
              <a:t>ברגיסטר</a:t>
            </a:r>
            <a:r>
              <a:rPr lang="en-US" dirty="0"/>
              <a:t> </a:t>
            </a:r>
            <a:r>
              <a:rPr lang="en-US" dirty="0" err="1"/>
              <a:t>ra</a:t>
            </a:r>
            <a:r>
              <a:rPr lang="en-US" dirty="0"/>
              <a:t> </a:t>
            </a:r>
            <a:r>
              <a:rPr lang="en-US" dirty="0" err="1"/>
              <a:t>של</a:t>
            </a:r>
            <a:r>
              <a:rPr lang="en-US" dirty="0"/>
              <a:t> </a:t>
            </a:r>
            <a:r>
              <a:rPr lang="en-US" dirty="0" err="1"/>
              <a:t>הcpu</a:t>
            </a:r>
            <a:r>
              <a:rPr lang="en-US" dirty="0"/>
              <a:t>. </a:t>
            </a:r>
            <a:r>
              <a:rPr lang="en-US" dirty="0" err="1"/>
              <a:t>ואז</a:t>
            </a:r>
            <a:r>
              <a:rPr lang="en-US" dirty="0"/>
              <a:t> </a:t>
            </a:r>
            <a:r>
              <a:rPr lang="en-US" dirty="0" err="1"/>
              <a:t>האלגוריתם</a:t>
            </a:r>
            <a:r>
              <a:rPr lang="en-US" dirty="0"/>
              <a:t> </a:t>
            </a:r>
            <a:r>
              <a:rPr lang="en-US" dirty="0" err="1"/>
              <a:t>של</a:t>
            </a:r>
            <a:r>
              <a:rPr lang="en-US" dirty="0"/>
              <a:t> </a:t>
            </a:r>
            <a:r>
              <a:rPr lang="en-US" dirty="0" err="1"/>
              <a:t>הscheduler</a:t>
            </a:r>
            <a:r>
              <a:rPr lang="en-US" dirty="0"/>
              <a:t> (RR) </a:t>
            </a:r>
            <a:r>
              <a:rPr lang="en-US" dirty="0" err="1"/>
              <a:t>ממשיך</a:t>
            </a:r>
            <a:r>
              <a:rPr lang="en-US" dirty="0"/>
              <a:t> </a:t>
            </a:r>
            <a:r>
              <a:rPr lang="en-US" dirty="0" err="1"/>
              <a:t>כרגיל</a:t>
            </a:r>
            <a:r>
              <a:rPr lang="en-US" dirty="0"/>
              <a:t>, </a:t>
            </a:r>
            <a:r>
              <a:rPr lang="en-US" dirty="0" err="1"/>
              <a:t>לוקח</a:t>
            </a:r>
            <a:r>
              <a:rPr lang="en-US" dirty="0"/>
              <a:t> </a:t>
            </a:r>
            <a:r>
              <a:rPr lang="en-US" dirty="0" err="1"/>
              <a:t>תהליך</a:t>
            </a:r>
            <a:r>
              <a:rPr lang="en-US" dirty="0"/>
              <a:t> </a:t>
            </a:r>
            <a:r>
              <a:rPr lang="en-US" dirty="0" err="1"/>
              <a:t>חדש</a:t>
            </a:r>
            <a:r>
              <a:rPr lang="en-US" dirty="0"/>
              <a:t> </a:t>
            </a:r>
            <a:r>
              <a:rPr lang="en-US" dirty="0" err="1"/>
              <a:t>ומריץ</a:t>
            </a:r>
            <a:r>
              <a:rPr lang="en-US" dirty="0"/>
              <a:t> </a:t>
            </a:r>
            <a:r>
              <a:rPr lang="en-US" dirty="0" err="1"/>
              <a:t>אותו</a:t>
            </a:r>
            <a:r>
              <a:rPr lang="en-US" dirty="0"/>
              <a:t>.</a:t>
            </a:r>
            <a:endParaRPr dirty="0"/>
          </a:p>
          <a:p>
            <a:pPr marL="0" lvl="0" indent="0" algn="r" rtl="1">
              <a:lnSpc>
                <a:spcPct val="100000"/>
              </a:lnSpc>
              <a:spcBef>
                <a:spcPts val="360"/>
              </a:spcBef>
              <a:spcAft>
                <a:spcPts val="0"/>
              </a:spcAft>
              <a:buClr>
                <a:schemeClr val="dk1"/>
              </a:buClr>
              <a:buSzPts val="1400"/>
              <a:buFont typeface="Arial"/>
              <a:buNone/>
            </a:pPr>
            <a:endParaRPr dirty="0"/>
          </a:p>
          <a:p>
            <a:pPr marL="0" lvl="0" indent="0" algn="r" rtl="1">
              <a:lnSpc>
                <a:spcPct val="100000"/>
              </a:lnSpc>
              <a:spcBef>
                <a:spcPts val="360"/>
              </a:spcBef>
              <a:spcAft>
                <a:spcPts val="0"/>
              </a:spcAft>
              <a:buClr>
                <a:schemeClr val="dk1"/>
              </a:buClr>
              <a:buSzPts val="1400"/>
              <a:buFont typeface="Arial"/>
              <a:buNone/>
            </a:pPr>
            <a:r>
              <a:rPr lang="en-US" dirty="0" err="1"/>
              <a:t>סיימנו</a:t>
            </a:r>
            <a:r>
              <a:rPr lang="en-US" dirty="0"/>
              <a:t> </a:t>
            </a:r>
            <a:r>
              <a:rPr lang="en-US" dirty="0" err="1"/>
              <a:t>את</a:t>
            </a:r>
            <a:r>
              <a:rPr lang="en-US" dirty="0"/>
              <a:t> </a:t>
            </a:r>
            <a:r>
              <a:rPr lang="en-US" dirty="0" err="1"/>
              <a:t>המעבר</a:t>
            </a:r>
            <a:r>
              <a:rPr lang="en-US" dirty="0"/>
              <a:t> </a:t>
            </a:r>
            <a:r>
              <a:rPr lang="en-US" dirty="0" err="1"/>
              <a:t>מrunnable</a:t>
            </a:r>
            <a:r>
              <a:rPr lang="en-US" dirty="0"/>
              <a:t> </a:t>
            </a:r>
            <a:r>
              <a:rPr lang="en-US" dirty="0" err="1"/>
              <a:t>ל</a:t>
            </a:r>
            <a:r>
              <a:rPr lang="en-US" dirty="0"/>
              <a:t> </a:t>
            </a:r>
            <a:r>
              <a:rPr lang="en-US" dirty="0" err="1"/>
              <a:t>runningומrunning</a:t>
            </a:r>
            <a:r>
              <a:rPr lang="en-US" dirty="0"/>
              <a:t> </a:t>
            </a:r>
            <a:r>
              <a:rPr lang="en-US" dirty="0" err="1"/>
              <a:t>ל</a:t>
            </a:r>
            <a:r>
              <a:rPr lang="en-US" dirty="0"/>
              <a:t> runnable.</a:t>
            </a:r>
            <a:endParaRPr dirty="0"/>
          </a:p>
        </p:txBody>
      </p:sp>
      <p:sp>
        <p:nvSpPr>
          <p:cNvPr id="232" name="Google Shape;23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6" name="Google Shape;246;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כעת נדבר על המעבר מrunning ל blocked/sleeping.</a:t>
            </a:r>
            <a:endParaRPr/>
          </a:p>
          <a:p>
            <a:pPr marL="0" lvl="0" indent="0" algn="r" rtl="1">
              <a:lnSpc>
                <a:spcPct val="100000"/>
              </a:lnSpc>
              <a:spcBef>
                <a:spcPts val="360"/>
              </a:spcBef>
              <a:spcAft>
                <a:spcPts val="0"/>
              </a:spcAft>
              <a:buClr>
                <a:schemeClr val="dk1"/>
              </a:buClr>
              <a:buSzPts val="1400"/>
              <a:buFont typeface="Arial"/>
              <a:buNone/>
            </a:pPr>
            <a:r>
              <a:rPr lang="en-US"/>
              <a:t>Sleep מקבלת שני פרמטרים: הראשון זה הchannel והשני זה המנעול.</a:t>
            </a:r>
            <a:endParaRPr/>
          </a:p>
          <a:p>
            <a:pPr marL="0" lvl="0" indent="0" algn="r" rtl="1">
              <a:lnSpc>
                <a:spcPct val="100000"/>
              </a:lnSpc>
              <a:spcBef>
                <a:spcPts val="360"/>
              </a:spcBef>
              <a:spcAft>
                <a:spcPts val="0"/>
              </a:spcAft>
              <a:buClr>
                <a:schemeClr val="dk1"/>
              </a:buClr>
              <a:buSzPts val="1400"/>
              <a:buFont typeface="Arial"/>
              <a:buNone/>
            </a:pPr>
            <a:r>
              <a:rPr lang="en-US"/>
              <a:t>למה צריך מנעול? בspl כשדיברו על wait ו notify וביצעו משהו בסנגנון:</a:t>
            </a:r>
            <a:endParaRPr/>
          </a:p>
          <a:p>
            <a:pPr marL="0" lvl="0" indent="0" algn="l" rtl="1">
              <a:lnSpc>
                <a:spcPct val="100000"/>
              </a:lnSpc>
              <a:spcBef>
                <a:spcPts val="360"/>
              </a:spcBef>
              <a:spcAft>
                <a:spcPts val="0"/>
              </a:spcAft>
              <a:buClr>
                <a:schemeClr val="dk1"/>
              </a:buClr>
              <a:buSzPts val="1400"/>
              <a:buFont typeface="Arial"/>
              <a:buNone/>
            </a:pPr>
            <a:r>
              <a:rPr lang="en-US"/>
              <a:t>For one process:</a:t>
            </a:r>
            <a:endParaRPr/>
          </a:p>
          <a:p>
            <a:pPr marL="0" lvl="0" indent="0" algn="l" rtl="1">
              <a:lnSpc>
                <a:spcPct val="100000"/>
              </a:lnSpc>
              <a:spcBef>
                <a:spcPts val="360"/>
              </a:spcBef>
              <a:spcAft>
                <a:spcPts val="0"/>
              </a:spcAft>
              <a:buClr>
                <a:schemeClr val="dk1"/>
              </a:buClr>
              <a:buSzPts val="1400"/>
              <a:buFont typeface="Arial"/>
              <a:buNone/>
            </a:pPr>
            <a:endParaRPr/>
          </a:p>
          <a:p>
            <a:pPr marL="0" lvl="0" indent="0" algn="l" rtl="0">
              <a:lnSpc>
                <a:spcPct val="100000"/>
              </a:lnSpc>
              <a:spcBef>
                <a:spcPts val="360"/>
              </a:spcBef>
              <a:spcAft>
                <a:spcPts val="0"/>
              </a:spcAft>
              <a:buClr>
                <a:schemeClr val="dk1"/>
              </a:buClr>
              <a:buSzPts val="1400"/>
              <a:buFont typeface="Arial"/>
              <a:buNone/>
            </a:pPr>
            <a:r>
              <a:rPr lang="en-US"/>
              <a:t>synchronized(this) {</a:t>
            </a:r>
            <a:endParaRPr/>
          </a:p>
          <a:p>
            <a:pPr marL="0" lvl="0" indent="0" algn="l" rtl="0">
              <a:lnSpc>
                <a:spcPct val="100000"/>
              </a:lnSpc>
              <a:spcBef>
                <a:spcPts val="360"/>
              </a:spcBef>
              <a:spcAft>
                <a:spcPts val="0"/>
              </a:spcAft>
              <a:buClr>
                <a:schemeClr val="dk1"/>
              </a:buClr>
              <a:buSzPts val="1400"/>
              <a:buFont typeface="Arial"/>
              <a:buNone/>
            </a:pPr>
            <a:r>
              <a:rPr lang="en-US"/>
              <a:t>     while(!cond){</a:t>
            </a:r>
            <a:endParaRPr/>
          </a:p>
          <a:p>
            <a:pPr marL="0" lvl="0" indent="0" algn="l" rtl="0">
              <a:lnSpc>
                <a:spcPct val="100000"/>
              </a:lnSpc>
              <a:spcBef>
                <a:spcPts val="360"/>
              </a:spcBef>
              <a:spcAft>
                <a:spcPts val="0"/>
              </a:spcAft>
              <a:buClr>
                <a:schemeClr val="dk1"/>
              </a:buClr>
              <a:buSzPts val="1400"/>
              <a:buFont typeface="Arial"/>
              <a:buNone/>
            </a:pPr>
            <a:r>
              <a:rPr lang="en-US"/>
              <a:t>        wait();</a:t>
            </a:r>
            <a:endParaRPr/>
          </a:p>
          <a:p>
            <a:pPr marL="0" lvl="0" indent="0" algn="l" rtl="0">
              <a:lnSpc>
                <a:spcPct val="100000"/>
              </a:lnSpc>
              <a:spcBef>
                <a:spcPts val="360"/>
              </a:spcBef>
              <a:spcAft>
                <a:spcPts val="0"/>
              </a:spcAft>
              <a:buClr>
                <a:schemeClr val="dk1"/>
              </a:buClr>
              <a:buSzPts val="1400"/>
              <a:buFont typeface="Arial"/>
              <a:buNone/>
            </a:pPr>
            <a:r>
              <a:rPr lang="en-US"/>
              <a:t>    }</a:t>
            </a:r>
            <a:endParaRPr/>
          </a:p>
          <a:p>
            <a:pPr marL="0" lvl="0" indent="0" algn="l" rtl="0">
              <a:lnSpc>
                <a:spcPct val="100000"/>
              </a:lnSpc>
              <a:spcBef>
                <a:spcPts val="360"/>
              </a:spcBef>
              <a:spcAft>
                <a:spcPts val="0"/>
              </a:spcAft>
              <a:buClr>
                <a:schemeClr val="dk1"/>
              </a:buClr>
              <a:buSzPts val="1400"/>
              <a:buFont typeface="Arial"/>
              <a:buNone/>
            </a:pPr>
            <a:r>
              <a:rPr lang="en-US"/>
              <a:t>}</a:t>
            </a:r>
            <a:endParaRPr/>
          </a:p>
          <a:p>
            <a:pPr marL="0" lvl="0" indent="0" algn="l" rtl="0">
              <a:lnSpc>
                <a:spcPct val="100000"/>
              </a:lnSpc>
              <a:spcBef>
                <a:spcPts val="360"/>
              </a:spcBef>
              <a:spcAft>
                <a:spcPts val="0"/>
              </a:spcAft>
              <a:buClr>
                <a:schemeClr val="dk1"/>
              </a:buClr>
              <a:buSzPts val="1400"/>
              <a:buFont typeface="Arial"/>
              <a:buNone/>
            </a:pPr>
            <a:endParaRPr/>
          </a:p>
          <a:p>
            <a:pPr marL="0" lvl="0" indent="0" algn="l" rtl="0">
              <a:lnSpc>
                <a:spcPct val="100000"/>
              </a:lnSpc>
              <a:spcBef>
                <a:spcPts val="360"/>
              </a:spcBef>
              <a:spcAft>
                <a:spcPts val="0"/>
              </a:spcAft>
              <a:buClr>
                <a:schemeClr val="dk1"/>
              </a:buClr>
              <a:buSzPts val="1400"/>
              <a:buFont typeface="Arial"/>
              <a:buNone/>
            </a:pPr>
            <a:r>
              <a:rPr lang="en-US"/>
              <a:t>For another process:</a:t>
            </a:r>
            <a:endParaRPr/>
          </a:p>
          <a:p>
            <a:pPr marL="0" lvl="0" indent="0" algn="l" rtl="0">
              <a:lnSpc>
                <a:spcPct val="100000"/>
              </a:lnSpc>
              <a:spcBef>
                <a:spcPts val="360"/>
              </a:spcBef>
              <a:spcAft>
                <a:spcPts val="0"/>
              </a:spcAft>
              <a:buClr>
                <a:schemeClr val="dk1"/>
              </a:buClr>
              <a:buSzPts val="1400"/>
              <a:buFont typeface="Arial"/>
              <a:buNone/>
            </a:pPr>
            <a:endParaRPr/>
          </a:p>
          <a:p>
            <a:pPr marL="0" lvl="0" indent="0" algn="l" rtl="0">
              <a:lnSpc>
                <a:spcPct val="100000"/>
              </a:lnSpc>
              <a:spcBef>
                <a:spcPts val="360"/>
              </a:spcBef>
              <a:spcAft>
                <a:spcPts val="0"/>
              </a:spcAft>
              <a:buClr>
                <a:schemeClr val="dk1"/>
              </a:buClr>
              <a:buSzPts val="1400"/>
              <a:buFont typeface="Arial"/>
              <a:buNone/>
            </a:pPr>
            <a:r>
              <a:rPr lang="en-US"/>
              <a:t>synchronized(this) {</a:t>
            </a:r>
            <a:endParaRPr/>
          </a:p>
          <a:p>
            <a:pPr marL="0" lvl="0" indent="0" algn="l" rtl="0">
              <a:lnSpc>
                <a:spcPct val="100000"/>
              </a:lnSpc>
              <a:spcBef>
                <a:spcPts val="360"/>
              </a:spcBef>
              <a:spcAft>
                <a:spcPts val="0"/>
              </a:spcAft>
              <a:buClr>
                <a:schemeClr val="dk1"/>
              </a:buClr>
              <a:buSzPts val="1400"/>
              <a:buFont typeface="Arial"/>
              <a:buNone/>
            </a:pPr>
            <a:r>
              <a:rPr lang="en-US"/>
              <a:t>             .</a:t>
            </a:r>
            <a:endParaRPr/>
          </a:p>
          <a:p>
            <a:pPr marL="0" lvl="0" indent="0" algn="l" rtl="0">
              <a:lnSpc>
                <a:spcPct val="100000"/>
              </a:lnSpc>
              <a:spcBef>
                <a:spcPts val="360"/>
              </a:spcBef>
              <a:spcAft>
                <a:spcPts val="0"/>
              </a:spcAft>
              <a:buClr>
                <a:schemeClr val="dk1"/>
              </a:buClr>
              <a:buSzPts val="1400"/>
              <a:buFont typeface="Arial"/>
              <a:buNone/>
            </a:pPr>
            <a:r>
              <a:rPr lang="en-US"/>
              <a:t>             .</a:t>
            </a:r>
            <a:endParaRPr/>
          </a:p>
          <a:p>
            <a:pPr marL="0" lvl="0" indent="0" algn="l" rtl="0">
              <a:lnSpc>
                <a:spcPct val="100000"/>
              </a:lnSpc>
              <a:spcBef>
                <a:spcPts val="360"/>
              </a:spcBef>
              <a:spcAft>
                <a:spcPts val="0"/>
              </a:spcAft>
              <a:buClr>
                <a:schemeClr val="dk1"/>
              </a:buClr>
              <a:buSzPts val="1400"/>
              <a:buFont typeface="Arial"/>
              <a:buNone/>
            </a:pPr>
            <a:r>
              <a:rPr lang="en-US"/>
              <a:t>             .</a:t>
            </a:r>
            <a:endParaRPr/>
          </a:p>
          <a:p>
            <a:pPr marL="0" lvl="0" indent="0" algn="l" rtl="0">
              <a:lnSpc>
                <a:spcPct val="100000"/>
              </a:lnSpc>
              <a:spcBef>
                <a:spcPts val="360"/>
              </a:spcBef>
              <a:spcAft>
                <a:spcPts val="0"/>
              </a:spcAft>
              <a:buClr>
                <a:schemeClr val="dk1"/>
              </a:buClr>
              <a:buSzPts val="1400"/>
              <a:buFont typeface="Arial"/>
              <a:buNone/>
            </a:pPr>
            <a:r>
              <a:rPr lang="en-US"/>
              <a:t>     cond=true;</a:t>
            </a:r>
            <a:endParaRPr/>
          </a:p>
          <a:p>
            <a:pPr marL="0" lvl="0" indent="0" algn="l" rtl="0">
              <a:lnSpc>
                <a:spcPct val="100000"/>
              </a:lnSpc>
              <a:spcBef>
                <a:spcPts val="360"/>
              </a:spcBef>
              <a:spcAft>
                <a:spcPts val="0"/>
              </a:spcAft>
              <a:buClr>
                <a:schemeClr val="dk1"/>
              </a:buClr>
              <a:buSzPts val="1400"/>
              <a:buFont typeface="Arial"/>
              <a:buNone/>
            </a:pPr>
            <a:r>
              <a:rPr lang="en-US"/>
              <a:t>     notifyAll();</a:t>
            </a:r>
            <a:endParaRPr/>
          </a:p>
          <a:p>
            <a:pPr marL="0" lvl="0" indent="0" algn="l" rtl="0">
              <a:lnSpc>
                <a:spcPct val="100000"/>
              </a:lnSpc>
              <a:spcBef>
                <a:spcPts val="360"/>
              </a:spcBef>
              <a:spcAft>
                <a:spcPts val="0"/>
              </a:spcAft>
              <a:buClr>
                <a:schemeClr val="dk1"/>
              </a:buClr>
              <a:buSzPts val="1400"/>
              <a:buFont typeface="Arial"/>
              <a:buNone/>
            </a:pPr>
            <a:r>
              <a:rPr lang="en-US"/>
              <a:t>    }</a:t>
            </a:r>
            <a:endParaRPr/>
          </a:p>
          <a:p>
            <a:pPr marL="0" lvl="0" indent="0" algn="l" rtl="0">
              <a:lnSpc>
                <a:spcPct val="100000"/>
              </a:lnSpc>
              <a:spcBef>
                <a:spcPts val="360"/>
              </a:spcBef>
              <a:spcAft>
                <a:spcPts val="0"/>
              </a:spcAft>
              <a:buClr>
                <a:schemeClr val="dk1"/>
              </a:buClr>
              <a:buSzPts val="1400"/>
              <a:buFont typeface="Arial"/>
              <a:buNone/>
            </a:pPr>
            <a:r>
              <a:rPr lang="en-US"/>
              <a:t>}</a:t>
            </a:r>
            <a:endParaRPr/>
          </a:p>
          <a:p>
            <a:pPr marL="0" lvl="0" indent="0" algn="l" rtl="0">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r>
              <a:rPr lang="en-US"/>
              <a:t>מדוע בליsynchronized  יתקבל exception? למה wait וnotify חייבים להיות בתוך synchronized וזה כדי שלא נפספס את הnotifyAll.</a:t>
            </a:r>
            <a:endParaRPr/>
          </a:p>
          <a:p>
            <a:pPr marL="0" lvl="0" indent="0" algn="r" rtl="1">
              <a:lnSpc>
                <a:spcPct val="100000"/>
              </a:lnSpc>
              <a:spcBef>
                <a:spcPts val="360"/>
              </a:spcBef>
              <a:spcAft>
                <a:spcPts val="0"/>
              </a:spcAft>
              <a:buClr>
                <a:schemeClr val="dk1"/>
              </a:buClr>
              <a:buSzPts val="1400"/>
              <a:buFont typeface="Arial"/>
              <a:buNone/>
            </a:pPr>
            <a:r>
              <a:rPr lang="en-US"/>
              <a:t>איך יכול לקרות מצב בו נפספס אותו?</a:t>
            </a:r>
            <a:endParaRPr/>
          </a:p>
          <a:p>
            <a:pPr marL="0" lvl="0" indent="0" algn="r" rtl="1">
              <a:lnSpc>
                <a:spcPct val="100000"/>
              </a:lnSpc>
              <a:spcBef>
                <a:spcPts val="360"/>
              </a:spcBef>
              <a:spcAft>
                <a:spcPts val="0"/>
              </a:spcAft>
              <a:buClr>
                <a:schemeClr val="dk1"/>
              </a:buClr>
              <a:buSzPts val="1400"/>
              <a:buFont typeface="Arial"/>
              <a:buNone/>
            </a:pPr>
            <a:r>
              <a:rPr lang="en-US"/>
              <a:t>דוגמא: </a:t>
            </a:r>
            <a:endParaRPr/>
          </a:p>
          <a:p>
            <a:pPr marL="0" lvl="0" indent="0" algn="l" rtl="0">
              <a:lnSpc>
                <a:spcPct val="100000"/>
              </a:lnSpc>
              <a:spcBef>
                <a:spcPts val="360"/>
              </a:spcBef>
              <a:spcAft>
                <a:spcPts val="0"/>
              </a:spcAft>
              <a:buClr>
                <a:schemeClr val="dk1"/>
              </a:buClr>
              <a:buSzPts val="1400"/>
              <a:buFont typeface="Arial"/>
              <a:buNone/>
            </a:pPr>
            <a:r>
              <a:rPr lang="en-US"/>
              <a:t>t1: while(!cond) 🡺 enter loop // interrupt occurred</a:t>
            </a:r>
            <a:endParaRPr/>
          </a:p>
          <a:p>
            <a:pPr marL="0" lvl="0" indent="0" algn="l" rtl="0">
              <a:lnSpc>
                <a:spcPct val="100000"/>
              </a:lnSpc>
              <a:spcBef>
                <a:spcPts val="360"/>
              </a:spcBef>
              <a:spcAft>
                <a:spcPts val="0"/>
              </a:spcAft>
              <a:buClr>
                <a:schemeClr val="dk1"/>
              </a:buClr>
              <a:buSzPts val="1400"/>
              <a:buFont typeface="Arial"/>
              <a:buNone/>
            </a:pPr>
            <a:r>
              <a:rPr lang="en-US"/>
              <a:t>t2: cond=true;</a:t>
            </a:r>
            <a:endParaRPr/>
          </a:p>
          <a:p>
            <a:pPr marL="0" lvl="0" indent="0" algn="l" rtl="0">
              <a:lnSpc>
                <a:spcPct val="100000"/>
              </a:lnSpc>
              <a:spcBef>
                <a:spcPts val="360"/>
              </a:spcBef>
              <a:spcAft>
                <a:spcPts val="0"/>
              </a:spcAft>
              <a:buClr>
                <a:schemeClr val="dk1"/>
              </a:buClr>
              <a:buSzPts val="1400"/>
              <a:buFont typeface="Arial"/>
              <a:buNone/>
            </a:pPr>
            <a:r>
              <a:rPr lang="en-US"/>
              <a:t>t2: notifyAll(); 🡺 no one is waiting // interrupt occurred</a:t>
            </a:r>
            <a:endParaRPr/>
          </a:p>
          <a:p>
            <a:pPr marL="0" lvl="0" indent="0" algn="l" rtl="0">
              <a:lnSpc>
                <a:spcPct val="100000"/>
              </a:lnSpc>
              <a:spcBef>
                <a:spcPts val="360"/>
              </a:spcBef>
              <a:spcAft>
                <a:spcPts val="0"/>
              </a:spcAft>
              <a:buClr>
                <a:schemeClr val="dk1"/>
              </a:buClr>
              <a:buSzPts val="1400"/>
              <a:buFont typeface="Arial"/>
              <a:buNone/>
            </a:pPr>
            <a:r>
              <a:rPr lang="en-US"/>
              <a:t>t1: wait(); // the interrupt occurred before t1 was able to perform the wait() command so now it will sleep until another thread performs notiftAll().</a:t>
            </a:r>
            <a:endParaRPr/>
          </a:p>
          <a:p>
            <a:pPr marL="0" lvl="0" indent="0" algn="r" rtl="1">
              <a:lnSpc>
                <a:spcPct val="100000"/>
              </a:lnSpc>
              <a:spcBef>
                <a:spcPts val="360"/>
              </a:spcBef>
              <a:spcAft>
                <a:spcPts val="0"/>
              </a:spcAft>
              <a:buClr>
                <a:schemeClr val="dk1"/>
              </a:buClr>
              <a:buSzPts val="1400"/>
              <a:buFont typeface="Arial"/>
              <a:buNone/>
            </a:pPr>
            <a:r>
              <a:rPr lang="en-US"/>
              <a:t>בתרחיש הזה למעשה איבדנו את הevent של הwakeup.</a:t>
            </a:r>
            <a:endParaRPr/>
          </a:p>
          <a:p>
            <a:pPr marL="0" lvl="0" indent="0" algn="r" rtl="1">
              <a:lnSpc>
                <a:spcPct val="100000"/>
              </a:lnSpc>
              <a:spcBef>
                <a:spcPts val="360"/>
              </a:spcBef>
              <a:spcAft>
                <a:spcPts val="0"/>
              </a:spcAft>
              <a:buClr>
                <a:schemeClr val="dk1"/>
              </a:buClr>
              <a:buSzPts val="1400"/>
              <a:buFont typeface="Arial"/>
              <a:buNone/>
            </a:pPr>
            <a:r>
              <a:rPr lang="en-US"/>
              <a:t>synchronized על אותו מנעול (this) מבטיח שכל עוד הthread הראשון לא ביצע wait, כלומר הוא עדיין מחזיק את המנעול ולא שחרר אותו (wait משחררת את המנעול), הthread השני לא יכול לקבל את המנעול כדי להריץ קטע קוד אחר שדורש את אותו מנעול.</a:t>
            </a:r>
            <a:endParaRPr/>
          </a:p>
          <a:p>
            <a:pPr marL="0" lvl="0" indent="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r>
              <a:rPr lang="en-US"/>
              <a:t>למעשה הwait שקול ל3 פעולות (בxv6 זה ככה גם כן):</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release  למנעול.</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sleep()</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acquire למנעול.</a:t>
            </a:r>
            <a:endParaRPr/>
          </a:p>
          <a:p>
            <a:pPr marL="0" lvl="0" indent="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r>
              <a:rPr lang="en-US"/>
              <a:t>sleep שקולה לwait של java (תישן עד שמישהו יעיר אותך) ומבצעת את הפעולות הבאות:</a:t>
            </a:r>
            <a:endParaRPr/>
          </a:p>
          <a:p>
            <a:pPr marL="0" lvl="0" indent="0" algn="r" rtl="1">
              <a:lnSpc>
                <a:spcPct val="100000"/>
              </a:lnSpc>
              <a:spcBef>
                <a:spcPts val="360"/>
              </a:spcBef>
              <a:spcAft>
                <a:spcPts val="0"/>
              </a:spcAft>
              <a:buClr>
                <a:schemeClr val="dk1"/>
              </a:buClr>
              <a:buSzPts val="1400"/>
              <a:buFont typeface="Arial"/>
              <a:buNone/>
            </a:pPr>
            <a:r>
              <a:rPr lang="en-US"/>
              <a:t>תופסת את המנעול של התהליך שרץ (כדי שמי שיבצע לו wakeup הוא זה שישחרר את המנעול של התהליך).</a:t>
            </a:r>
            <a:endParaRPr/>
          </a:p>
          <a:p>
            <a:pPr marL="0" lvl="0" indent="0" algn="r" rtl="1">
              <a:lnSpc>
                <a:spcPct val="100000"/>
              </a:lnSpc>
              <a:spcBef>
                <a:spcPts val="360"/>
              </a:spcBef>
              <a:spcAft>
                <a:spcPts val="0"/>
              </a:spcAft>
              <a:buClr>
                <a:schemeClr val="dk1"/>
              </a:buClr>
              <a:buSzPts val="1400"/>
              <a:buFont typeface="Arial"/>
              <a:buNone/>
            </a:pPr>
            <a:r>
              <a:rPr lang="en-US"/>
              <a:t>משחרר את המנעול lk.</a:t>
            </a:r>
            <a:endParaRPr/>
          </a:p>
          <a:p>
            <a:pPr marL="0" lvl="0" indent="0" algn="r" rtl="1">
              <a:lnSpc>
                <a:spcPct val="100000"/>
              </a:lnSpc>
              <a:spcBef>
                <a:spcPts val="360"/>
              </a:spcBef>
              <a:spcAft>
                <a:spcPts val="0"/>
              </a:spcAft>
              <a:buClr>
                <a:schemeClr val="dk1"/>
              </a:buClr>
              <a:buSzPts val="1400"/>
              <a:buFont typeface="Arial"/>
              <a:buNone/>
            </a:pPr>
            <a:r>
              <a:rPr lang="en-US"/>
              <a:t>שתי הפעולות לעיל מבטיחות שהתהליך שישן לא יפספס את פעולת הwakeup (כי כדי לבצע את הwakeup צריך את המנעול </a:t>
            </a:r>
            <a:r>
              <a:rPr lang="en-US" b="0"/>
              <a:t>של p וכל עוד הוא לא שוחרר, כלומר לא בוצע wait שתשחרר את המנעול, לא נצליח </a:t>
            </a:r>
            <a:r>
              <a:rPr lang="en-US" b="1"/>
              <a:t>לנסות</a:t>
            </a:r>
            <a:r>
              <a:rPr lang="en-US" b="0"/>
              <a:t> להעיר אותו).</a:t>
            </a:r>
            <a:endParaRPr/>
          </a:p>
          <a:p>
            <a:pPr marL="0" lvl="0" indent="0" algn="r" rtl="1">
              <a:lnSpc>
                <a:spcPct val="100000"/>
              </a:lnSpc>
              <a:spcBef>
                <a:spcPts val="360"/>
              </a:spcBef>
              <a:spcAft>
                <a:spcPts val="0"/>
              </a:spcAft>
              <a:buClr>
                <a:schemeClr val="dk1"/>
              </a:buClr>
              <a:buSzPts val="1400"/>
              <a:buFont typeface="Arial"/>
              <a:buNone/>
            </a:pPr>
            <a:r>
              <a:rPr lang="en-US"/>
              <a:t>עוברים למצב שינה:</a:t>
            </a:r>
            <a:endParaRPr/>
          </a:p>
          <a:p>
            <a:pPr marL="0" lvl="0" indent="0" algn="r" rtl="1">
              <a:lnSpc>
                <a:spcPct val="100000"/>
              </a:lnSpc>
              <a:spcBef>
                <a:spcPts val="360"/>
              </a:spcBef>
              <a:spcAft>
                <a:spcPts val="0"/>
              </a:spcAft>
              <a:buClr>
                <a:schemeClr val="dk1"/>
              </a:buClr>
              <a:buSzPts val="1400"/>
              <a:buFont typeface="Arial"/>
              <a:buNone/>
            </a:pPr>
            <a:r>
              <a:rPr lang="en-US"/>
              <a:t>מעדכנים את chan של p לchan שרוצים שיעיר את התהליך.</a:t>
            </a:r>
            <a:endParaRPr/>
          </a:p>
          <a:p>
            <a:pPr marL="0" lvl="0" indent="0" algn="r" rtl="1">
              <a:lnSpc>
                <a:spcPct val="100000"/>
              </a:lnSpc>
              <a:spcBef>
                <a:spcPts val="360"/>
              </a:spcBef>
              <a:spcAft>
                <a:spcPts val="0"/>
              </a:spcAft>
              <a:buClr>
                <a:schemeClr val="dk1"/>
              </a:buClr>
              <a:buSzPts val="1400"/>
              <a:buFont typeface="Arial"/>
              <a:buNone/>
            </a:pPr>
            <a:r>
              <a:rPr lang="en-US"/>
              <a:t>שינוי המצב ל sleeping</a:t>
            </a:r>
            <a:endParaRPr/>
          </a:p>
          <a:p>
            <a:pPr marL="0" lvl="0" indent="0" algn="r" rtl="1">
              <a:lnSpc>
                <a:spcPct val="100000"/>
              </a:lnSpc>
              <a:spcBef>
                <a:spcPts val="360"/>
              </a:spcBef>
              <a:spcAft>
                <a:spcPts val="0"/>
              </a:spcAft>
              <a:buClr>
                <a:schemeClr val="dk1"/>
              </a:buClr>
              <a:buSzPts val="1400"/>
              <a:buFont typeface="Arial"/>
              <a:buNone/>
            </a:pPr>
            <a:r>
              <a:rPr lang="en-US"/>
              <a:t>קוראים לsched שמבצעת את הקריאה לswtch שמחזירה לcontext של הscheduler</a:t>
            </a:r>
            <a:endParaRPr/>
          </a:p>
          <a:p>
            <a:pPr marL="0" lvl="0" indent="0" algn="r" rtl="1">
              <a:lnSpc>
                <a:spcPct val="100000"/>
              </a:lnSpc>
              <a:spcBef>
                <a:spcPts val="360"/>
              </a:spcBef>
              <a:spcAft>
                <a:spcPts val="0"/>
              </a:spcAft>
              <a:buClr>
                <a:schemeClr val="dk1"/>
              </a:buClr>
              <a:buSzPts val="1400"/>
              <a:buFont typeface="Arial"/>
              <a:buNone/>
            </a:pPr>
            <a:r>
              <a:rPr lang="en-US"/>
              <a:t>עד שלא יעירו את התהליך, הוא לא יקבל זמן ריצה.</a:t>
            </a:r>
            <a:endParaRPr/>
          </a:p>
          <a:p>
            <a:pPr marL="0" lvl="0" indent="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r>
              <a:rPr lang="en-US" b="1"/>
              <a:t>לעבור לשקף הבא ובסיום לחזור לשקף הזה.</a:t>
            </a:r>
            <a:endParaRPr/>
          </a:p>
          <a:p>
            <a:pPr marL="0" lvl="0" indent="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r>
              <a:rPr lang="en-US"/>
              <a:t>כמובן שכשהתהליך יקבל שוב זמן ריצה, כלומר, swtch תקבל את הקונטקסט של התהליך הזה כפרמטר ראשון ופקודת ret תבצע את השורה הבאה (שורה 547 בproc.c):</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נעדכן את הchan להיות 0 (מכיוון שלפי ה ,PCBאם הערך של chan שונה מ0, זה אומר שהוא ישן אז כדי לקיים את האינווריאנטה הזו אנחנו נשנה את ערכו ל0).</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נשחרר את המנעול.</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תופס את המנעול lk.</a:t>
            </a:r>
            <a:endParaRPr/>
          </a:p>
          <a:p>
            <a:pPr marL="0" lvl="0" indent="0" algn="r" rtl="1">
              <a:lnSpc>
                <a:spcPct val="100000"/>
              </a:lnSpc>
              <a:spcBef>
                <a:spcPts val="360"/>
              </a:spcBef>
              <a:spcAft>
                <a:spcPts val="0"/>
              </a:spcAft>
              <a:buClr>
                <a:schemeClr val="dk1"/>
              </a:buClr>
              <a:buSzPts val="1400"/>
              <a:buFont typeface="Arial"/>
              <a:buNone/>
            </a:pPr>
            <a:endParaRPr/>
          </a:p>
        </p:txBody>
      </p:sp>
      <p:sp>
        <p:nvSpPr>
          <p:cNvPr id="247" name="Google Shape;247;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r>
              <a:rPr lang="en-US"/>
              <a:t>wakeup – מעירים את כל התהליכים שישנים על הchannel שהתקבל כפרמטר.</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עוברים על טבלת התהליכים.</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בודק שלא מדובר בעצמו כי בקריאה של wakeup התהליך תופס את המנעול של עצמו ואז אם הוא יכנס לתנאי, יהיה ניסיון לתפוס את המנעול של עצמו שוב ולמעשה הוא מחכה לעצמו שישחרר את המנעול של עצמו כדי לתפוס אותו וזה יוצר דדלוק.</a:t>
            </a:r>
            <a:endParaRPr/>
          </a:p>
          <a:p>
            <a:pPr marL="228600" lvl="0" indent="-228600" algn="r" rtl="1">
              <a:lnSpc>
                <a:spcPct val="100000"/>
              </a:lnSpc>
              <a:spcBef>
                <a:spcPts val="360"/>
              </a:spcBef>
              <a:spcAft>
                <a:spcPts val="0"/>
              </a:spcAft>
              <a:buClr>
                <a:schemeClr val="dk1"/>
              </a:buClr>
              <a:buSzPts val="1400"/>
              <a:buFont typeface="Arial"/>
              <a:buAutoNum type="arabicParenR"/>
            </a:pPr>
            <a:r>
              <a:rPr lang="en-US"/>
              <a:t>בודק עבור כל תהליך בטבלה (מלבד עצמו) שהוא במצב sleeping וגם שהוא ישן על אותו channel שהתקבל. אם כן, תשנה את המצב לrunnable, ותשחרר את המנעול.</a:t>
            </a:r>
            <a:endParaRPr/>
          </a:p>
          <a:p>
            <a:pPr marL="228600" lvl="0" indent="-139700" algn="r" rtl="1">
              <a:lnSpc>
                <a:spcPct val="100000"/>
              </a:lnSpc>
              <a:spcBef>
                <a:spcPts val="360"/>
              </a:spcBef>
              <a:spcAft>
                <a:spcPts val="0"/>
              </a:spcAft>
              <a:buClr>
                <a:schemeClr val="dk1"/>
              </a:buClr>
              <a:buSzPts val="1400"/>
              <a:buFont typeface="Arial"/>
              <a:buNone/>
            </a:pPr>
            <a:endParaRPr/>
          </a:p>
          <a:p>
            <a:pPr marL="0" lvl="0" indent="0" algn="r" rtl="1">
              <a:lnSpc>
                <a:spcPct val="100000"/>
              </a:lnSpc>
              <a:spcBef>
                <a:spcPts val="360"/>
              </a:spcBef>
              <a:spcAft>
                <a:spcPts val="0"/>
              </a:spcAft>
              <a:buClr>
                <a:schemeClr val="dk1"/>
              </a:buClr>
              <a:buSzPts val="1400"/>
              <a:buFont typeface="Arial"/>
              <a:buNone/>
            </a:pPr>
            <a:endParaRPr/>
          </a:p>
        </p:txBody>
      </p:sp>
      <p:sp>
        <p:nvSpPr>
          <p:cNvPr id="262" name="Google Shape;26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endParaRPr/>
          </a:p>
        </p:txBody>
      </p:sp>
      <p:sp>
        <p:nvSpPr>
          <p:cNvPr id="277" name="Google Shape;277;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a:extLst>
            <a:ext uri="{FF2B5EF4-FFF2-40B4-BE49-F238E27FC236}">
              <a16:creationId xmlns:a16="http://schemas.microsoft.com/office/drawing/2014/main" id="{39417EB4-5121-42B3-B381-B496E711B186}"/>
            </a:ext>
          </a:extLst>
        </p:cNvPr>
        <p:cNvGrpSpPr/>
        <p:nvPr/>
      </p:nvGrpSpPr>
      <p:grpSpPr>
        <a:xfrm>
          <a:off x="0" y="0"/>
          <a:ext cx="0" cy="0"/>
          <a:chOff x="0" y="0"/>
          <a:chExt cx="0" cy="0"/>
        </a:xfrm>
      </p:grpSpPr>
      <p:sp>
        <p:nvSpPr>
          <p:cNvPr id="275" name="Google Shape;275;p15:notes">
            <a:extLst>
              <a:ext uri="{FF2B5EF4-FFF2-40B4-BE49-F238E27FC236}">
                <a16:creationId xmlns:a16="http://schemas.microsoft.com/office/drawing/2014/main" id="{C1D6C869-C753-94F4-93B6-6E8C5443E17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6" name="Google Shape;276;p15:notes">
            <a:extLst>
              <a:ext uri="{FF2B5EF4-FFF2-40B4-BE49-F238E27FC236}">
                <a16:creationId xmlns:a16="http://schemas.microsoft.com/office/drawing/2014/main" id="{9CDFDD86-0F24-4E7F-0DFB-9E5E2649997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endParaRPr/>
          </a:p>
        </p:txBody>
      </p:sp>
      <p:sp>
        <p:nvSpPr>
          <p:cNvPr id="277" name="Google Shape;277;p15:notes">
            <a:extLst>
              <a:ext uri="{FF2B5EF4-FFF2-40B4-BE49-F238E27FC236}">
                <a16:creationId xmlns:a16="http://schemas.microsoft.com/office/drawing/2014/main" id="{D2FABC74-363A-DE80-8B8B-0551D21D7EC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10007773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r" rtl="1">
              <a:lnSpc>
                <a:spcPct val="100000"/>
              </a:lnSpc>
              <a:spcBef>
                <a:spcPts val="0"/>
              </a:spcBef>
              <a:spcAft>
                <a:spcPts val="0"/>
              </a:spcAft>
              <a:buClr>
                <a:schemeClr val="dk1"/>
              </a:buClr>
              <a:buSzPts val="1400"/>
              <a:buFont typeface="Arial"/>
              <a:buNone/>
            </a:pPr>
            <a:endParaRPr/>
          </a:p>
        </p:txBody>
      </p:sp>
      <p:sp>
        <p:nvSpPr>
          <p:cNvPr id="289" name="Google Shape;289;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1: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348" name="Google Shape;348;p11:notes"/>
          <p:cNvSpPr txBox="1">
            <a:spLocks noGrp="1"/>
          </p:cNvSpPr>
          <p:nvPr>
            <p:ph type="body" idx="1"/>
          </p:nvPr>
        </p:nvSpPr>
        <p:spPr>
          <a:xfrm>
            <a:off x="671513" y="4681538"/>
            <a:ext cx="5375275" cy="443388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200" b="0" i="0" u="none" strike="noStrike" cap="none" dirty="0">
                <a:solidFill>
                  <a:schemeClr val="dk1"/>
                </a:solidFill>
                <a:latin typeface="Calibri"/>
                <a:ea typeface="Calibri"/>
                <a:cs typeface="Calibri"/>
                <a:sym typeface="Calibri"/>
              </a:rPr>
              <a:t>Preemptive - for example: a process may be rescheduled by the scheduler upon the arrival of a “more important” process.</a:t>
            </a:r>
            <a:endParaRPr dirty="0"/>
          </a:p>
          <a:p>
            <a:pPr marL="0" marR="0" lvl="0" indent="0" algn="l" rtl="0">
              <a:lnSpc>
                <a:spcPct val="100000"/>
              </a:lnSpc>
              <a:spcBef>
                <a:spcPts val="0"/>
              </a:spcBef>
              <a:spcAft>
                <a:spcPts val="0"/>
              </a:spcAft>
              <a:buSzPts val="1400"/>
              <a:buNone/>
            </a:pPr>
            <a:r>
              <a:rPr lang="en-US" sz="1200" b="0" i="0" u="none" strike="noStrike" cap="none" dirty="0">
                <a:solidFill>
                  <a:schemeClr val="dk1"/>
                </a:solidFill>
                <a:latin typeface="Calibri"/>
                <a:ea typeface="Calibri"/>
                <a:cs typeface="Calibri"/>
                <a:sym typeface="Calibri"/>
              </a:rPr>
              <a:t>Non-Preemptive - for example: process termination, explicit call to yield() , I/O operation which changes the process state to </a:t>
            </a:r>
            <a:r>
              <a:rPr lang="en-US" sz="1200" b="0" i="1" u="none" strike="noStrike" cap="none" dirty="0">
                <a:solidFill>
                  <a:schemeClr val="dk1"/>
                </a:solidFill>
                <a:latin typeface="Calibri"/>
                <a:ea typeface="Calibri"/>
                <a:cs typeface="Calibri"/>
                <a:sym typeface="Calibri"/>
              </a:rPr>
              <a:t>blocking</a:t>
            </a:r>
            <a:r>
              <a:rPr lang="en-US" sz="1200" b="0" i="0" u="none" strike="noStrike" cap="none" dirty="0">
                <a:solidFill>
                  <a:schemeClr val="dk1"/>
                </a:solidFill>
                <a:latin typeface="Calibri"/>
                <a:ea typeface="Calibri"/>
                <a:cs typeface="Calibri"/>
                <a:sym typeface="Calibri"/>
              </a:rPr>
              <a:t>, etc.</a:t>
            </a:r>
            <a:endParaRPr lang="he-IL" sz="1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SzPts val="1400"/>
              <a:buNone/>
            </a:pPr>
            <a:endParaRPr lang="he-IL" sz="1200" b="0" i="0" u="none" strike="noStrike" cap="none" dirty="0">
              <a:solidFill>
                <a:schemeClr val="dk1"/>
              </a:solidFill>
              <a:latin typeface="Calibri"/>
              <a:ea typeface="Calibri"/>
              <a:cs typeface="Calibri"/>
              <a:sym typeface="Calibri"/>
            </a:endParaRP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יש שני סוגים של אלגוריתמי תזמון:</a:t>
            </a:r>
          </a:p>
          <a:p>
            <a:pPr marL="228600" marR="0" lvl="0" indent="-228600" algn="r" rtl="1">
              <a:lnSpc>
                <a:spcPct val="100000"/>
              </a:lnSpc>
              <a:spcBef>
                <a:spcPts val="0"/>
              </a:spcBef>
              <a:spcAft>
                <a:spcPts val="0"/>
              </a:spcAft>
              <a:buSzPts val="1400"/>
              <a:buAutoNum type="arabicParenR"/>
            </a:pPr>
            <a:r>
              <a:rPr lang="en-US" sz="1200" b="0" i="0" u="none" strike="noStrike" cap="none" dirty="0" err="1">
                <a:solidFill>
                  <a:schemeClr val="dk1"/>
                </a:solidFill>
                <a:latin typeface="Calibri"/>
                <a:ea typeface="Calibri"/>
                <a:cs typeface="Calibri"/>
                <a:sym typeface="Calibri"/>
              </a:rPr>
              <a:t>Preemtive</a:t>
            </a:r>
            <a:r>
              <a:rPr lang="he-IL" sz="1200" b="0" i="0" u="none" strike="noStrike" cap="none" dirty="0">
                <a:solidFill>
                  <a:schemeClr val="dk1"/>
                </a:solidFill>
                <a:latin typeface="Calibri"/>
                <a:ea typeface="Calibri"/>
                <a:cs typeface="Calibri"/>
                <a:sym typeface="Calibri"/>
              </a:rPr>
              <a:t> – ה</a:t>
            </a:r>
            <a:r>
              <a:rPr lang="en-US" sz="1200" b="0" i="0" u="none" strike="noStrike" cap="none" dirty="0">
                <a:solidFill>
                  <a:schemeClr val="dk1"/>
                </a:solidFill>
                <a:latin typeface="Calibri"/>
                <a:ea typeface="Calibri"/>
                <a:cs typeface="Calibri"/>
                <a:sym typeface="Calibri"/>
              </a:rPr>
              <a:t>scheduler</a:t>
            </a:r>
            <a:r>
              <a:rPr lang="he-IL" sz="1200" b="0" i="0" u="none" strike="noStrike" cap="none" dirty="0">
                <a:solidFill>
                  <a:schemeClr val="dk1"/>
                </a:solidFill>
                <a:latin typeface="Calibri"/>
                <a:ea typeface="Calibri"/>
                <a:cs typeface="Calibri"/>
                <a:sym typeface="Calibri"/>
              </a:rPr>
              <a:t> נותן לתהליך זמן ריצה והוא זה שגם עוצר אותו ונותן זמן ריצה לתהליך אחר.</a:t>
            </a:r>
          </a:p>
          <a:p>
            <a:pPr marL="228600" marR="0" lvl="0" indent="-228600" algn="r" rtl="1">
              <a:lnSpc>
                <a:spcPct val="100000"/>
              </a:lnSpc>
              <a:spcBef>
                <a:spcPts val="0"/>
              </a:spcBef>
              <a:spcAft>
                <a:spcPts val="0"/>
              </a:spcAft>
              <a:buSzPts val="1400"/>
              <a:buAutoNum type="arabicParenR"/>
            </a:pPr>
            <a:r>
              <a:rPr lang="en-US" sz="1200" b="0" i="0" u="none" strike="noStrike" cap="none" dirty="0">
                <a:solidFill>
                  <a:schemeClr val="dk1"/>
                </a:solidFill>
                <a:latin typeface="Calibri"/>
                <a:ea typeface="Calibri"/>
                <a:cs typeface="Calibri"/>
                <a:sym typeface="Calibri"/>
              </a:rPr>
              <a:t>Non-</a:t>
            </a:r>
            <a:r>
              <a:rPr lang="en-US" sz="1200" b="0" i="0" u="none" strike="noStrike" cap="none" dirty="0" err="1">
                <a:solidFill>
                  <a:schemeClr val="dk1"/>
                </a:solidFill>
                <a:latin typeface="Calibri"/>
                <a:ea typeface="Calibri"/>
                <a:cs typeface="Calibri"/>
                <a:sym typeface="Calibri"/>
              </a:rPr>
              <a:t>Preemtive</a:t>
            </a:r>
            <a:r>
              <a:rPr lang="he-IL" sz="1200" b="0" i="0" u="none" strike="noStrike" cap="none" dirty="0">
                <a:solidFill>
                  <a:schemeClr val="dk1"/>
                </a:solidFill>
                <a:latin typeface="Calibri"/>
                <a:ea typeface="Calibri"/>
                <a:cs typeface="Calibri"/>
                <a:sym typeface="Calibri"/>
              </a:rPr>
              <a:t> – ברגע שניתן זמן ריצה לתהליך, התהליך הוא זה שיכול להחזיר את השליטה ל</a:t>
            </a:r>
            <a:r>
              <a:rPr lang="en-US" sz="1200" b="0" i="0" u="none" strike="noStrike" cap="none" dirty="0">
                <a:solidFill>
                  <a:schemeClr val="dk1"/>
                </a:solidFill>
                <a:latin typeface="Calibri"/>
                <a:ea typeface="Calibri"/>
                <a:cs typeface="Calibri"/>
                <a:sym typeface="Calibri"/>
              </a:rPr>
              <a:t>scheduler</a:t>
            </a:r>
            <a:r>
              <a:rPr lang="he-IL" sz="1200" b="0" i="0" u="none" strike="noStrike" cap="none" dirty="0">
                <a:solidFill>
                  <a:schemeClr val="dk1"/>
                </a:solidFill>
                <a:latin typeface="Calibri"/>
                <a:ea typeface="Calibri"/>
                <a:cs typeface="Calibri"/>
                <a:sym typeface="Calibri"/>
              </a:rPr>
              <a:t> מסיבה של </a:t>
            </a:r>
            <a:r>
              <a:rPr lang="en-US" sz="1200" b="0" i="0" u="none" strike="noStrike" cap="none" dirty="0">
                <a:solidFill>
                  <a:schemeClr val="dk1"/>
                </a:solidFill>
                <a:latin typeface="Calibri"/>
                <a:ea typeface="Calibri"/>
                <a:cs typeface="Calibri"/>
                <a:sym typeface="Calibri"/>
              </a:rPr>
              <a:t>yield </a:t>
            </a:r>
            <a:r>
              <a:rPr lang="he-IL" sz="1200" b="0" i="0" u="none" strike="noStrike" cap="none" dirty="0">
                <a:solidFill>
                  <a:schemeClr val="dk1"/>
                </a:solidFill>
                <a:latin typeface="Calibri"/>
                <a:ea typeface="Calibri"/>
                <a:cs typeface="Calibri"/>
                <a:sym typeface="Calibri"/>
              </a:rPr>
              <a:t> או </a:t>
            </a:r>
            <a:r>
              <a:rPr lang="en-US" sz="1200" b="0" i="0" u="none" strike="noStrike" cap="none" dirty="0">
                <a:solidFill>
                  <a:schemeClr val="dk1"/>
                </a:solidFill>
                <a:latin typeface="Calibri"/>
                <a:ea typeface="Calibri"/>
                <a:cs typeface="Calibri"/>
                <a:sym typeface="Calibri"/>
              </a:rPr>
              <a:t>sleep</a:t>
            </a:r>
            <a:r>
              <a:rPr lang="he-IL" sz="1200" b="0" i="0" u="none" strike="noStrike" cap="none" dirty="0">
                <a:solidFill>
                  <a:schemeClr val="dk1"/>
                </a:solidFill>
                <a:latin typeface="Calibri"/>
                <a:ea typeface="Calibri"/>
                <a:cs typeface="Calibri"/>
                <a:sym typeface="Calibri"/>
              </a:rPr>
              <a:t> (מחכה ל</a:t>
            </a:r>
            <a:r>
              <a:rPr lang="en-US" sz="1200" b="0" i="0" u="none" strike="noStrike" cap="none" dirty="0">
                <a:solidFill>
                  <a:schemeClr val="dk1"/>
                </a:solidFill>
                <a:latin typeface="Calibri"/>
                <a:ea typeface="Calibri"/>
                <a:cs typeface="Calibri"/>
                <a:sym typeface="Calibri"/>
              </a:rPr>
              <a:t> I/O</a:t>
            </a:r>
            <a:r>
              <a:rPr lang="he-IL" sz="1200" b="0" i="0" u="none" strike="noStrike" cap="none" dirty="0">
                <a:solidFill>
                  <a:schemeClr val="dk1"/>
                </a:solidFill>
                <a:latin typeface="Calibri"/>
                <a:ea typeface="Calibri"/>
                <a:cs typeface="Calibri"/>
                <a:sym typeface="Calibri"/>
              </a:rPr>
              <a:t>או למנעול, לתהליך אחר). אבל ה</a:t>
            </a:r>
            <a:r>
              <a:rPr lang="en-US" sz="1200" b="0" i="0" u="none" strike="noStrike" cap="none" dirty="0">
                <a:solidFill>
                  <a:schemeClr val="dk1"/>
                </a:solidFill>
                <a:latin typeface="Calibri"/>
                <a:ea typeface="Calibri"/>
                <a:cs typeface="Calibri"/>
                <a:sym typeface="Calibri"/>
              </a:rPr>
              <a:t>scheduler</a:t>
            </a:r>
            <a:r>
              <a:rPr lang="he-IL" sz="1200" b="0" i="0" u="none" strike="noStrike" cap="none" dirty="0">
                <a:solidFill>
                  <a:schemeClr val="dk1"/>
                </a:solidFill>
                <a:latin typeface="Calibri"/>
                <a:ea typeface="Calibri"/>
                <a:cs typeface="Calibri"/>
                <a:sym typeface="Calibri"/>
              </a:rPr>
              <a:t> לא זה שיפסיק את הריצה של התהליך.</a:t>
            </a:r>
          </a:p>
          <a:p>
            <a:pPr marL="228600" marR="0" lvl="0" indent="-228600" algn="r" rtl="1">
              <a:lnSpc>
                <a:spcPct val="100000"/>
              </a:lnSpc>
              <a:spcBef>
                <a:spcPts val="0"/>
              </a:spcBef>
              <a:spcAft>
                <a:spcPts val="0"/>
              </a:spcAft>
              <a:buSzPts val="1400"/>
              <a:buAutoNum type="arabicParenR"/>
            </a:pPr>
            <a:endParaRPr lang="he-IL" sz="1200" b="0" i="0" u="none" strike="noStrike" cap="none" dirty="0">
              <a:solidFill>
                <a:schemeClr val="dk1"/>
              </a:solidFill>
              <a:latin typeface="Calibri"/>
              <a:ea typeface="Calibri"/>
              <a:cs typeface="Calibri"/>
              <a:sym typeface="Calibri"/>
            </a:endParaRPr>
          </a:p>
          <a:p>
            <a:pPr marL="0" marR="0" lvl="0" indent="0" algn="r" rtl="1">
              <a:lnSpc>
                <a:spcPct val="100000"/>
              </a:lnSpc>
              <a:spcBef>
                <a:spcPts val="0"/>
              </a:spcBef>
              <a:spcAft>
                <a:spcPts val="0"/>
              </a:spcAft>
              <a:buSzPts val="1400"/>
              <a:buNone/>
            </a:pPr>
            <a:r>
              <a:rPr lang="en-US" sz="1200" b="0" i="0" u="none" strike="noStrike" cap="none" dirty="0" err="1">
                <a:solidFill>
                  <a:schemeClr val="dk1"/>
                </a:solidFill>
                <a:latin typeface="Calibri"/>
                <a:ea typeface="Calibri"/>
                <a:cs typeface="Calibri"/>
                <a:sym typeface="Calibri"/>
              </a:rPr>
              <a:t>Preemtive</a:t>
            </a:r>
            <a:r>
              <a:rPr lang="he-IL" sz="1200" b="0" i="0" u="none" strike="noStrike" cap="none" dirty="0">
                <a:solidFill>
                  <a:schemeClr val="dk1"/>
                </a:solidFill>
                <a:latin typeface="Calibri"/>
                <a:ea typeface="Calibri"/>
                <a:cs typeface="Calibri"/>
                <a:sym typeface="Calibri"/>
              </a:rPr>
              <a:t> נותן יותר כוח מ</a:t>
            </a:r>
            <a:r>
              <a:rPr lang="en-US" sz="1200" b="0" i="0" u="none" strike="noStrike" cap="none" dirty="0">
                <a:solidFill>
                  <a:schemeClr val="dk1"/>
                </a:solidFill>
                <a:latin typeface="Calibri"/>
                <a:ea typeface="Calibri"/>
                <a:cs typeface="Calibri"/>
                <a:sym typeface="Calibri"/>
              </a:rPr>
              <a:t>non-</a:t>
            </a:r>
            <a:r>
              <a:rPr lang="en-US" sz="1200" b="0" i="0" u="none" strike="noStrike" cap="none" dirty="0" err="1">
                <a:solidFill>
                  <a:schemeClr val="dk1"/>
                </a:solidFill>
                <a:latin typeface="Calibri"/>
                <a:ea typeface="Calibri"/>
                <a:cs typeface="Calibri"/>
                <a:sym typeface="Calibri"/>
              </a:rPr>
              <a:t>preemtive</a:t>
            </a:r>
            <a:r>
              <a:rPr lang="he-IL" sz="1200" b="0" i="0" u="none" strike="noStrike" cap="none" dirty="0">
                <a:solidFill>
                  <a:schemeClr val="dk1"/>
                </a:solidFill>
                <a:latin typeface="Calibri"/>
                <a:ea typeface="Calibri"/>
                <a:cs typeface="Calibri"/>
                <a:sym typeface="Calibri"/>
              </a:rPr>
              <a:t> כי במצב כזה אלגוריתם התזמון יכול לקבל החלטות בזמן אחר למשל בחר להריץ תהליך א' ואז להפסיק אותו ולתת זמן ריצה לתהליך ב' כי קרה משהו.</a:t>
            </a: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כלומר יש ל</a:t>
            </a:r>
            <a:r>
              <a:rPr lang="en-US" sz="1200" b="0" i="0" u="none" strike="noStrike" cap="none" dirty="0">
                <a:solidFill>
                  <a:schemeClr val="dk1"/>
                </a:solidFill>
                <a:latin typeface="Calibri"/>
                <a:ea typeface="Calibri"/>
                <a:cs typeface="Calibri"/>
                <a:sym typeface="Calibri"/>
              </a:rPr>
              <a:t>scheduler</a:t>
            </a:r>
            <a:r>
              <a:rPr lang="he-IL" sz="1200" b="0" i="0" u="none" strike="noStrike" cap="none" dirty="0">
                <a:solidFill>
                  <a:schemeClr val="dk1"/>
                </a:solidFill>
                <a:latin typeface="Calibri"/>
                <a:ea typeface="Calibri"/>
                <a:cs typeface="Calibri"/>
                <a:sym typeface="Calibri"/>
              </a:rPr>
              <a:t> יותר </a:t>
            </a:r>
            <a:r>
              <a:rPr lang="he-IL" sz="1200" b="0" i="0" u="none" strike="noStrike" cap="none" dirty="0" err="1">
                <a:solidFill>
                  <a:schemeClr val="dk1"/>
                </a:solidFill>
                <a:latin typeface="Calibri"/>
                <a:ea typeface="Calibri"/>
                <a:cs typeface="Calibri"/>
                <a:sym typeface="Calibri"/>
              </a:rPr>
              <a:t>כח</a:t>
            </a:r>
            <a:r>
              <a:rPr lang="he-IL" sz="1200" b="0" i="0" u="none" strike="noStrike" cap="none" dirty="0">
                <a:solidFill>
                  <a:schemeClr val="dk1"/>
                </a:solidFill>
                <a:latin typeface="Calibri"/>
                <a:ea typeface="Calibri"/>
                <a:cs typeface="Calibri"/>
                <a:sym typeface="Calibri"/>
              </a:rPr>
              <a:t>.</a:t>
            </a: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כל מערכות ההפעלה משתמשות ב</a:t>
            </a:r>
            <a:r>
              <a:rPr lang="en-US" sz="1200" b="0" i="0" u="none" strike="noStrike" cap="none" dirty="0" err="1">
                <a:solidFill>
                  <a:schemeClr val="dk1"/>
                </a:solidFill>
                <a:latin typeface="Calibri"/>
                <a:ea typeface="Calibri"/>
                <a:cs typeface="Calibri"/>
                <a:sym typeface="Calibri"/>
              </a:rPr>
              <a:t>preemtive</a:t>
            </a:r>
            <a:r>
              <a:rPr lang="he-IL" sz="1200" b="0" i="0" u="none" strike="noStrike" cap="none" dirty="0">
                <a:solidFill>
                  <a:schemeClr val="dk1"/>
                </a:solidFill>
                <a:latin typeface="Calibri"/>
                <a:ea typeface="Calibri"/>
                <a:cs typeface="Calibri"/>
                <a:sym typeface="Calibri"/>
              </a:rPr>
              <a:t> – בשביל זה צריך תמיכה </a:t>
            </a:r>
            <a:r>
              <a:rPr lang="he-IL" sz="1200" b="0" i="0" u="none" strike="noStrike" cap="none" dirty="0" err="1">
                <a:solidFill>
                  <a:schemeClr val="dk1"/>
                </a:solidFill>
                <a:latin typeface="Calibri"/>
                <a:ea typeface="Calibri"/>
                <a:cs typeface="Calibri"/>
                <a:sym typeface="Calibri"/>
              </a:rPr>
              <a:t>חומרתית</a:t>
            </a:r>
            <a:r>
              <a:rPr lang="he-IL" sz="1200" b="0" i="0" u="none" strike="noStrike" cap="none" dirty="0">
                <a:solidFill>
                  <a:schemeClr val="dk1"/>
                </a:solidFill>
                <a:latin typeface="Calibri"/>
                <a:ea typeface="Calibri"/>
                <a:cs typeface="Calibri"/>
                <a:sym typeface="Calibri"/>
              </a:rPr>
              <a:t>. ב</a:t>
            </a:r>
            <a:r>
              <a:rPr lang="en-US" sz="1200" b="0" i="0" u="none" strike="noStrike" cap="none" dirty="0" err="1">
                <a:solidFill>
                  <a:schemeClr val="dk1"/>
                </a:solidFill>
                <a:latin typeface="Calibri"/>
                <a:ea typeface="Calibri"/>
                <a:cs typeface="Calibri"/>
                <a:sym typeface="Calibri"/>
              </a:rPr>
              <a:t>risc</a:t>
            </a:r>
            <a:r>
              <a:rPr lang="en-US" sz="1200" b="0" i="0" u="none" strike="noStrike" cap="none" dirty="0">
                <a:solidFill>
                  <a:schemeClr val="dk1"/>
                </a:solidFill>
                <a:latin typeface="Calibri"/>
                <a:ea typeface="Calibri"/>
                <a:cs typeface="Calibri"/>
                <a:sym typeface="Calibri"/>
              </a:rPr>
              <a:t>-v</a:t>
            </a:r>
            <a:r>
              <a:rPr lang="he-IL" sz="1200" b="0" i="0" u="none" strike="noStrike" cap="none" dirty="0">
                <a:solidFill>
                  <a:schemeClr val="dk1"/>
                </a:solidFill>
                <a:latin typeface="Calibri"/>
                <a:ea typeface="Calibri"/>
                <a:cs typeface="Calibri"/>
                <a:sym typeface="Calibri"/>
              </a:rPr>
              <a:t> הטיימר שולח כל פרק זמן קבוע (</a:t>
            </a:r>
            <a:r>
              <a:rPr lang="en-US" sz="1200" b="0" i="0" u="none" strike="noStrike" cap="none" dirty="0">
                <a:solidFill>
                  <a:schemeClr val="dk1"/>
                </a:solidFill>
                <a:latin typeface="Calibri"/>
                <a:ea typeface="Calibri"/>
                <a:cs typeface="Calibri"/>
                <a:sym typeface="Calibri"/>
              </a:rPr>
              <a:t>tick</a:t>
            </a:r>
            <a:r>
              <a:rPr lang="he-IL" sz="1200" b="0" i="0" u="none" strike="noStrike" cap="none" dirty="0">
                <a:solidFill>
                  <a:schemeClr val="dk1"/>
                </a:solidFill>
                <a:latin typeface="Calibri"/>
                <a:ea typeface="Calibri"/>
                <a:cs typeface="Calibri"/>
                <a:sym typeface="Calibri"/>
              </a:rPr>
              <a:t>) </a:t>
            </a:r>
            <a:r>
              <a:rPr lang="en-US" sz="1200" b="0" i="0" u="none" strike="noStrike" cap="none" dirty="0">
                <a:solidFill>
                  <a:schemeClr val="dk1"/>
                </a:solidFill>
                <a:latin typeface="Calibri"/>
                <a:ea typeface="Calibri"/>
                <a:cs typeface="Calibri"/>
                <a:sym typeface="Calibri"/>
              </a:rPr>
              <a:t>interrupt</a:t>
            </a:r>
            <a:r>
              <a:rPr lang="he-IL" sz="1200" b="0" i="0" u="none" strike="noStrike" cap="none" dirty="0">
                <a:solidFill>
                  <a:schemeClr val="dk1"/>
                </a:solidFill>
                <a:latin typeface="Calibri"/>
                <a:ea typeface="Calibri"/>
                <a:cs typeface="Calibri"/>
                <a:sym typeface="Calibri"/>
              </a:rPr>
              <a:t> וקורים </a:t>
            </a:r>
            <a:r>
              <a:rPr lang="he-IL" sz="1200" b="0" i="0" u="none" strike="noStrike" cap="none" dirty="0" err="1">
                <a:solidFill>
                  <a:schemeClr val="dk1"/>
                </a:solidFill>
                <a:latin typeface="Calibri"/>
                <a:ea typeface="Calibri"/>
                <a:cs typeface="Calibri"/>
                <a:sym typeface="Calibri"/>
              </a:rPr>
              <a:t>לפונקצית</a:t>
            </a:r>
            <a:r>
              <a:rPr lang="he-IL" sz="1200" b="0" i="0" u="none" strike="noStrike" cap="none" dirty="0">
                <a:solidFill>
                  <a:schemeClr val="dk1"/>
                </a:solidFill>
                <a:latin typeface="Calibri"/>
                <a:ea typeface="Calibri"/>
                <a:cs typeface="Calibri"/>
                <a:sym typeface="Calibri"/>
              </a:rPr>
              <a:t> </a:t>
            </a:r>
            <a:r>
              <a:rPr lang="en-US" sz="1200" b="0" i="0" u="none" strike="noStrike" cap="none" dirty="0">
                <a:solidFill>
                  <a:schemeClr val="dk1"/>
                </a:solidFill>
                <a:latin typeface="Calibri"/>
                <a:ea typeface="Calibri"/>
                <a:cs typeface="Calibri"/>
                <a:sym typeface="Calibri"/>
              </a:rPr>
              <a:t>yield</a:t>
            </a:r>
            <a:r>
              <a:rPr lang="he-IL" sz="1200" b="0" i="0" u="none" strike="noStrike" cap="none" dirty="0">
                <a:solidFill>
                  <a:schemeClr val="dk1"/>
                </a:solidFill>
                <a:latin typeface="Calibri"/>
                <a:ea typeface="Calibri"/>
                <a:cs typeface="Calibri"/>
                <a:sym typeface="Calibri"/>
              </a:rPr>
              <a:t>.</a:t>
            </a:r>
          </a:p>
        </p:txBody>
      </p:sp>
      <p:sp>
        <p:nvSpPr>
          <p:cNvPr id="349" name="Google Shape;349;p11:notes"/>
          <p:cNvSpPr txBox="1">
            <a:spLocks noGrp="1"/>
          </p:cNvSpPr>
          <p:nvPr>
            <p:ph type="sldNum" idx="12"/>
          </p:nvPr>
        </p:nvSpPr>
        <p:spPr>
          <a:xfrm>
            <a:off x="3805238" y="9361488"/>
            <a:ext cx="2911475" cy="492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b="0" i="0" u="none" strike="noStrike" cap="none">
                <a:solidFill>
                  <a:schemeClr val="dk1"/>
                </a:solidFill>
                <a:latin typeface="Calibri"/>
                <a:ea typeface="Calibri"/>
                <a:cs typeface="Calibri"/>
                <a:sym typeface="Calibri"/>
              </a:rPr>
              <a:t>18</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2: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360"/>
              </a:spcBef>
              <a:spcAft>
                <a:spcPts val="0"/>
              </a:spcAft>
              <a:buSzPts val="1400"/>
              <a:buNone/>
            </a:pPr>
            <a:r>
              <a:rPr lang="he-IL" dirty="0"/>
              <a:t>ישנם 5 מדדים שבעזרתם נמדוד את אלגוריתמי התזמון שלנו ונכריע אם אלגוריתם מסוים הוא טוב או לא:</a:t>
            </a:r>
          </a:p>
          <a:p>
            <a:pPr marL="228600" lvl="0" indent="-228600" algn="r" rtl="1">
              <a:lnSpc>
                <a:spcPct val="100000"/>
              </a:lnSpc>
              <a:spcBef>
                <a:spcPts val="360"/>
              </a:spcBef>
              <a:spcAft>
                <a:spcPts val="0"/>
              </a:spcAft>
              <a:buSzPts val="1400"/>
              <a:buAutoNum type="arabicParenR"/>
            </a:pPr>
            <a:r>
              <a:rPr lang="en-US" dirty="0"/>
              <a:t>Throughput</a:t>
            </a:r>
            <a:r>
              <a:rPr lang="he-IL" dirty="0"/>
              <a:t> – בפרק זמן כלשהו כמה תהליכים הסתיימו. ככל שאלגוריתם יותר טוב ככה ה</a:t>
            </a:r>
            <a:r>
              <a:rPr lang="en-US" dirty="0"/>
              <a:t>throughput</a:t>
            </a:r>
            <a:r>
              <a:rPr lang="he-IL" dirty="0"/>
              <a:t> יותר גבוה.</a:t>
            </a:r>
          </a:p>
          <a:p>
            <a:pPr marL="228600" lvl="0" indent="-228600" algn="r" rtl="1">
              <a:lnSpc>
                <a:spcPct val="100000"/>
              </a:lnSpc>
              <a:spcBef>
                <a:spcPts val="360"/>
              </a:spcBef>
              <a:spcAft>
                <a:spcPts val="0"/>
              </a:spcAft>
              <a:buSzPts val="1400"/>
              <a:buAutoNum type="arabicParenR"/>
            </a:pPr>
            <a:r>
              <a:rPr lang="en-US" sz="1200" b="0" i="0" u="none" strike="noStrike" cap="none" dirty="0">
                <a:solidFill>
                  <a:schemeClr val="dk1"/>
                </a:solidFill>
                <a:latin typeface="Calibri"/>
                <a:ea typeface="Calibri"/>
                <a:cs typeface="Calibri"/>
                <a:sym typeface="Calibri"/>
              </a:rPr>
              <a:t>Turnaround time </a:t>
            </a:r>
            <a:r>
              <a:rPr lang="he-IL" sz="1200" b="0" i="0" u="none" strike="noStrike" cap="none" dirty="0">
                <a:solidFill>
                  <a:schemeClr val="dk1"/>
                </a:solidFill>
                <a:latin typeface="Calibri"/>
                <a:ea typeface="Calibri"/>
                <a:cs typeface="Calibri"/>
                <a:sym typeface="Calibri"/>
              </a:rPr>
              <a:t> - כמה זמן עבר מרגע שתהליך נוצר עד הרגע בו הוא הסתיים. ניתן למדוד גם ממוצע עבור כל התהליכים</a:t>
            </a:r>
          </a:p>
          <a:p>
            <a:pPr marL="228600" lvl="0" indent="-228600" algn="r" rtl="1">
              <a:lnSpc>
                <a:spcPct val="100000"/>
              </a:lnSpc>
              <a:spcBef>
                <a:spcPts val="360"/>
              </a:spcBef>
              <a:spcAft>
                <a:spcPts val="0"/>
              </a:spcAft>
              <a:buSzPts val="1400"/>
              <a:buAutoNum type="arabicParenR"/>
            </a:pPr>
            <a:r>
              <a:rPr lang="en-US" sz="1200" b="0" i="0" u="none" strike="noStrike" cap="none" dirty="0">
                <a:solidFill>
                  <a:schemeClr val="dk1"/>
                </a:solidFill>
                <a:latin typeface="Calibri"/>
                <a:ea typeface="Calibri"/>
                <a:cs typeface="Calibri"/>
                <a:sym typeface="Calibri"/>
              </a:rPr>
              <a:t>Waiting time</a:t>
            </a:r>
            <a:r>
              <a:rPr lang="he-IL" sz="1200" b="0" i="0" u="none" strike="noStrike" cap="none" dirty="0">
                <a:solidFill>
                  <a:schemeClr val="dk1"/>
                </a:solidFill>
                <a:latin typeface="Calibri"/>
                <a:ea typeface="Calibri"/>
                <a:cs typeface="Calibri"/>
                <a:sym typeface="Calibri"/>
              </a:rPr>
              <a:t> – כמה זמן התהליך היה במצב של </a:t>
            </a:r>
            <a:r>
              <a:rPr lang="en-US" sz="1200" b="0" i="0" u="none" strike="noStrike" cap="none" dirty="0">
                <a:solidFill>
                  <a:schemeClr val="dk1"/>
                </a:solidFill>
                <a:latin typeface="Calibri"/>
                <a:ea typeface="Calibri"/>
                <a:cs typeface="Calibri"/>
                <a:sym typeface="Calibri"/>
              </a:rPr>
              <a:t>runnable/ready</a:t>
            </a:r>
            <a:r>
              <a:rPr lang="he-IL" sz="1200" b="0" i="0" u="none" strike="noStrike" cap="none" dirty="0">
                <a:solidFill>
                  <a:schemeClr val="dk1"/>
                </a:solidFill>
                <a:latin typeface="Calibri"/>
                <a:ea typeface="Calibri"/>
                <a:cs typeface="Calibri"/>
                <a:sym typeface="Calibri"/>
              </a:rPr>
              <a:t>. כמה זמן התהליך חיכה ל</a:t>
            </a:r>
            <a:r>
              <a:rPr lang="en-US" sz="1200" b="0" i="0" u="none" strike="noStrike" cap="none" dirty="0">
                <a:solidFill>
                  <a:schemeClr val="dk1"/>
                </a:solidFill>
                <a:latin typeface="Calibri"/>
                <a:ea typeface="Calibri"/>
                <a:cs typeface="Calibri"/>
                <a:sym typeface="Calibri"/>
              </a:rPr>
              <a:t>scheduler</a:t>
            </a:r>
            <a:r>
              <a:rPr lang="he-IL" sz="1200" b="0" i="0" u="none" strike="noStrike" cap="none" dirty="0">
                <a:solidFill>
                  <a:schemeClr val="dk1"/>
                </a:solidFill>
                <a:latin typeface="Calibri"/>
                <a:ea typeface="Calibri"/>
                <a:cs typeface="Calibri"/>
                <a:sym typeface="Calibri"/>
              </a:rPr>
              <a:t>. מצב </a:t>
            </a:r>
            <a:r>
              <a:rPr lang="en-US" sz="1200" b="0" i="0" u="none" strike="noStrike" cap="none" dirty="0">
                <a:solidFill>
                  <a:schemeClr val="dk1"/>
                </a:solidFill>
                <a:latin typeface="Calibri"/>
                <a:ea typeface="Calibri"/>
                <a:cs typeface="Calibri"/>
                <a:sym typeface="Calibri"/>
              </a:rPr>
              <a:t>sleeping </a:t>
            </a:r>
            <a:r>
              <a:rPr lang="he-IL" sz="1200" b="0" i="0" u="none" strike="noStrike" cap="none" dirty="0">
                <a:solidFill>
                  <a:schemeClr val="dk1"/>
                </a:solidFill>
                <a:latin typeface="Calibri"/>
                <a:ea typeface="Calibri"/>
                <a:cs typeface="Calibri"/>
                <a:sym typeface="Calibri"/>
              </a:rPr>
              <a:t> ומחכה למנעול זה לא מעניין.</a:t>
            </a:r>
          </a:p>
          <a:p>
            <a:pPr marL="228600" lvl="0" indent="-228600" algn="r" rtl="1">
              <a:lnSpc>
                <a:spcPct val="100000"/>
              </a:lnSpc>
              <a:spcBef>
                <a:spcPts val="360"/>
              </a:spcBef>
              <a:spcAft>
                <a:spcPts val="0"/>
              </a:spcAft>
              <a:buSzPts val="1400"/>
              <a:buAutoNum type="arabicParenR"/>
            </a:pPr>
            <a:r>
              <a:rPr lang="en-US" sz="1200" b="0" i="0" u="none" strike="noStrike" cap="none" dirty="0">
                <a:solidFill>
                  <a:schemeClr val="dk1"/>
                </a:solidFill>
                <a:latin typeface="Calibri"/>
                <a:ea typeface="Calibri"/>
                <a:cs typeface="Calibri"/>
                <a:sym typeface="Calibri"/>
              </a:rPr>
              <a:t>Response time</a:t>
            </a:r>
            <a:r>
              <a:rPr lang="he-IL" sz="1200" b="0" i="0" u="none" strike="noStrike" cap="none" dirty="0">
                <a:solidFill>
                  <a:schemeClr val="dk1"/>
                </a:solidFill>
                <a:latin typeface="Calibri"/>
                <a:ea typeface="Calibri"/>
                <a:cs typeface="Calibri"/>
                <a:sym typeface="Calibri"/>
              </a:rPr>
              <a:t> – כשמדובר בתהליך אינטראקטיבי ובו יש הרצת </a:t>
            </a:r>
            <a:r>
              <a:rPr lang="en-US" sz="1200" b="0" i="0" u="none" strike="noStrike" cap="none" dirty="0">
                <a:solidFill>
                  <a:schemeClr val="dk1"/>
                </a:solidFill>
                <a:latin typeface="Calibri"/>
                <a:ea typeface="Calibri"/>
                <a:cs typeface="Calibri"/>
                <a:sym typeface="Calibri"/>
              </a:rPr>
              <a:t>I/O</a:t>
            </a:r>
            <a:r>
              <a:rPr lang="he-IL" sz="1200" b="0" i="0" u="none" strike="noStrike" cap="none" dirty="0">
                <a:solidFill>
                  <a:schemeClr val="dk1"/>
                </a:solidFill>
                <a:latin typeface="Calibri"/>
                <a:ea typeface="Calibri"/>
                <a:cs typeface="Calibri"/>
                <a:sym typeface="Calibri"/>
              </a:rPr>
              <a:t> אז זה הזמן שעבר מהרגע שבו נוצר התהליך עד שהתקבל הפלט הראשוני. אלגוריתם התזמון צריך לתת להם התחשבות ולהריצם קודם כדי להעיף אותם מה</a:t>
            </a:r>
            <a:r>
              <a:rPr lang="en-US" sz="1200" b="0" i="0" u="none" strike="noStrike" cap="none" dirty="0" err="1">
                <a:solidFill>
                  <a:schemeClr val="dk1"/>
                </a:solidFill>
                <a:latin typeface="Calibri"/>
                <a:ea typeface="Calibri"/>
                <a:cs typeface="Calibri"/>
                <a:sym typeface="Calibri"/>
              </a:rPr>
              <a:t>cpu</a:t>
            </a:r>
            <a:r>
              <a:rPr lang="he-IL" sz="1200" b="0" i="0" u="none" strike="noStrike" cap="none" dirty="0">
                <a:solidFill>
                  <a:schemeClr val="dk1"/>
                </a:solidFill>
                <a:latin typeface="Calibri"/>
                <a:ea typeface="Calibri"/>
                <a:cs typeface="Calibri"/>
                <a:sym typeface="Calibri"/>
              </a:rPr>
              <a:t> כי</a:t>
            </a:r>
            <a:r>
              <a:rPr lang="en-US" sz="1200" b="0" i="0" u="none" strike="noStrike" cap="none" dirty="0">
                <a:solidFill>
                  <a:schemeClr val="dk1"/>
                </a:solidFill>
                <a:latin typeface="Calibri"/>
                <a:ea typeface="Calibri"/>
                <a:cs typeface="Calibri"/>
                <a:sym typeface="Calibri"/>
              </a:rPr>
              <a:t>I/O </a:t>
            </a:r>
            <a:r>
              <a:rPr lang="he-IL" sz="1200" b="0" i="0" u="none" strike="noStrike" cap="none" dirty="0">
                <a:solidFill>
                  <a:schemeClr val="dk1"/>
                </a:solidFill>
                <a:latin typeface="Calibri"/>
                <a:ea typeface="Calibri"/>
                <a:cs typeface="Calibri"/>
                <a:sym typeface="Calibri"/>
              </a:rPr>
              <a:t> לא מעניין את ה</a:t>
            </a:r>
            <a:r>
              <a:rPr lang="en-US" sz="1200" b="0" i="0" u="none" strike="noStrike" cap="none" dirty="0">
                <a:solidFill>
                  <a:schemeClr val="dk1"/>
                </a:solidFill>
                <a:latin typeface="Calibri"/>
                <a:ea typeface="Calibri"/>
                <a:cs typeface="Calibri"/>
                <a:sym typeface="Calibri"/>
              </a:rPr>
              <a:t>scheduler</a:t>
            </a:r>
            <a:r>
              <a:rPr lang="he-IL" sz="1200" b="0" i="0" u="none" strike="noStrike" cap="none" dirty="0">
                <a:solidFill>
                  <a:schemeClr val="dk1"/>
                </a:solidFill>
                <a:latin typeface="Calibri"/>
                <a:ea typeface="Calibri"/>
                <a:cs typeface="Calibri"/>
                <a:sym typeface="Calibri"/>
              </a:rPr>
              <a:t>.</a:t>
            </a:r>
          </a:p>
          <a:p>
            <a:pPr marL="228600" lvl="0" indent="-228600" algn="r" rtl="1">
              <a:lnSpc>
                <a:spcPct val="100000"/>
              </a:lnSpc>
              <a:spcBef>
                <a:spcPts val="360"/>
              </a:spcBef>
              <a:spcAft>
                <a:spcPts val="0"/>
              </a:spcAft>
              <a:buSzPts val="1400"/>
              <a:buAutoNum type="arabicParenR"/>
            </a:pPr>
            <a:r>
              <a:rPr lang="en-US" sz="1200" b="0" i="0" u="none" strike="noStrike" cap="none" dirty="0">
                <a:solidFill>
                  <a:schemeClr val="dk1"/>
                </a:solidFill>
                <a:latin typeface="Calibri"/>
                <a:ea typeface="Calibri"/>
                <a:cs typeface="Calibri"/>
                <a:sym typeface="Calibri"/>
              </a:rPr>
              <a:t>CPU utilization</a:t>
            </a:r>
            <a:r>
              <a:rPr lang="he-IL" sz="1200" b="0" i="0" u="none" strike="noStrike" cap="none" dirty="0">
                <a:solidFill>
                  <a:schemeClr val="dk1"/>
                </a:solidFill>
                <a:latin typeface="Calibri"/>
                <a:ea typeface="Calibri"/>
                <a:cs typeface="Calibri"/>
                <a:sym typeface="Calibri"/>
              </a:rPr>
              <a:t> – כמה זמן בסך הכל ה</a:t>
            </a:r>
            <a:r>
              <a:rPr lang="en-US" sz="1200" b="0" i="0" u="none" strike="noStrike" cap="none" dirty="0" err="1">
                <a:solidFill>
                  <a:schemeClr val="dk1"/>
                </a:solidFill>
                <a:latin typeface="Calibri"/>
                <a:ea typeface="Calibri"/>
                <a:cs typeface="Calibri"/>
                <a:sym typeface="Calibri"/>
              </a:rPr>
              <a:t>cpu</a:t>
            </a:r>
            <a:r>
              <a:rPr lang="he-IL" sz="1200" b="0" i="0" u="none" strike="noStrike" cap="none" dirty="0">
                <a:solidFill>
                  <a:schemeClr val="dk1"/>
                </a:solidFill>
                <a:latin typeface="Calibri"/>
                <a:ea typeface="Calibri"/>
                <a:cs typeface="Calibri"/>
                <a:sym typeface="Calibri"/>
              </a:rPr>
              <a:t> פעל, הריץ תהליכים ולא היה ב</a:t>
            </a:r>
            <a:r>
              <a:rPr lang="en-US" sz="1200" b="0" i="0" u="none" strike="noStrike" cap="none" dirty="0">
                <a:solidFill>
                  <a:schemeClr val="dk1"/>
                </a:solidFill>
                <a:latin typeface="Calibri"/>
                <a:ea typeface="Calibri"/>
                <a:cs typeface="Calibri"/>
                <a:sym typeface="Calibri"/>
              </a:rPr>
              <a:t>scheduling</a:t>
            </a:r>
            <a:r>
              <a:rPr lang="he-IL" sz="1200" b="0" i="0" u="none" strike="noStrike" cap="none" dirty="0">
                <a:solidFill>
                  <a:schemeClr val="dk1"/>
                </a:solidFill>
                <a:latin typeface="Calibri"/>
                <a:ea typeface="Calibri"/>
                <a:cs typeface="Calibri"/>
                <a:sym typeface="Calibri"/>
              </a:rPr>
              <a:t>, לא היה ב</a:t>
            </a:r>
            <a:r>
              <a:rPr lang="en-US" sz="1200" b="0" i="0" u="none" strike="noStrike" cap="none" dirty="0">
                <a:solidFill>
                  <a:schemeClr val="dk1"/>
                </a:solidFill>
                <a:latin typeface="Calibri"/>
                <a:ea typeface="Calibri"/>
                <a:cs typeface="Calibri"/>
                <a:sym typeface="Calibri"/>
              </a:rPr>
              <a:t> </a:t>
            </a:r>
            <a:r>
              <a:rPr lang="he-IL" sz="1200" b="0" i="0" u="none" strike="noStrike" cap="none" dirty="0">
                <a:solidFill>
                  <a:schemeClr val="dk1"/>
                </a:solidFill>
                <a:latin typeface="Calibri"/>
                <a:ea typeface="Calibri"/>
                <a:cs typeface="Calibri"/>
                <a:sym typeface="Calibri"/>
              </a:rPr>
              <a:t> </a:t>
            </a:r>
            <a:r>
              <a:rPr lang="en-US" sz="1200" b="0" i="0" u="none" strike="noStrike" cap="none" dirty="0">
                <a:solidFill>
                  <a:schemeClr val="dk1"/>
                </a:solidFill>
                <a:latin typeface="Calibri"/>
                <a:ea typeface="Calibri"/>
                <a:cs typeface="Calibri"/>
                <a:sym typeface="Calibri"/>
              </a:rPr>
              <a:t>I/O</a:t>
            </a:r>
            <a:r>
              <a:rPr lang="he-IL" sz="1200" b="0" i="0" u="none" strike="noStrike" cap="none" dirty="0">
                <a:solidFill>
                  <a:schemeClr val="dk1"/>
                </a:solidFill>
                <a:latin typeface="Calibri"/>
                <a:ea typeface="Calibri"/>
                <a:cs typeface="Calibri"/>
                <a:sym typeface="Calibri"/>
              </a:rPr>
              <a:t>.</a:t>
            </a:r>
          </a:p>
          <a:p>
            <a:pPr marL="0" lvl="0" indent="0" algn="r" rtl="1">
              <a:lnSpc>
                <a:spcPct val="100000"/>
              </a:lnSpc>
              <a:spcBef>
                <a:spcPts val="360"/>
              </a:spcBef>
              <a:spcAft>
                <a:spcPts val="0"/>
              </a:spcAft>
              <a:buSzPts val="1400"/>
              <a:buNone/>
            </a:pPr>
            <a:r>
              <a:rPr lang="he-IL" sz="1200" b="0" i="0" u="none" strike="noStrike" cap="none" dirty="0">
                <a:solidFill>
                  <a:schemeClr val="dk1"/>
                </a:solidFill>
                <a:latin typeface="Calibri"/>
                <a:ea typeface="Calibri"/>
                <a:cs typeface="Calibri"/>
                <a:sym typeface="Calibri"/>
              </a:rPr>
              <a:t>דוגמא (נראה אותה בסוף התרגול) – במערכת שמריצה תהליך אחד בלבד והוא מחכה לרוץ ו60%</a:t>
            </a:r>
            <a:r>
              <a:rPr lang="en-US" sz="1200" b="0" i="0" u="none" strike="noStrike" cap="none" dirty="0">
                <a:solidFill>
                  <a:schemeClr val="dk1"/>
                </a:solidFill>
                <a:latin typeface="Calibri"/>
                <a:ea typeface="Calibri"/>
                <a:cs typeface="Calibri"/>
                <a:sym typeface="Calibri"/>
              </a:rPr>
              <a:t> </a:t>
            </a:r>
            <a:r>
              <a:rPr lang="he-IL" sz="1200" b="0" i="0" u="none" strike="noStrike" cap="none" dirty="0">
                <a:solidFill>
                  <a:schemeClr val="dk1"/>
                </a:solidFill>
                <a:latin typeface="Calibri"/>
                <a:ea typeface="Calibri"/>
                <a:cs typeface="Calibri"/>
                <a:sym typeface="Calibri"/>
              </a:rPr>
              <a:t>מהזמן רק ו40% ממתין ל </a:t>
            </a:r>
            <a:r>
              <a:rPr lang="en-US" sz="1200" b="0" i="0" u="none" strike="noStrike" cap="none" dirty="0">
                <a:solidFill>
                  <a:schemeClr val="dk1"/>
                </a:solidFill>
                <a:latin typeface="Calibri"/>
                <a:ea typeface="Calibri"/>
                <a:cs typeface="Calibri"/>
                <a:sym typeface="Calibri"/>
              </a:rPr>
              <a:t>I/O</a:t>
            </a:r>
            <a:r>
              <a:rPr lang="he-IL" sz="1200" b="0" i="0" u="none" strike="noStrike" cap="none" dirty="0">
                <a:solidFill>
                  <a:schemeClr val="dk1"/>
                </a:solidFill>
                <a:latin typeface="Calibri"/>
                <a:ea typeface="Calibri"/>
                <a:cs typeface="Calibri"/>
                <a:sym typeface="Calibri"/>
              </a:rPr>
              <a:t>, מה </a:t>
            </a:r>
            <a:r>
              <a:rPr lang="en-US" sz="1200" b="0" i="0" u="none" strike="noStrike" cap="none" dirty="0" err="1">
                <a:solidFill>
                  <a:schemeClr val="dk1"/>
                </a:solidFill>
                <a:latin typeface="Calibri"/>
                <a:ea typeface="Calibri"/>
                <a:cs typeface="Calibri"/>
                <a:sym typeface="Calibri"/>
              </a:rPr>
              <a:t>cpu</a:t>
            </a:r>
            <a:r>
              <a:rPr lang="en-US" sz="1200" b="0" i="0" u="none" strike="noStrike" cap="none" dirty="0">
                <a:solidFill>
                  <a:schemeClr val="dk1"/>
                </a:solidFill>
                <a:latin typeface="Calibri"/>
                <a:ea typeface="Calibri"/>
                <a:cs typeface="Calibri"/>
                <a:sym typeface="Calibri"/>
              </a:rPr>
              <a:t> </a:t>
            </a:r>
            <a:r>
              <a:rPr lang="en-US" sz="1200" b="0" i="0" u="none" strike="noStrike" cap="none" dirty="0" err="1">
                <a:solidFill>
                  <a:schemeClr val="dk1"/>
                </a:solidFill>
                <a:latin typeface="Calibri"/>
                <a:ea typeface="Calibri"/>
                <a:cs typeface="Calibri"/>
                <a:sym typeface="Calibri"/>
              </a:rPr>
              <a:t>utilixation</a:t>
            </a:r>
            <a:r>
              <a:rPr lang="he-IL" sz="1200" b="0" i="0" u="none" strike="noStrike" cap="none" dirty="0">
                <a:solidFill>
                  <a:schemeClr val="dk1"/>
                </a:solidFill>
                <a:latin typeface="Calibri"/>
                <a:ea typeface="Calibri"/>
                <a:cs typeface="Calibri"/>
                <a:sym typeface="Calibri"/>
              </a:rPr>
              <a:t> במקרה הזה? </a:t>
            </a:r>
            <a:r>
              <a:rPr lang="en-US" sz="1200" b="0" i="0" u="none" strike="noStrike" cap="none" dirty="0">
                <a:solidFill>
                  <a:schemeClr val="dk1"/>
                </a:solidFill>
                <a:latin typeface="Calibri"/>
                <a:ea typeface="Calibri"/>
                <a:cs typeface="Calibri"/>
                <a:sym typeface="Calibri"/>
              </a:rPr>
              <a:t>60%</a:t>
            </a:r>
            <a:r>
              <a:rPr lang="he-IL" sz="1200" b="0" i="0" u="none" strike="noStrike" cap="none" dirty="0">
                <a:solidFill>
                  <a:schemeClr val="dk1"/>
                </a:solidFill>
                <a:latin typeface="Calibri"/>
                <a:ea typeface="Calibri"/>
                <a:cs typeface="Calibri"/>
                <a:sym typeface="Calibri"/>
              </a:rPr>
              <a:t> כי ב40% מהזמן הייתה המתנה ל </a:t>
            </a:r>
            <a:r>
              <a:rPr lang="en-US" sz="1200" b="0" i="0" u="none" strike="noStrike" cap="none" dirty="0">
                <a:solidFill>
                  <a:schemeClr val="dk1"/>
                </a:solidFill>
                <a:latin typeface="Calibri"/>
                <a:ea typeface="Calibri"/>
                <a:cs typeface="Calibri"/>
                <a:sym typeface="Calibri"/>
              </a:rPr>
              <a:t>I/O</a:t>
            </a:r>
            <a:r>
              <a:rPr lang="he-IL" sz="1200" b="0" i="0" u="none" strike="noStrike" cap="none" dirty="0">
                <a:solidFill>
                  <a:schemeClr val="dk1"/>
                </a:solidFill>
                <a:latin typeface="Calibri"/>
                <a:ea typeface="Calibri"/>
                <a:cs typeface="Calibri"/>
                <a:sym typeface="Calibri"/>
              </a:rPr>
              <a:t>. אם היה תהליך נוסף להריץ במקום זה שממתין ל</a:t>
            </a:r>
            <a:r>
              <a:rPr lang="en-US" sz="1200" b="0" i="0" u="none" strike="noStrike" cap="none" dirty="0">
                <a:solidFill>
                  <a:schemeClr val="dk1"/>
                </a:solidFill>
                <a:latin typeface="Calibri"/>
                <a:ea typeface="Calibri"/>
                <a:cs typeface="Calibri"/>
                <a:sym typeface="Calibri"/>
              </a:rPr>
              <a:t>I</a:t>
            </a:r>
            <a:r>
              <a:rPr lang="he-IL" sz="1200" b="0" i="0" u="none" strike="noStrike" cap="none" dirty="0">
                <a:solidFill>
                  <a:schemeClr val="dk1"/>
                </a:solidFill>
                <a:latin typeface="Calibri"/>
                <a:ea typeface="Calibri"/>
                <a:cs typeface="Calibri"/>
                <a:sym typeface="Calibri"/>
              </a:rPr>
              <a:t> </a:t>
            </a:r>
            <a:r>
              <a:rPr lang="en-US" sz="1200" b="0" i="0" u="none" strike="noStrike" cap="none" dirty="0">
                <a:solidFill>
                  <a:schemeClr val="dk1"/>
                </a:solidFill>
                <a:latin typeface="Calibri"/>
                <a:ea typeface="Calibri"/>
                <a:cs typeface="Calibri"/>
                <a:sym typeface="Calibri"/>
              </a:rPr>
              <a:t>I/O</a:t>
            </a:r>
            <a:r>
              <a:rPr lang="he-IL" sz="1200" b="0" i="0" u="none" strike="noStrike" cap="none" dirty="0">
                <a:solidFill>
                  <a:schemeClr val="dk1"/>
                </a:solidFill>
                <a:latin typeface="Calibri"/>
                <a:ea typeface="Calibri"/>
                <a:cs typeface="Calibri"/>
                <a:sym typeface="Calibri"/>
              </a:rPr>
              <a:t> אז ה</a:t>
            </a:r>
            <a:r>
              <a:rPr lang="en-US" sz="1200" b="0" i="0" u="none" strike="noStrike" cap="none" dirty="0">
                <a:solidFill>
                  <a:schemeClr val="dk1"/>
                </a:solidFill>
                <a:latin typeface="Calibri"/>
                <a:ea typeface="Calibri"/>
                <a:cs typeface="Calibri"/>
                <a:sym typeface="Calibri"/>
              </a:rPr>
              <a:t>utilization </a:t>
            </a:r>
            <a:r>
              <a:rPr lang="he-IL" sz="1200" b="0" i="0" u="none" strike="noStrike" cap="none" dirty="0">
                <a:solidFill>
                  <a:schemeClr val="dk1"/>
                </a:solidFill>
                <a:latin typeface="Calibri"/>
                <a:ea typeface="Calibri"/>
                <a:cs typeface="Calibri"/>
                <a:sym typeface="Calibri"/>
              </a:rPr>
              <a:t> היה 100% אם מתעלמים מ</a:t>
            </a:r>
            <a:r>
              <a:rPr lang="en-US" sz="1200" b="0" i="0" u="none" strike="noStrike" cap="none" dirty="0">
                <a:solidFill>
                  <a:schemeClr val="dk1"/>
                </a:solidFill>
                <a:latin typeface="Calibri"/>
                <a:ea typeface="Calibri"/>
                <a:cs typeface="Calibri"/>
                <a:sym typeface="Calibri"/>
              </a:rPr>
              <a:t>context switching</a:t>
            </a:r>
            <a:r>
              <a:rPr lang="he-IL" sz="1200" b="0" i="0" u="none" strike="noStrike" cap="none" dirty="0">
                <a:solidFill>
                  <a:schemeClr val="dk1"/>
                </a:solidFill>
                <a:latin typeface="Calibri"/>
                <a:ea typeface="Calibri"/>
                <a:cs typeface="Calibri"/>
                <a:sym typeface="Calibri"/>
              </a:rPr>
              <a:t>.</a:t>
            </a:r>
            <a:endParaRPr dirty="0"/>
          </a:p>
        </p:txBody>
      </p:sp>
      <p:sp>
        <p:nvSpPr>
          <p:cNvPr id="356" name="Google Shape;356;p12: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13: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360"/>
              </a:spcBef>
              <a:spcAft>
                <a:spcPts val="0"/>
              </a:spcAft>
              <a:buSzPts val="1400"/>
              <a:buNone/>
            </a:pPr>
            <a:r>
              <a:rPr lang="en-US" dirty="0"/>
              <a:t>Convoy Effect - </a:t>
            </a:r>
            <a:r>
              <a:rPr lang="en-US" sz="1200" b="0" i="0" u="none" strike="noStrike" cap="none" dirty="0">
                <a:solidFill>
                  <a:schemeClr val="dk1"/>
                </a:solidFill>
                <a:latin typeface="Calibri"/>
                <a:ea typeface="Calibri"/>
                <a:cs typeface="Calibri"/>
                <a:sym typeface="Calibri"/>
              </a:rPr>
              <a:t>one slow process slows down the performance of the entire set of processes. For instance: if the burst time of the first process is highest among all.</a:t>
            </a:r>
            <a:endParaRPr lang="he-IL" sz="1200" b="0" i="0" u="none" strike="noStrike" cap="none" dirty="0">
              <a:solidFill>
                <a:schemeClr val="dk1"/>
              </a:solidFill>
              <a:latin typeface="Calibri"/>
              <a:ea typeface="Calibri"/>
              <a:cs typeface="Calibri"/>
              <a:sym typeface="Calibri"/>
            </a:endParaRPr>
          </a:p>
          <a:p>
            <a:pPr marL="0" lvl="0" indent="0" algn="r" rtl="1">
              <a:lnSpc>
                <a:spcPct val="100000"/>
              </a:lnSpc>
              <a:spcBef>
                <a:spcPts val="360"/>
              </a:spcBef>
              <a:spcAft>
                <a:spcPts val="0"/>
              </a:spcAft>
              <a:buSzPts val="1400"/>
              <a:buNone/>
            </a:pPr>
            <a:endParaRPr lang="he-IL" sz="1200" b="0" i="0" u="none" strike="noStrike" cap="none" dirty="0">
              <a:solidFill>
                <a:schemeClr val="dk1"/>
              </a:solidFill>
              <a:latin typeface="Calibri"/>
              <a:ea typeface="Calibri"/>
              <a:cs typeface="Calibri"/>
              <a:sym typeface="Calibri"/>
            </a:endParaRPr>
          </a:p>
          <a:p>
            <a:pPr marL="0" lvl="0" indent="0" algn="r" rtl="1">
              <a:lnSpc>
                <a:spcPct val="100000"/>
              </a:lnSpc>
              <a:spcBef>
                <a:spcPts val="360"/>
              </a:spcBef>
              <a:spcAft>
                <a:spcPts val="0"/>
              </a:spcAft>
              <a:buSzPts val="1400"/>
              <a:buNone/>
            </a:pPr>
            <a:endParaRPr lang="he-IL" sz="1200" b="0" i="0" u="none" strike="noStrike" cap="none" dirty="0">
              <a:solidFill>
                <a:schemeClr val="dk1"/>
              </a:solidFill>
              <a:latin typeface="Calibri"/>
              <a:ea typeface="Calibri"/>
              <a:cs typeface="Calibri"/>
              <a:sym typeface="Calibri"/>
            </a:endParaRPr>
          </a:p>
          <a:p>
            <a:pPr marL="0" lvl="0" indent="0" algn="r" rtl="1">
              <a:lnSpc>
                <a:spcPct val="100000"/>
              </a:lnSpc>
              <a:spcBef>
                <a:spcPts val="360"/>
              </a:spcBef>
              <a:spcAft>
                <a:spcPts val="0"/>
              </a:spcAft>
              <a:buSzPts val="1400"/>
              <a:buNone/>
            </a:pPr>
            <a:r>
              <a:rPr lang="he-IL" dirty="0"/>
              <a:t>האלגוריתם </a:t>
            </a:r>
            <a:r>
              <a:rPr lang="en-US" dirty="0"/>
              <a:t>FCFS</a:t>
            </a:r>
            <a:r>
              <a:rPr lang="he-IL" dirty="0"/>
              <a:t> – </a:t>
            </a:r>
            <a:r>
              <a:rPr lang="en-US" dirty="0"/>
              <a:t>non preemptive</a:t>
            </a:r>
            <a:r>
              <a:rPr lang="he-IL" dirty="0"/>
              <a:t>:</a:t>
            </a:r>
          </a:p>
          <a:p>
            <a:pPr marL="0" lvl="0" indent="0" algn="r" rtl="1">
              <a:lnSpc>
                <a:spcPct val="100000"/>
              </a:lnSpc>
              <a:spcBef>
                <a:spcPts val="360"/>
              </a:spcBef>
              <a:spcAft>
                <a:spcPts val="0"/>
              </a:spcAft>
              <a:buSzPts val="1400"/>
              <a:buNone/>
            </a:pPr>
            <a:r>
              <a:rPr lang="he-IL" dirty="0"/>
              <a:t>אלגוריתם שהקופות בסופר משתמשות בו – מי שמגיע ראשון מקבל שירות עד שיסיים. בכל קופה (</a:t>
            </a:r>
            <a:r>
              <a:rPr lang="en-US" dirty="0" err="1"/>
              <a:t>cpu</a:t>
            </a:r>
            <a:r>
              <a:rPr lang="he-IL" dirty="0"/>
              <a:t>) הראשון שהגיע מקבל שירות ואז התהליך הבא וכן הלאה. דוגמא למה זה לא טוב. אם לקוח</a:t>
            </a:r>
            <a:r>
              <a:rPr lang="en-US" dirty="0"/>
              <a:t>/</a:t>
            </a:r>
            <a:r>
              <a:rPr lang="he-IL" dirty="0"/>
              <a:t>תהליך ראשון הוא עם 300 מוצרים ואחרים עם מוצר 1 בלבד אז הבאים ידפקו.</a:t>
            </a:r>
          </a:p>
          <a:p>
            <a:pPr marL="0" lvl="0" indent="0" algn="r" rtl="1">
              <a:lnSpc>
                <a:spcPct val="100000"/>
              </a:lnSpc>
              <a:spcBef>
                <a:spcPts val="360"/>
              </a:spcBef>
              <a:spcAft>
                <a:spcPts val="0"/>
              </a:spcAft>
              <a:buSzPts val="1400"/>
              <a:buNone/>
            </a:pPr>
            <a:r>
              <a:rPr lang="he-IL" dirty="0"/>
              <a:t>בעולם האמיתי פותרים את זה בעזרת קופה קצרה ואנחנו מראה איך במערכות הפעלה פותרים זאת בכמה דברים.</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היתרון הוא שקל לממש את האלגוריתם הזה – מריצים כל תהליך עד שמסיים או עד שעושה </a:t>
            </a:r>
            <a:r>
              <a:rPr lang="en-US" dirty="0"/>
              <a:t>yield</a:t>
            </a:r>
            <a:r>
              <a:rPr lang="he-IL" dirty="0"/>
              <a:t> או </a:t>
            </a:r>
            <a:r>
              <a:rPr lang="en-US" dirty="0"/>
              <a:t>sleep</a:t>
            </a:r>
            <a:r>
              <a:rPr lang="he-IL" dirty="0"/>
              <a:t>. אין צורך בתחזוקה של מבנה נתונים </a:t>
            </a:r>
            <a:r>
              <a:rPr lang="he-IL" dirty="0" err="1"/>
              <a:t>מסויים</a:t>
            </a:r>
            <a:r>
              <a:rPr lang="he-IL" dirty="0"/>
              <a:t>. אין </a:t>
            </a:r>
            <a:r>
              <a:rPr lang="en-US" dirty="0"/>
              <a:t>starvation</a:t>
            </a:r>
            <a:r>
              <a:rPr lang="he-IL" dirty="0"/>
              <a:t>, יש מספר סופי של תהליכים ולכן תהליכים יקבלו שירות.</a:t>
            </a:r>
          </a:p>
          <a:p>
            <a:pPr marL="0" lvl="0" indent="0" algn="r" rtl="1">
              <a:lnSpc>
                <a:spcPct val="100000"/>
              </a:lnSpc>
              <a:spcBef>
                <a:spcPts val="360"/>
              </a:spcBef>
              <a:spcAft>
                <a:spcPts val="0"/>
              </a:spcAft>
              <a:buSzPts val="1400"/>
              <a:buNone/>
            </a:pPr>
            <a:r>
              <a:rPr lang="he-IL" dirty="0"/>
              <a:t>חסרון – כל המצוין בשקף: </a:t>
            </a:r>
            <a:r>
              <a:rPr lang="en-US" dirty="0"/>
              <a:t>average turnaround time</a:t>
            </a:r>
            <a:r>
              <a:rPr lang="he-IL" dirty="0"/>
              <a:t> יכול להיות מאוד גבוה וגם </a:t>
            </a:r>
            <a:r>
              <a:rPr lang="en-US" dirty="0"/>
              <a:t>waiting/response time</a:t>
            </a:r>
            <a:r>
              <a:rPr lang="he-IL" dirty="0"/>
              <a:t> ממוצע גבוה . </a:t>
            </a:r>
            <a:r>
              <a:rPr lang="en-US" dirty="0" err="1"/>
              <a:t>Troughput</a:t>
            </a:r>
            <a:r>
              <a:rPr lang="he-IL" dirty="0"/>
              <a:t> נמוך מאוד.</a:t>
            </a:r>
            <a:endParaRPr lang="en-US" dirty="0"/>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en-US" dirty="0"/>
              <a:t>Turnaround time</a:t>
            </a:r>
            <a:r>
              <a:rPr lang="he-IL" dirty="0"/>
              <a:t>:</a:t>
            </a:r>
          </a:p>
          <a:p>
            <a:pPr marL="0" lvl="0" indent="0" algn="r" rtl="1">
              <a:lnSpc>
                <a:spcPct val="100000"/>
              </a:lnSpc>
              <a:spcBef>
                <a:spcPts val="360"/>
              </a:spcBef>
              <a:spcAft>
                <a:spcPts val="0"/>
              </a:spcAft>
              <a:buSzPts val="1400"/>
              <a:buNone/>
            </a:pPr>
            <a:r>
              <a:rPr lang="en-US" dirty="0"/>
              <a:t>p1=30, p2=35, p3=40</a:t>
            </a:r>
            <a:r>
              <a:rPr lang="he-IL" dirty="0"/>
              <a:t> ולכן הממוצע יהיה </a:t>
            </a:r>
            <a:r>
              <a:rPr lang="en-US" dirty="0"/>
              <a:t>105/3</a:t>
            </a:r>
            <a:endParaRPr lang="he-IL" dirty="0"/>
          </a:p>
          <a:p>
            <a:pPr marL="0" lvl="0" indent="0" algn="r" rtl="1">
              <a:lnSpc>
                <a:spcPct val="100000"/>
              </a:lnSpc>
              <a:spcBef>
                <a:spcPts val="360"/>
              </a:spcBef>
              <a:spcAft>
                <a:spcPts val="0"/>
              </a:spcAft>
              <a:buSzPts val="1400"/>
              <a:buNone/>
            </a:pPr>
            <a:r>
              <a:rPr lang="en-US" dirty="0"/>
              <a:t>Waiting time</a:t>
            </a:r>
            <a:r>
              <a:rPr lang="he-IL" dirty="0"/>
              <a:t>:</a:t>
            </a:r>
          </a:p>
          <a:p>
            <a:pPr marL="0" lvl="0" indent="0" algn="r" rtl="1">
              <a:lnSpc>
                <a:spcPct val="100000"/>
              </a:lnSpc>
              <a:spcBef>
                <a:spcPts val="360"/>
              </a:spcBef>
              <a:spcAft>
                <a:spcPts val="0"/>
              </a:spcAft>
              <a:buSzPts val="1400"/>
              <a:buNone/>
            </a:pPr>
            <a:r>
              <a:rPr lang="en-US" dirty="0"/>
              <a:t>p1=0, p2=30, p3=35</a:t>
            </a:r>
            <a:r>
              <a:rPr lang="he-IL" dirty="0"/>
              <a:t> </a:t>
            </a:r>
            <a:endParaRPr lang="en-US" dirty="0"/>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הפתרון שניתן לחשוב עליו מופיע בשקף הבא</a:t>
            </a:r>
          </a:p>
        </p:txBody>
      </p:sp>
      <p:sp>
        <p:nvSpPr>
          <p:cNvPr id="363" name="Google Shape;363;p13: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4: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360"/>
              </a:spcBef>
              <a:spcAft>
                <a:spcPts val="0"/>
              </a:spcAft>
              <a:buSzPts val="1400"/>
              <a:buNone/>
            </a:pPr>
            <a:r>
              <a:rPr lang="en-US" dirty="0"/>
              <a:t>the full name is SRTF.</a:t>
            </a:r>
            <a:endParaRPr lang="he-IL" dirty="0"/>
          </a:p>
          <a:p>
            <a:pPr marL="0" lvl="0" indent="0" algn="r" rtl="1">
              <a:lnSpc>
                <a:spcPct val="100000"/>
              </a:lnSpc>
              <a:spcBef>
                <a:spcPts val="360"/>
              </a:spcBef>
              <a:spcAft>
                <a:spcPts val="0"/>
              </a:spcAft>
              <a:buSzPts val="1400"/>
              <a:buNone/>
            </a:pPr>
            <a:r>
              <a:rPr lang="he-IL" dirty="0"/>
              <a:t>מיקסום </a:t>
            </a:r>
            <a:r>
              <a:rPr lang="en-US" dirty="0"/>
              <a:t>throughput</a:t>
            </a:r>
            <a:r>
              <a:rPr lang="he-IL" dirty="0"/>
              <a:t> והורדת ממוצע של שאר הזמנים שמודדים (המדדים), </a:t>
            </a:r>
            <a:r>
              <a:rPr lang="he-IL" dirty="0" err="1"/>
              <a:t>נתעדף</a:t>
            </a:r>
            <a:r>
              <a:rPr lang="he-IL" dirty="0"/>
              <a:t> תהליכים עם זמני ריצה קצרים.</a:t>
            </a:r>
          </a:p>
          <a:p>
            <a:pPr marL="0" marR="0" indent="0" algn="r" rtl="1">
              <a:spcBef>
                <a:spcPts val="360"/>
              </a:spcBef>
              <a:spcAft>
                <a:spcPts val="0"/>
              </a:spcAft>
            </a:pPr>
            <a:endParaRPr lang="en-IL" dirty="0">
              <a:effectLst/>
            </a:endParaRPr>
          </a:p>
          <a:p>
            <a:pPr marL="0" marR="0" indent="0" algn="r" rtl="1">
              <a:spcBef>
                <a:spcPts val="360"/>
              </a:spcBef>
              <a:spcAft>
                <a:spcPts val="0"/>
              </a:spcAft>
            </a:pP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Turnaround time</a:t>
            </a:r>
            <a:r>
              <a:rPr lang="he-IL"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יורד ו- </a:t>
            </a: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throughput</a:t>
            </a:r>
            <a:r>
              <a:rPr lang="he-IL"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עולה.</a:t>
            </a:r>
            <a:endParaRPr lang="en-IL" dirty="0">
              <a:effectLst/>
            </a:endParaRPr>
          </a:p>
          <a:p>
            <a:pPr marL="0" marR="0" indent="0" algn="r" rtl="1">
              <a:spcBef>
                <a:spcPts val="360"/>
              </a:spcBef>
              <a:spcAft>
                <a:spcPts val="0"/>
              </a:spcAft>
            </a:pPr>
            <a:endParaRPr lang="he-IL" dirty="0"/>
          </a:p>
          <a:p>
            <a:pPr marL="0" marR="0" indent="0" algn="r" rtl="1">
              <a:spcBef>
                <a:spcPts val="360"/>
              </a:spcBef>
              <a:spcAft>
                <a:spcPts val="0"/>
              </a:spcAft>
            </a:pPr>
            <a:r>
              <a:rPr lang="he-IL" dirty="0"/>
              <a:t>יש 2 גרסאות – </a:t>
            </a:r>
            <a:r>
              <a:rPr lang="en-US" dirty="0"/>
              <a:t>preemptive</a:t>
            </a:r>
            <a:r>
              <a:rPr lang="he-IL" dirty="0"/>
              <a:t> ו- </a:t>
            </a:r>
            <a:r>
              <a:rPr lang="en-US" dirty="0"/>
              <a:t>non-preemptive</a:t>
            </a:r>
            <a:r>
              <a:rPr lang="he-IL" dirty="0"/>
              <a:t>.</a:t>
            </a:r>
          </a:p>
          <a:p>
            <a:pPr marL="0" marR="0" indent="0" algn="r" rtl="1">
              <a:spcBef>
                <a:spcPts val="360"/>
              </a:spcBef>
              <a:spcAft>
                <a:spcPts val="0"/>
              </a:spcAft>
              <a:buNone/>
            </a:pPr>
            <a:r>
              <a:rPr lang="he-IL" dirty="0"/>
              <a:t>הרעיון: הולכים לזמן הקצר ביותר שנותר להריץ תהליך – מריץ תהליך כמות זמן כלשהי ולאחר שעברה בודקים האם יש תהליך שנשאר לו פחות זמן. אם התהליך שנותר לי הכי קצת זמן לרוץ הוא עם 5 </a:t>
            </a:r>
            <a:r>
              <a:rPr lang="he-IL" dirty="0" err="1"/>
              <a:t>קוונטות</a:t>
            </a:r>
            <a:r>
              <a:rPr lang="he-IL" dirty="0"/>
              <a:t> זמן, והרצנו 1 </a:t>
            </a:r>
            <a:r>
              <a:rPr lang="he-IL" dirty="0" err="1"/>
              <a:t>קוונטת</a:t>
            </a:r>
            <a:r>
              <a:rPr lang="he-IL" dirty="0"/>
              <a:t> זמן ונשאר לו 4 </a:t>
            </a:r>
            <a:r>
              <a:rPr lang="he-IL" dirty="0" err="1"/>
              <a:t>קוונטות</a:t>
            </a:r>
            <a:r>
              <a:rPr lang="he-IL" dirty="0"/>
              <a:t> זמן. אם יתווסף תהליך חדש עם </a:t>
            </a:r>
            <a:r>
              <a:rPr lang="he-IL" dirty="0" err="1"/>
              <a:t>קוונטת</a:t>
            </a:r>
            <a:r>
              <a:rPr lang="he-IL" dirty="0"/>
              <a:t> זמן קטנה יותר מ4 </a:t>
            </a:r>
            <a:r>
              <a:rPr lang="he-IL" dirty="0" err="1"/>
              <a:t>קוונטות</a:t>
            </a:r>
            <a:r>
              <a:rPr lang="he-IL" dirty="0"/>
              <a:t> רק אז התהליך הנוכחי כבר לא יהיה המינימלי.</a:t>
            </a:r>
          </a:p>
          <a:p>
            <a:pPr marL="0" marR="0" indent="0" algn="r" rtl="1">
              <a:spcBef>
                <a:spcPts val="360"/>
              </a:spcBef>
              <a:spcAft>
                <a:spcPts val="0"/>
              </a:spcAft>
              <a:buNone/>
            </a:pPr>
            <a:r>
              <a:rPr lang="he-IL" dirty="0"/>
              <a:t>בעיות שיכולות לצוץ: </a:t>
            </a:r>
          </a:p>
          <a:p>
            <a:pPr marL="228600" marR="0" indent="-228600" algn="r" rtl="1">
              <a:spcBef>
                <a:spcPts val="360"/>
              </a:spcBef>
              <a:spcAft>
                <a:spcPts val="0"/>
              </a:spcAft>
              <a:buAutoNum type="arabicPeriod"/>
            </a:pPr>
            <a:r>
              <a:rPr lang="he-IL" dirty="0"/>
              <a:t>איך משערים כמה זמן ריצה נשאר לתהליך? ניתן להניח שזה נתון. אבל בלי ההנחה הזו- איך אפשר לדעת באמת? יכול להיות שבהתחלה לקח לו </a:t>
            </a:r>
            <a:r>
              <a:rPr lang="en-US" dirty="0"/>
              <a:t>x</a:t>
            </a:r>
            <a:r>
              <a:rPr lang="he-IL" dirty="0"/>
              <a:t> זמן ובפעם הבאה שירוץ </a:t>
            </a:r>
            <a:r>
              <a:rPr lang="he-IL" dirty="0" err="1"/>
              <a:t>יקח</a:t>
            </a:r>
            <a:r>
              <a:rPr lang="he-IL" dirty="0"/>
              <a:t> לו יותר זמן.</a:t>
            </a:r>
          </a:p>
          <a:p>
            <a:pPr marL="228600" marR="0" indent="-228600" algn="r" rtl="1">
              <a:spcBef>
                <a:spcPts val="360"/>
              </a:spcBef>
              <a:spcAft>
                <a:spcPts val="0"/>
              </a:spcAft>
              <a:buAutoNum type="arabicPeriod"/>
            </a:pPr>
            <a:r>
              <a:rPr lang="en-US" dirty="0"/>
              <a:t>Starvation</a:t>
            </a:r>
            <a:r>
              <a:rPr lang="he-IL" dirty="0"/>
              <a:t> – מה לגבי תהליכים שיש להם זמן ריצה ארוך? יתכן כי הם לעולם לא ירוצו.</a:t>
            </a:r>
          </a:p>
          <a:p>
            <a:pPr marL="0" marR="0" indent="0" algn="r" rtl="1">
              <a:spcBef>
                <a:spcPts val="360"/>
              </a:spcBef>
              <a:spcAft>
                <a:spcPts val="0"/>
              </a:spcAft>
            </a:pPr>
            <a:endParaRPr lang="en-IL" dirty="0">
              <a:effectLst/>
            </a:endParaRPr>
          </a:p>
          <a:p>
            <a:pPr marL="0" marR="0" indent="0" algn="r" rtl="1">
              <a:spcBef>
                <a:spcPts val="360"/>
              </a:spcBef>
              <a:spcAft>
                <a:spcPts val="0"/>
              </a:spcAft>
            </a:pP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Turnaround time</a:t>
            </a:r>
            <a:r>
              <a:rPr lang="he-IL"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L" dirty="0">
              <a:effectLst/>
            </a:endParaRPr>
          </a:p>
          <a:p>
            <a:pPr marL="0" marR="0" indent="0" algn="r" rtl="1">
              <a:spcBef>
                <a:spcPts val="360"/>
              </a:spcBef>
              <a:spcAft>
                <a:spcPts val="0"/>
              </a:spcAft>
            </a:pP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p1=40, p2=5, p3=10</a:t>
            </a:r>
            <a:r>
              <a:rPr lang="he-IL"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ולכן הממוצע יהיה </a:t>
            </a: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55/3</a:t>
            </a:r>
            <a:endParaRPr lang="en-IL" dirty="0">
              <a:effectLst/>
            </a:endParaRPr>
          </a:p>
          <a:p>
            <a:pPr marL="0" marR="0" indent="0" algn="r" rtl="1">
              <a:spcBef>
                <a:spcPts val="360"/>
              </a:spcBef>
              <a:spcAft>
                <a:spcPts val="0"/>
              </a:spcAft>
            </a:pP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Waiting time</a:t>
            </a:r>
            <a:r>
              <a:rPr lang="he-IL"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endParaRPr lang="en-IL" dirty="0">
              <a:effectLst/>
            </a:endParaRPr>
          </a:p>
          <a:p>
            <a:pPr marL="0" marR="0" indent="0" algn="r" rtl="1">
              <a:spcBef>
                <a:spcPts val="360"/>
              </a:spcBef>
              <a:spcAft>
                <a:spcPts val="0"/>
              </a:spcAft>
            </a:pPr>
            <a:r>
              <a:rPr lang="en-US"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p1=10, p2=0, p3=5</a:t>
            </a:r>
            <a:r>
              <a:rPr lang="he-IL" sz="18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he-IL"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ולכן הממוצע יהיה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15/3</a:t>
            </a:r>
            <a:endParaRPr lang="en-IL" dirty="0">
              <a:effectLst/>
            </a:endParaRPr>
          </a:p>
          <a:p>
            <a:pPr marL="0" marR="0" indent="0" algn="r" rtl="1">
              <a:spcBef>
                <a:spcPts val="360"/>
              </a:spcBef>
              <a:spcAft>
                <a:spcPts val="0"/>
              </a:spcAft>
              <a:buNone/>
            </a:pPr>
            <a:r>
              <a:rPr lang="he-IL" dirty="0"/>
              <a:t>ניתן לשים לב שמדדים אלו ירדו לעומת האלגוריתם </a:t>
            </a:r>
            <a:r>
              <a:rPr lang="en-US" dirty="0"/>
              <a:t>FCFS</a:t>
            </a:r>
            <a:r>
              <a:rPr lang="he-IL" dirty="0"/>
              <a:t>.</a:t>
            </a:r>
          </a:p>
          <a:p>
            <a:pPr marL="0" marR="0" indent="0" algn="r" rtl="1">
              <a:spcBef>
                <a:spcPts val="360"/>
              </a:spcBef>
              <a:spcAft>
                <a:spcPts val="0"/>
              </a:spcAft>
              <a:buNone/>
            </a:pPr>
            <a:endParaRPr lang="he-IL" dirty="0"/>
          </a:p>
          <a:p>
            <a:pPr marL="0" marR="0" indent="0" algn="r" rtl="1">
              <a:spcBef>
                <a:spcPts val="360"/>
              </a:spcBef>
              <a:spcAft>
                <a:spcPts val="0"/>
              </a:spcAft>
              <a:buNone/>
            </a:pPr>
            <a:r>
              <a:rPr lang="he-IL" dirty="0"/>
              <a:t>איך ניתן להעריך מהו זמן הריצה של התהליך?</a:t>
            </a:r>
          </a:p>
          <a:p>
            <a:pPr marL="0" marR="0" indent="0" algn="r" rtl="1">
              <a:spcBef>
                <a:spcPts val="360"/>
              </a:spcBef>
              <a:spcAft>
                <a:spcPts val="0"/>
              </a:spcAft>
              <a:buNone/>
            </a:pPr>
            <a:r>
              <a:rPr lang="he-IL" dirty="0"/>
              <a:t>אם נסתכל על תהליך אינטראקטיבי (כזה שמחכה ל</a:t>
            </a:r>
            <a:r>
              <a:rPr lang="en-US" dirty="0"/>
              <a:t>I/O</a:t>
            </a:r>
            <a:r>
              <a:rPr lang="he-IL" dirty="0"/>
              <a:t>) יש לו </a:t>
            </a:r>
            <a:r>
              <a:rPr lang="en-US" dirty="0"/>
              <a:t>burst time</a:t>
            </a:r>
            <a:r>
              <a:rPr lang="he-IL" dirty="0"/>
              <a:t> – למשל תהליך רץ 2 שניות, ממתין ל</a:t>
            </a:r>
            <a:r>
              <a:rPr lang="en-US" dirty="0"/>
              <a:t>I/O</a:t>
            </a:r>
            <a:r>
              <a:rPr lang="he-IL" dirty="0"/>
              <a:t> ואז רץ עוד 4 שניות, וממתין ל</a:t>
            </a:r>
            <a:r>
              <a:rPr lang="en-US" dirty="0"/>
              <a:t>I/O</a:t>
            </a:r>
            <a:r>
              <a:rPr lang="he-IL" dirty="0"/>
              <a:t> שוב, ואז רץ עוד 5 שניות וכן הלאה. כל פרק זמן כזה שתהליך רץ ועד שהפסיק בגלל </a:t>
            </a:r>
            <a:r>
              <a:rPr lang="en-US" dirty="0"/>
              <a:t>I/O</a:t>
            </a:r>
            <a:r>
              <a:rPr lang="he-IL" dirty="0"/>
              <a:t> נקרא </a:t>
            </a:r>
            <a:r>
              <a:rPr lang="en-US" dirty="0"/>
              <a:t>burst time</a:t>
            </a:r>
            <a:r>
              <a:rPr lang="he-IL" dirty="0"/>
              <a:t> ניתן לשער באמצעות ה</a:t>
            </a:r>
            <a:r>
              <a:rPr lang="en-US" dirty="0"/>
              <a:t>burst time</a:t>
            </a:r>
            <a:r>
              <a:rPr lang="he-IL" dirty="0"/>
              <a:t> הקודמים, כמה זמן </a:t>
            </a:r>
            <a:r>
              <a:rPr lang="he-IL" dirty="0" err="1"/>
              <a:t>יקח</a:t>
            </a:r>
            <a:r>
              <a:rPr lang="he-IL" dirty="0"/>
              <a:t> לו ה</a:t>
            </a:r>
            <a:r>
              <a:rPr lang="en-US" dirty="0"/>
              <a:t>burst time </a:t>
            </a:r>
            <a:r>
              <a:rPr lang="he-IL" dirty="0"/>
              <a:t> הבא.</a:t>
            </a:r>
          </a:p>
          <a:p>
            <a:pPr marL="0" marR="0" indent="0" algn="r" rtl="1">
              <a:spcBef>
                <a:spcPts val="360"/>
              </a:spcBef>
              <a:spcAft>
                <a:spcPts val="0"/>
              </a:spcAft>
              <a:buNone/>
            </a:pPr>
            <a:endParaRPr lang="he-IL" dirty="0"/>
          </a:p>
          <a:p>
            <a:pPr marL="0" marR="0" indent="0" algn="r" rtl="1">
              <a:spcBef>
                <a:spcPts val="360"/>
              </a:spcBef>
              <a:spcAft>
                <a:spcPts val="0"/>
              </a:spcAft>
              <a:buNone/>
            </a:pPr>
            <a:r>
              <a:rPr lang="he-IL" dirty="0"/>
              <a:t>האלפא זה כמה משקל נותנים לזמן הריצה האחרון של התהליך כאשר יתר המשקל הולך להיסטוריה. ככל שאלפא קטן, יש פחות השפעה לריצה האחרונה ולכן תהיה יותר השפעה להיסטוריה.</a:t>
            </a:r>
          </a:p>
          <a:p>
            <a:pPr marL="0" marR="0" indent="0" algn="r" rtl="1">
              <a:spcBef>
                <a:spcPts val="360"/>
              </a:spcBef>
              <a:spcAft>
                <a:spcPts val="0"/>
              </a:spcAft>
              <a:buNone/>
            </a:pPr>
            <a:r>
              <a:rPr lang="he-IL" dirty="0"/>
              <a:t>קל לחשב עם אלפא 1 ואלפא 0.5</a:t>
            </a:r>
          </a:p>
          <a:p>
            <a:pPr marL="0" marR="0" indent="0" algn="r" rtl="1">
              <a:spcBef>
                <a:spcPts val="360"/>
              </a:spcBef>
              <a:spcAft>
                <a:spcPts val="0"/>
              </a:spcAft>
              <a:buNone/>
            </a:pPr>
            <a:r>
              <a:rPr lang="he-IL" dirty="0"/>
              <a:t>אפשר לעשות ממוצע לשני דברים: כמה לקח לרוץ בפעם הקודמת בפועל ועוד הזמן שחזינו </a:t>
            </a:r>
            <a:r>
              <a:rPr lang="he-IL" dirty="0" err="1"/>
              <a:t>שיקח</a:t>
            </a:r>
            <a:r>
              <a:rPr lang="he-IL" dirty="0"/>
              <a:t> לו לרוץ בפעם הקודמת.</a:t>
            </a:r>
          </a:p>
          <a:p>
            <a:pPr marL="0" marR="0" indent="0" algn="r" rtl="1">
              <a:spcBef>
                <a:spcPts val="360"/>
              </a:spcBef>
              <a:spcAft>
                <a:spcPts val="0"/>
              </a:spcAft>
              <a:buNone/>
            </a:pPr>
            <a:r>
              <a:rPr lang="he-IL" dirty="0"/>
              <a:t>על מנת לייעל את זמן הריצה, ניתן לחשב את הממוצע עם פעולות </a:t>
            </a:r>
            <a:r>
              <a:rPr lang="en-US" dirty="0"/>
              <a:t>bitwise</a:t>
            </a:r>
            <a:r>
              <a:rPr lang="he-IL" dirty="0"/>
              <a:t> ולאחר שחיברנו את התוצאות, אפשר לבצע </a:t>
            </a:r>
            <a:r>
              <a:rPr lang="en-US" dirty="0"/>
              <a:t>shift-left</a:t>
            </a:r>
            <a:r>
              <a:rPr lang="he-IL" dirty="0"/>
              <a:t> (חלוקה ב2) וכך לקבל את הממוצע בין שתי התוצאות (יעילות הריצה חשובה מכיוון שהחישוב יתבצע בכל ריצה של ה</a:t>
            </a:r>
            <a:r>
              <a:rPr lang="en-US" dirty="0"/>
              <a:t>scheduler</a:t>
            </a:r>
            <a:r>
              <a:rPr lang="he-IL" dirty="0"/>
              <a:t>, ונרצה שיתפוס כמה שפחות זמן מה </a:t>
            </a:r>
            <a:r>
              <a:rPr lang="en-US" dirty="0" err="1"/>
              <a:t>cpu</a:t>
            </a:r>
            <a:r>
              <a:rPr lang="he-IL" dirty="0"/>
              <a:t>).</a:t>
            </a:r>
          </a:p>
        </p:txBody>
      </p:sp>
      <p:sp>
        <p:nvSpPr>
          <p:cNvPr id="376" name="Google Shape;376;p14: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5: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360"/>
              </a:spcBef>
              <a:spcAft>
                <a:spcPts val="0"/>
              </a:spcAft>
              <a:buSzPts val="1400"/>
              <a:buNone/>
            </a:pPr>
            <a:r>
              <a:rPr lang="he-IL" dirty="0"/>
              <a:t>האלגוריתם שממומש ב</a:t>
            </a:r>
            <a:r>
              <a:rPr lang="en-US" dirty="0"/>
              <a:t>xv6</a:t>
            </a:r>
            <a:endParaRPr lang="he-IL" dirty="0"/>
          </a:p>
          <a:p>
            <a:pPr marL="0" lvl="0" indent="0" algn="r" rtl="1">
              <a:lnSpc>
                <a:spcPct val="100000"/>
              </a:lnSpc>
              <a:spcBef>
                <a:spcPts val="360"/>
              </a:spcBef>
              <a:spcAft>
                <a:spcPts val="0"/>
              </a:spcAft>
              <a:buSzPts val="1400"/>
              <a:buNone/>
            </a:pPr>
            <a:r>
              <a:rPr lang="he-IL" dirty="0"/>
              <a:t>יש קבוע – זמן ריצה שמוקצה לתהליך וכשהוא עובר מעבירים את התהליך מ</a:t>
            </a:r>
            <a:r>
              <a:rPr lang="en-US" dirty="0"/>
              <a:t>running </a:t>
            </a:r>
            <a:r>
              <a:rPr lang="he-IL" dirty="0"/>
              <a:t> ל</a:t>
            </a:r>
            <a:r>
              <a:rPr lang="en-US" dirty="0"/>
              <a:t>runnable</a:t>
            </a:r>
            <a:r>
              <a:rPr lang="he-IL" dirty="0"/>
              <a:t> ונותנים לתהליך אחר לרוץ במקומו.</a:t>
            </a:r>
          </a:p>
          <a:p>
            <a:pPr marL="0" lvl="0" indent="0" algn="r" rtl="1">
              <a:lnSpc>
                <a:spcPct val="100000"/>
              </a:lnSpc>
              <a:spcBef>
                <a:spcPts val="360"/>
              </a:spcBef>
              <a:spcAft>
                <a:spcPts val="0"/>
              </a:spcAft>
              <a:buSzPts val="1400"/>
              <a:buNone/>
            </a:pPr>
            <a:r>
              <a:rPr lang="he-IL" dirty="0"/>
              <a:t>זה עובד בצורה מעגלית – כלומר לאחר שכולם קיבלו זמן ריצה, חוזרים להתחלה.</a:t>
            </a:r>
          </a:p>
          <a:p>
            <a:pPr marL="0" lvl="0" indent="0" algn="r" rtl="1">
              <a:lnSpc>
                <a:spcPct val="100000"/>
              </a:lnSpc>
              <a:spcBef>
                <a:spcPts val="360"/>
              </a:spcBef>
              <a:spcAft>
                <a:spcPts val="0"/>
              </a:spcAft>
              <a:buSzPts val="1400"/>
              <a:buNone/>
            </a:pPr>
            <a:r>
              <a:rPr lang="en-US" dirty="0"/>
              <a:t>t</a:t>
            </a:r>
            <a:r>
              <a:rPr lang="he-IL" dirty="0"/>
              <a:t> – זמן ריצה שתהליך מקבל.</a:t>
            </a:r>
          </a:p>
          <a:p>
            <a:pPr marL="0" lvl="0" indent="0" algn="r" rtl="1">
              <a:lnSpc>
                <a:spcPct val="100000"/>
              </a:lnSpc>
              <a:spcBef>
                <a:spcPts val="360"/>
              </a:spcBef>
              <a:spcAft>
                <a:spcPts val="0"/>
              </a:spcAft>
              <a:buSzPts val="1400"/>
              <a:buNone/>
            </a:pPr>
            <a:r>
              <a:rPr lang="he-IL" dirty="0"/>
              <a:t>אם </a:t>
            </a:r>
            <a:r>
              <a:rPr lang="en-US" dirty="0"/>
              <a:t>t</a:t>
            </a:r>
            <a:r>
              <a:rPr lang="he-IL" dirty="0"/>
              <a:t> שואף לאינסוף זה אומר שהתהליך לעולם לא </a:t>
            </a:r>
            <a:r>
              <a:rPr lang="he-IL" dirty="0" err="1"/>
              <a:t>יחדול</a:t>
            </a:r>
            <a:r>
              <a:rPr lang="he-IL" dirty="0"/>
              <a:t> מלרוץ עד שהוא בעצמו יסתיים</a:t>
            </a:r>
            <a:r>
              <a:rPr lang="en-US" dirty="0"/>
              <a:t>/</a:t>
            </a:r>
            <a:r>
              <a:rPr lang="he-IL" dirty="0"/>
              <a:t>יעבור ל</a:t>
            </a:r>
            <a:r>
              <a:rPr lang="en-US" dirty="0"/>
              <a:t>blocked</a:t>
            </a:r>
            <a:r>
              <a:rPr lang="he-IL" dirty="0"/>
              <a:t> ורק אז  יעבור לתהליך הבא. וזה כמו </a:t>
            </a:r>
            <a:r>
              <a:rPr lang="en-US" dirty="0"/>
              <a:t>FCFS</a:t>
            </a:r>
            <a:r>
              <a:rPr lang="he-IL" dirty="0"/>
              <a:t>. כמובן שיכול להיות ש</a:t>
            </a:r>
            <a:r>
              <a:rPr lang="en-US" dirty="0"/>
              <a:t>FCFS</a:t>
            </a:r>
            <a:r>
              <a:rPr lang="he-IL" dirty="0"/>
              <a:t> יתנהג כמו </a:t>
            </a:r>
            <a:r>
              <a:rPr lang="en-US" dirty="0"/>
              <a:t>RR</a:t>
            </a:r>
            <a:r>
              <a:rPr lang="he-IL" dirty="0"/>
              <a:t> ותהליך יקבל שוב זמן </a:t>
            </a:r>
            <a:r>
              <a:rPr lang="en-US" dirty="0" err="1"/>
              <a:t>cpu</a:t>
            </a:r>
            <a:r>
              <a:rPr lang="he-IL" dirty="0"/>
              <a:t> וזה אם תהליך עבר ל</a:t>
            </a:r>
            <a:r>
              <a:rPr lang="en-US" dirty="0"/>
              <a:t>blocked</a:t>
            </a:r>
            <a:r>
              <a:rPr lang="he-IL" dirty="0"/>
              <a:t> אז בפעם הבאה שהוא ירוץ תהיה כשכל התהליכים אחריו סיימו לרוץ</a:t>
            </a:r>
            <a:r>
              <a:rPr lang="en-US" dirty="0"/>
              <a:t>/</a:t>
            </a:r>
            <a:r>
              <a:rPr lang="he-IL" dirty="0"/>
              <a:t>עברו ל</a:t>
            </a:r>
            <a:r>
              <a:rPr lang="en-US" dirty="0"/>
              <a:t>blocked</a:t>
            </a:r>
            <a:r>
              <a:rPr lang="he-IL" dirty="0"/>
              <a:t>.</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אם </a:t>
            </a:r>
            <a:r>
              <a:rPr lang="en-US" dirty="0"/>
              <a:t>t</a:t>
            </a:r>
            <a:r>
              <a:rPr lang="he-IL" dirty="0"/>
              <a:t> שואף ל</a:t>
            </a:r>
            <a:r>
              <a:rPr lang="en-US" dirty="0"/>
              <a:t>0</a:t>
            </a:r>
            <a:r>
              <a:rPr lang="he-IL" dirty="0"/>
              <a:t> נבזבז את ה</a:t>
            </a:r>
            <a:r>
              <a:rPr lang="en-US" dirty="0" err="1"/>
              <a:t>cpu</a:t>
            </a:r>
            <a:r>
              <a:rPr lang="he-IL" dirty="0"/>
              <a:t> ל</a:t>
            </a:r>
            <a:r>
              <a:rPr lang="en-US" dirty="0"/>
              <a:t>context switch</a:t>
            </a:r>
            <a:r>
              <a:rPr lang="he-IL" dirty="0"/>
              <a:t> וזה לוקח זמן. וניצולת ה</a:t>
            </a:r>
            <a:r>
              <a:rPr lang="en-US" dirty="0" err="1"/>
              <a:t>cpu</a:t>
            </a:r>
            <a:r>
              <a:rPr lang="he-IL" dirty="0"/>
              <a:t> בהנחה שמחשיבים זמן שה</a:t>
            </a:r>
            <a:r>
              <a:rPr lang="en-US" dirty="0"/>
              <a:t>scheduler</a:t>
            </a:r>
            <a:r>
              <a:rPr lang="he-IL" dirty="0"/>
              <a:t> רץ כ</a:t>
            </a:r>
            <a:r>
              <a:rPr lang="en-US" dirty="0"/>
              <a:t>idle</a:t>
            </a:r>
            <a:r>
              <a:rPr lang="he-IL" dirty="0"/>
              <a:t>, ה</a:t>
            </a:r>
            <a:r>
              <a:rPr lang="en-US" dirty="0"/>
              <a:t>CPU utilization</a:t>
            </a:r>
            <a:r>
              <a:rPr lang="he-IL" dirty="0"/>
              <a:t> תהיה נמוכה מאוד ולכן לא נרצה </a:t>
            </a:r>
            <a:r>
              <a:rPr lang="en-US" dirty="0"/>
              <a:t>t</a:t>
            </a:r>
            <a:r>
              <a:rPr lang="he-IL" dirty="0"/>
              <a:t> קטן מדיי.</a:t>
            </a:r>
          </a:p>
          <a:p>
            <a:pPr marL="0" lvl="0" indent="0" algn="r" rtl="1">
              <a:lnSpc>
                <a:spcPct val="100000"/>
              </a:lnSpc>
              <a:spcBef>
                <a:spcPts val="360"/>
              </a:spcBef>
              <a:spcAft>
                <a:spcPts val="0"/>
              </a:spcAft>
              <a:buSzPts val="1400"/>
              <a:buNone/>
            </a:pPr>
            <a:endParaRPr dirty="0"/>
          </a:p>
        </p:txBody>
      </p:sp>
      <p:sp>
        <p:nvSpPr>
          <p:cNvPr id="382" name="Google Shape;382;p15: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16: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360"/>
              </a:spcBef>
              <a:spcAft>
                <a:spcPts val="0"/>
              </a:spcAft>
              <a:buSzPts val="1400"/>
              <a:buNone/>
            </a:pPr>
            <a:r>
              <a:rPr lang="he-IL" dirty="0"/>
              <a:t>האלגוריתם הזה מבטיח לנו שכל תהליך יקבל 1 חלקי כמות התהליכים שרצים (5 תהליכים אז כל אחד יקבל חמישית מהזמן של המעבד).</a:t>
            </a:r>
          </a:p>
          <a:p>
            <a:pPr marL="0" lvl="0" indent="0" algn="r" rtl="1">
              <a:lnSpc>
                <a:spcPct val="100000"/>
              </a:lnSpc>
              <a:spcBef>
                <a:spcPts val="360"/>
              </a:spcBef>
              <a:spcAft>
                <a:spcPts val="0"/>
              </a:spcAft>
              <a:buSzPts val="1400"/>
              <a:buNone/>
            </a:pPr>
            <a:r>
              <a:rPr lang="he-IL" dirty="0"/>
              <a:t>בכל פעם שה</a:t>
            </a:r>
            <a:r>
              <a:rPr lang="en-US" dirty="0"/>
              <a:t>scheduler</a:t>
            </a:r>
            <a:r>
              <a:rPr lang="he-IL" dirty="0"/>
              <a:t> רץ, הוא מחשב יחס בין כמה זמן התהליך קיבל מאז היצירה שלו לבין הזמן שמגיע לו.</a:t>
            </a:r>
          </a:p>
          <a:p>
            <a:pPr marL="0" lvl="0" indent="0" algn="r" rtl="1">
              <a:lnSpc>
                <a:spcPct val="100000"/>
              </a:lnSpc>
              <a:spcBef>
                <a:spcPts val="360"/>
              </a:spcBef>
              <a:spcAft>
                <a:spcPts val="0"/>
              </a:spcAft>
              <a:buSzPts val="1400"/>
              <a:buNone/>
            </a:pPr>
            <a:r>
              <a:rPr lang="he-IL" dirty="0"/>
              <a:t>כשתהליך מקבל זמן </a:t>
            </a:r>
            <a:r>
              <a:rPr lang="en-US" dirty="0" err="1"/>
              <a:t>cpu</a:t>
            </a:r>
            <a:r>
              <a:rPr lang="he-IL" dirty="0"/>
              <a:t> ניתן לשמור באיזשהו שדה טיימר. וכשתהליך חזר ל</a:t>
            </a:r>
            <a:r>
              <a:rPr lang="en-US" dirty="0"/>
              <a:t>scheduler</a:t>
            </a:r>
            <a:r>
              <a:rPr lang="he-IL" dirty="0"/>
              <a:t> ניתן לחשב את ההפרש בין הטיימר שהיה לו לבין הטיימר ששמר קודם ולהוסיף את ההפרש למונה כלשהו.</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החישוב של כמה זמן מגיע לתהליך הוא היחס בין כמה זמן עבר מאז שנוצר לבין כמה תהליכים יש.</a:t>
            </a:r>
          </a:p>
          <a:p>
            <a:pPr marL="0" lvl="0" indent="0" algn="r" rtl="1">
              <a:lnSpc>
                <a:spcPct val="100000"/>
              </a:lnSpc>
              <a:spcBef>
                <a:spcPts val="360"/>
              </a:spcBef>
              <a:spcAft>
                <a:spcPts val="0"/>
              </a:spcAft>
              <a:buSzPts val="1400"/>
              <a:buNone/>
            </a:pPr>
            <a:r>
              <a:rPr lang="he-IL" dirty="0"/>
              <a:t>למשל - אם תהליך נוצר לפני 10 שניות ויש שני תהליכים אז מגיע לו לרוץ 5 שניות.</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ה</a:t>
            </a:r>
            <a:r>
              <a:rPr lang="en-US" dirty="0"/>
              <a:t>scheduler</a:t>
            </a:r>
            <a:r>
              <a:rPr lang="he-IL" dirty="0"/>
              <a:t> מחשב את היחס בין זמן הריצה של התהליך בפועל לבין הזמן שמגיע לתהליך לרוץ (לפי החישוב לעיל).</a:t>
            </a:r>
          </a:p>
          <a:p>
            <a:pPr marL="0" lvl="0" indent="0" algn="r" rtl="1">
              <a:lnSpc>
                <a:spcPct val="100000"/>
              </a:lnSpc>
              <a:spcBef>
                <a:spcPts val="360"/>
              </a:spcBef>
              <a:spcAft>
                <a:spcPts val="0"/>
              </a:spcAft>
              <a:buSzPts val="1400"/>
              <a:buNone/>
            </a:pPr>
            <a:r>
              <a:rPr lang="he-IL" dirty="0"/>
              <a:t>התהליך עם היחס הנמוך ביותר (קיבל הכי פחות ממה שמגיע לו), הוא זה שה</a:t>
            </a:r>
            <a:r>
              <a:rPr lang="en-US" dirty="0"/>
              <a:t>scheduler</a:t>
            </a:r>
            <a:r>
              <a:rPr lang="he-IL" dirty="0"/>
              <a:t> בוחר להריץ.</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האלגוריתם מבטיח שאכן תהליך יקבל </a:t>
            </a:r>
            <a:r>
              <a:rPr lang="en-US" dirty="0"/>
              <a:t>1/n</a:t>
            </a:r>
            <a:r>
              <a:rPr lang="he-IL" dirty="0"/>
              <a:t> זמן.</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החישובים האלו לוקחים זמן </a:t>
            </a:r>
            <a:r>
              <a:rPr lang="en-US" dirty="0" err="1"/>
              <a:t>cpu</a:t>
            </a:r>
            <a:r>
              <a:rPr lang="he-IL" dirty="0"/>
              <a:t> ולכן זה בעייתי מבחינת המימוש – השאיפה שה</a:t>
            </a:r>
            <a:r>
              <a:rPr lang="en-US" dirty="0"/>
              <a:t>scheduler</a:t>
            </a:r>
            <a:r>
              <a:rPr lang="he-IL" dirty="0"/>
              <a:t> יבצע מינימום חישובים במקסימום יעילות.</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בלינוקס האלגוריתם שרץ זה גרסה של </a:t>
            </a:r>
            <a:r>
              <a:rPr lang="en-US" dirty="0"/>
              <a:t>guaranteed</a:t>
            </a:r>
            <a:r>
              <a:rPr lang="he-IL" dirty="0"/>
              <a:t> הנוכחי אך כדי לשלוף את המינימום בצורה יעילה הוא עובד עם עץ אדום-שחור שזה כמו עץ </a:t>
            </a:r>
            <a:r>
              <a:rPr lang="en-US" dirty="0"/>
              <a:t>AVL</a:t>
            </a:r>
            <a:r>
              <a:rPr lang="he-IL" dirty="0"/>
              <a:t>. </a:t>
            </a:r>
            <a:endParaRPr dirty="0"/>
          </a:p>
        </p:txBody>
      </p:sp>
      <p:sp>
        <p:nvSpPr>
          <p:cNvPr id="388" name="Google Shape;388;p16: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0:notes"/>
          <p:cNvSpPr txBox="1">
            <a:spLocks noGrp="1"/>
          </p:cNvSpPr>
          <p:nvPr>
            <p:ph type="sldNum" idx="12"/>
          </p:nvPr>
        </p:nvSpPr>
        <p:spPr>
          <a:xfrm>
            <a:off x="3805238" y="9361488"/>
            <a:ext cx="2911475" cy="492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24</a:t>
            </a:fld>
            <a:endParaRPr sz="1200">
              <a:solidFill>
                <a:schemeClr val="dk1"/>
              </a:solidFill>
              <a:latin typeface="Calibri"/>
              <a:ea typeface="Calibri"/>
              <a:cs typeface="Calibri"/>
              <a:sym typeface="Calibri"/>
            </a:endParaRPr>
          </a:p>
        </p:txBody>
      </p:sp>
      <p:sp>
        <p:nvSpPr>
          <p:cNvPr id="442" name="Google Shape;442;p20:notes"/>
          <p:cNvSpPr>
            <a:spLocks noGrp="1" noRot="1" noChangeAspect="1"/>
          </p:cNvSpPr>
          <p:nvPr>
            <p:ph type="sldImg" idx="2"/>
          </p:nvPr>
        </p:nvSpPr>
        <p:spPr>
          <a:xfrm>
            <a:off x="74613" y="747713"/>
            <a:ext cx="6569075" cy="36957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43" name="Google Shape;443;p20:notes"/>
          <p:cNvSpPr txBox="1">
            <a:spLocks noGrp="1"/>
          </p:cNvSpPr>
          <p:nvPr>
            <p:ph type="body" idx="1"/>
          </p:nvPr>
        </p:nvSpPr>
        <p:spPr>
          <a:xfrm>
            <a:off x="671008" y="4680288"/>
            <a:ext cx="5374914" cy="4345869"/>
          </a:xfrm>
          <a:prstGeom prst="rect">
            <a:avLst/>
          </a:prstGeom>
          <a:noFill/>
          <a:ln>
            <a:noFill/>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שילוב בין </a:t>
            </a:r>
            <a:r>
              <a:rPr lang="en-US" sz="1200" b="0" i="0" u="none" strike="noStrike" cap="none" dirty="0">
                <a:solidFill>
                  <a:schemeClr val="dk1"/>
                </a:solidFill>
                <a:latin typeface="Calibri"/>
                <a:ea typeface="Calibri"/>
                <a:cs typeface="Calibri"/>
                <a:sym typeface="Calibri"/>
              </a:rPr>
              <a:t>guaranteed</a:t>
            </a:r>
            <a:r>
              <a:rPr lang="he-IL" sz="1200" b="0" i="0" u="none" strike="noStrike" cap="none" dirty="0">
                <a:solidFill>
                  <a:schemeClr val="dk1"/>
                </a:solidFill>
                <a:latin typeface="Calibri"/>
                <a:ea typeface="Calibri"/>
                <a:cs typeface="Calibri"/>
                <a:sym typeface="Calibri"/>
              </a:rPr>
              <a:t> לבין ה</a:t>
            </a:r>
            <a:r>
              <a:rPr lang="en-US" sz="1200" b="0" i="0" u="none" strike="noStrike" cap="none" dirty="0">
                <a:solidFill>
                  <a:schemeClr val="dk1"/>
                </a:solidFill>
                <a:latin typeface="Calibri"/>
                <a:ea typeface="Calibri"/>
                <a:cs typeface="Calibri"/>
                <a:sym typeface="Calibri"/>
              </a:rPr>
              <a:t>dynamic</a:t>
            </a:r>
            <a:r>
              <a:rPr lang="he-IL" sz="1200" b="0" i="0" u="none" strike="noStrike" cap="none" dirty="0">
                <a:solidFill>
                  <a:schemeClr val="dk1"/>
                </a:solidFill>
                <a:latin typeface="Calibri"/>
                <a:ea typeface="Calibri"/>
                <a:cs typeface="Calibri"/>
                <a:sym typeface="Calibri"/>
              </a:rPr>
              <a:t>.</a:t>
            </a:r>
            <a:endParaRPr lang="en-US" sz="1200" b="0" i="0" u="none" strike="noStrike" cap="none" dirty="0">
              <a:solidFill>
                <a:schemeClr val="dk1"/>
              </a:solidFill>
              <a:latin typeface="Calibri"/>
              <a:ea typeface="Calibri"/>
              <a:cs typeface="Calibri"/>
              <a:sym typeface="Calibri"/>
            </a:endParaRPr>
          </a:p>
          <a:p>
            <a:pPr marL="0" marR="0" lvl="0" indent="0" algn="r" rtl="1">
              <a:lnSpc>
                <a:spcPct val="100000"/>
              </a:lnSpc>
              <a:spcBef>
                <a:spcPts val="0"/>
              </a:spcBef>
              <a:spcAft>
                <a:spcPts val="0"/>
              </a:spcAft>
              <a:buSzPts val="1400"/>
              <a:buNone/>
            </a:pPr>
            <a:endParaRPr lang="he-IL" sz="1200" b="0" i="0" u="none" strike="noStrike" cap="none" dirty="0">
              <a:solidFill>
                <a:schemeClr val="dk1"/>
              </a:solidFill>
              <a:latin typeface="Calibri"/>
              <a:ea typeface="Calibri"/>
              <a:cs typeface="Calibri"/>
              <a:sym typeface="Calibri"/>
            </a:endParaRP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הרעיון הוא כמו ה</a:t>
            </a:r>
            <a:r>
              <a:rPr lang="en-US" sz="1200" b="0" i="0" u="none" strike="noStrike" cap="none" dirty="0">
                <a:solidFill>
                  <a:schemeClr val="dk1"/>
                </a:solidFill>
                <a:latin typeface="Calibri"/>
                <a:ea typeface="Calibri"/>
                <a:cs typeface="Calibri"/>
                <a:sym typeface="Calibri"/>
              </a:rPr>
              <a:t>guaranteed</a:t>
            </a:r>
            <a:r>
              <a:rPr lang="he-IL" sz="1200" b="0" i="0" u="none" strike="noStrike" cap="none" dirty="0">
                <a:solidFill>
                  <a:schemeClr val="dk1"/>
                </a:solidFill>
                <a:latin typeface="Calibri"/>
                <a:ea typeface="Calibri"/>
                <a:cs typeface="Calibri"/>
                <a:sym typeface="Calibri"/>
              </a:rPr>
              <a:t> – כל תהליך ניתן לו </a:t>
            </a:r>
            <a:r>
              <a:rPr lang="en-US" sz="1200" b="0" i="0" u="none" strike="noStrike" cap="none" dirty="0">
                <a:solidFill>
                  <a:schemeClr val="dk1"/>
                </a:solidFill>
                <a:latin typeface="Calibri"/>
                <a:ea typeface="Calibri"/>
                <a:cs typeface="Calibri"/>
                <a:sym typeface="Calibri"/>
              </a:rPr>
              <a:t>1/n</a:t>
            </a:r>
            <a:r>
              <a:rPr lang="he-IL" sz="1200" b="0" i="0" u="none" strike="noStrike" cap="none" dirty="0">
                <a:solidFill>
                  <a:schemeClr val="dk1"/>
                </a:solidFill>
                <a:latin typeface="Calibri"/>
                <a:ea typeface="Calibri"/>
                <a:cs typeface="Calibri"/>
                <a:sym typeface="Calibri"/>
              </a:rPr>
              <a:t> זמן אך לא נתייחס לכל התהליכים בצורה שווה. </a:t>
            </a: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כאן יש תהליכים ששווים יותר ויש שפחות, עדיין יחשב את היחס כמו של </a:t>
            </a:r>
            <a:r>
              <a:rPr lang="en-US" sz="1200" b="0" i="0" u="none" strike="noStrike" cap="none" dirty="0">
                <a:solidFill>
                  <a:schemeClr val="dk1"/>
                </a:solidFill>
                <a:latin typeface="Calibri"/>
                <a:ea typeface="Calibri"/>
                <a:cs typeface="Calibri"/>
                <a:sym typeface="Calibri"/>
              </a:rPr>
              <a:t>guaranteed</a:t>
            </a:r>
            <a:r>
              <a:rPr lang="he-IL" sz="1200" b="0" i="0" u="none" strike="noStrike" cap="none" dirty="0">
                <a:solidFill>
                  <a:schemeClr val="dk1"/>
                </a:solidFill>
                <a:latin typeface="Calibri"/>
                <a:ea typeface="Calibri"/>
                <a:cs typeface="Calibri"/>
                <a:sym typeface="Calibri"/>
              </a:rPr>
              <a:t>, אך איך ידע לתת לתהליכים שונים עדיפות שונה? לכל תהליך יש </a:t>
            </a:r>
            <a:r>
              <a:rPr lang="en-US" sz="1200" b="0" i="0" u="none" strike="noStrike" cap="none" dirty="0">
                <a:solidFill>
                  <a:schemeClr val="dk1"/>
                </a:solidFill>
                <a:latin typeface="Calibri"/>
                <a:ea typeface="Calibri"/>
                <a:cs typeface="Calibri"/>
                <a:sym typeface="Calibri"/>
              </a:rPr>
              <a:t>priority</a:t>
            </a:r>
            <a:r>
              <a:rPr lang="he-IL" sz="1200" b="0" i="0" u="none" strike="noStrike" cap="none" dirty="0">
                <a:solidFill>
                  <a:schemeClr val="dk1"/>
                </a:solidFill>
                <a:latin typeface="Calibri"/>
                <a:ea typeface="Calibri"/>
                <a:cs typeface="Calibri"/>
                <a:sym typeface="Calibri"/>
              </a:rPr>
              <a:t> אבל הוא משפיע על איך שהזמן נספר.</a:t>
            </a:r>
          </a:p>
          <a:p>
            <a:pPr marL="0" marR="0" lvl="0" indent="0" algn="r" rtl="1">
              <a:lnSpc>
                <a:spcPct val="100000"/>
              </a:lnSpc>
              <a:spcBef>
                <a:spcPts val="0"/>
              </a:spcBef>
              <a:spcAft>
                <a:spcPts val="0"/>
              </a:spcAft>
              <a:buSzPts val="1400"/>
              <a:buNone/>
            </a:pPr>
            <a:endParaRPr lang="en-US" sz="1200" b="0" i="0" u="none" strike="noStrike" cap="none" dirty="0">
              <a:solidFill>
                <a:schemeClr val="dk1"/>
              </a:solidFill>
              <a:latin typeface="Calibri"/>
              <a:ea typeface="Calibri"/>
              <a:cs typeface="Calibri"/>
              <a:sym typeface="Calibri"/>
            </a:endParaRP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לכל תהליך נשמור שדה </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 </a:t>
            </a:r>
            <a:r>
              <a:rPr lang="en-US" sz="1200" b="0" i="0" u="none" strike="noStrike" cap="none" dirty="0">
                <a:solidFill>
                  <a:schemeClr val="dk1"/>
                </a:solidFill>
                <a:latin typeface="Calibri"/>
                <a:ea typeface="Calibri"/>
                <a:cs typeface="Calibri"/>
                <a:sym typeface="Calibri"/>
              </a:rPr>
              <a:t>virtual runtime</a:t>
            </a:r>
            <a:r>
              <a:rPr lang="he-IL" sz="1200" b="0" i="0" u="none" strike="noStrike" cap="none" dirty="0">
                <a:solidFill>
                  <a:schemeClr val="dk1"/>
                </a:solidFill>
                <a:latin typeface="Calibri"/>
                <a:ea typeface="Calibri"/>
                <a:cs typeface="Calibri"/>
                <a:sym typeface="Calibri"/>
              </a:rPr>
              <a:t>. אם ב</a:t>
            </a:r>
            <a:r>
              <a:rPr lang="en-US" sz="1200" b="0" i="0" u="none" strike="noStrike" cap="none" dirty="0">
                <a:solidFill>
                  <a:schemeClr val="dk1"/>
                </a:solidFill>
                <a:latin typeface="Calibri"/>
                <a:ea typeface="Calibri"/>
                <a:cs typeface="Calibri"/>
                <a:sym typeface="Calibri"/>
              </a:rPr>
              <a:t>guaranteed</a:t>
            </a:r>
            <a:r>
              <a:rPr lang="he-IL" sz="1200" b="0" i="0" u="none" strike="noStrike" cap="none" dirty="0">
                <a:solidFill>
                  <a:schemeClr val="dk1"/>
                </a:solidFill>
                <a:latin typeface="Calibri"/>
                <a:ea typeface="Calibri"/>
                <a:cs typeface="Calibri"/>
                <a:sym typeface="Calibri"/>
              </a:rPr>
              <a:t> החישוב היה בין ה</a:t>
            </a:r>
            <a:r>
              <a:rPr lang="en-US" sz="1200" b="0" i="0" u="none" strike="noStrike" cap="none" dirty="0">
                <a:solidFill>
                  <a:schemeClr val="dk1"/>
                </a:solidFill>
                <a:latin typeface="Calibri"/>
                <a:ea typeface="Calibri"/>
                <a:cs typeface="Calibri"/>
                <a:sym typeface="Calibri"/>
              </a:rPr>
              <a:t>runtime </a:t>
            </a:r>
            <a:r>
              <a:rPr lang="he-IL" sz="1200" b="0" i="0" u="none" strike="noStrike" cap="none" dirty="0">
                <a:solidFill>
                  <a:schemeClr val="dk1"/>
                </a:solidFill>
                <a:latin typeface="Calibri"/>
                <a:ea typeface="Calibri"/>
                <a:cs typeface="Calibri"/>
                <a:sym typeface="Calibri"/>
              </a:rPr>
              <a:t> לבין הזמן שמגיע לתהליך, אז כאן היחס יחושב עם </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הרעיון –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נספר בצורה שונה לתהליכים בעלי עדיפויות שונות.</a:t>
            </a:r>
            <a:endParaRPr lang="en-US" sz="1200" b="0" i="0" u="none" strike="noStrike" cap="none" dirty="0">
              <a:solidFill>
                <a:schemeClr val="dk1"/>
              </a:solidFill>
              <a:latin typeface="Calibri"/>
              <a:ea typeface="Calibri"/>
              <a:cs typeface="Calibri"/>
              <a:sym typeface="Calibri"/>
            </a:endParaRPr>
          </a:p>
          <a:p>
            <a:pPr marL="0" marR="0" lvl="0" indent="0" algn="r" rtl="1">
              <a:lnSpc>
                <a:spcPct val="100000"/>
              </a:lnSpc>
              <a:spcBef>
                <a:spcPts val="0"/>
              </a:spcBef>
              <a:spcAft>
                <a:spcPts val="0"/>
              </a:spcAft>
              <a:buSzPts val="1400"/>
              <a:buFont typeface="Arial" panose="020B0604020202020204" pitchFamily="34" charset="0"/>
              <a:buNone/>
            </a:pPr>
            <a:r>
              <a:rPr lang="he-IL" sz="1200" b="0" i="0" u="none" strike="noStrike" cap="none" dirty="0">
                <a:solidFill>
                  <a:schemeClr val="dk1"/>
                </a:solidFill>
                <a:latin typeface="Calibri"/>
                <a:ea typeface="Calibri"/>
                <a:cs typeface="Calibri"/>
                <a:sym typeface="Calibri"/>
              </a:rPr>
              <a:t>למשל</a:t>
            </a:r>
            <a:r>
              <a:rPr lang="en-US" sz="1200" b="0" i="0" u="none" strike="noStrike" cap="none" dirty="0">
                <a:solidFill>
                  <a:schemeClr val="dk1"/>
                </a:solidFill>
                <a:latin typeface="Calibri"/>
                <a:ea typeface="Calibri"/>
                <a:cs typeface="Calibri"/>
                <a:sym typeface="Calibri"/>
              </a:rPr>
              <a:t>:</a:t>
            </a:r>
            <a:endParaRPr lang="he-IL" sz="1200" b="0" i="0" u="none" strike="noStrike" cap="none" dirty="0">
              <a:solidFill>
                <a:schemeClr val="dk1"/>
              </a:solidFill>
              <a:latin typeface="Calibri"/>
              <a:ea typeface="Calibri"/>
              <a:cs typeface="Calibri"/>
              <a:sym typeface="Calibri"/>
            </a:endParaRPr>
          </a:p>
          <a:p>
            <a:pPr marL="171450" marR="0" lvl="0" indent="-171450" algn="r" rtl="1">
              <a:lnSpc>
                <a:spcPct val="100000"/>
              </a:lnSpc>
              <a:spcBef>
                <a:spcPts val="0"/>
              </a:spcBef>
              <a:spcAft>
                <a:spcPts val="0"/>
              </a:spcAft>
              <a:buSzPts val="1400"/>
              <a:buFont typeface="Arial" panose="020B0604020202020204" pitchFamily="34" charset="0"/>
              <a:buChar char="•"/>
            </a:pPr>
            <a:r>
              <a:rPr lang="he-IL" sz="1200" b="0" i="0" u="none" strike="noStrike" cap="none" dirty="0">
                <a:solidFill>
                  <a:schemeClr val="dk1"/>
                </a:solidFill>
                <a:latin typeface="Calibri"/>
                <a:ea typeface="Calibri"/>
                <a:cs typeface="Calibri"/>
                <a:sym typeface="Calibri"/>
              </a:rPr>
              <a:t>לתהליך עם עדיפות רגילה נניח 1,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ו</a:t>
            </a:r>
            <a:r>
              <a:rPr lang="en-US" sz="1200" b="0" i="0" u="none" strike="noStrike" cap="none" dirty="0">
                <a:solidFill>
                  <a:schemeClr val="dk1"/>
                </a:solidFill>
                <a:latin typeface="Calibri"/>
                <a:ea typeface="Calibri"/>
                <a:cs typeface="Calibri"/>
                <a:sym typeface="Calibri"/>
              </a:rPr>
              <a:t>runtime</a:t>
            </a:r>
            <a:r>
              <a:rPr lang="he-IL" sz="1200" b="0" i="0" u="none" strike="noStrike" cap="none" dirty="0">
                <a:solidFill>
                  <a:schemeClr val="dk1"/>
                </a:solidFill>
                <a:latin typeface="Calibri"/>
                <a:ea typeface="Calibri"/>
                <a:cs typeface="Calibri"/>
                <a:sym typeface="Calibri"/>
              </a:rPr>
              <a:t> יהיו זהים – רצת יחידת זמן אחת,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גדל ב1.</a:t>
            </a:r>
          </a:p>
          <a:p>
            <a:pPr marL="171450" marR="0" lvl="0" indent="-171450" algn="r" rtl="1">
              <a:lnSpc>
                <a:spcPct val="100000"/>
              </a:lnSpc>
              <a:spcBef>
                <a:spcPts val="0"/>
              </a:spcBef>
              <a:spcAft>
                <a:spcPts val="0"/>
              </a:spcAft>
              <a:buSzPts val="1400"/>
              <a:buFont typeface="Arial" panose="020B0604020202020204" pitchFamily="34" charset="0"/>
              <a:buChar char="•"/>
            </a:pPr>
            <a:r>
              <a:rPr lang="he-IL" sz="1200" b="0" i="0" u="none" strike="noStrike" cap="none" dirty="0">
                <a:solidFill>
                  <a:schemeClr val="dk1"/>
                </a:solidFill>
                <a:latin typeface="Calibri"/>
                <a:ea typeface="Calibri"/>
                <a:cs typeface="Calibri"/>
                <a:sym typeface="Calibri"/>
              </a:rPr>
              <a:t>לתהליך עם עדיפות גבוהה,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גדל לאט יותר, למשל רצת יחידת זמן אחת אז הוא יגדל בחצי או אם העדיפות גבוהה מאוד אז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יגדל בעשירית למשל. </a:t>
            </a: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האלגוריתם הזה יוצר הוגנות בין תהליכים.</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p21:notes"/>
          <p:cNvSpPr txBox="1">
            <a:spLocks noGrp="1"/>
          </p:cNvSpPr>
          <p:nvPr>
            <p:ph type="sldNum" idx="12"/>
          </p:nvPr>
        </p:nvSpPr>
        <p:spPr>
          <a:xfrm>
            <a:off x="3805238" y="9361488"/>
            <a:ext cx="2911475" cy="49212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SzPts val="1200"/>
              <a:buNone/>
            </a:pPr>
            <a:fld id="{00000000-1234-1234-1234-123412341234}" type="slidenum">
              <a:rPr lang="en-US" sz="1200">
                <a:solidFill>
                  <a:schemeClr val="dk1"/>
                </a:solidFill>
                <a:latin typeface="Calibri"/>
                <a:ea typeface="Calibri"/>
                <a:cs typeface="Calibri"/>
                <a:sym typeface="Calibri"/>
              </a:rPr>
              <a:t>25</a:t>
            </a:fld>
            <a:endParaRPr sz="1200">
              <a:solidFill>
                <a:schemeClr val="dk1"/>
              </a:solidFill>
              <a:latin typeface="Calibri"/>
              <a:ea typeface="Calibri"/>
              <a:cs typeface="Calibri"/>
              <a:sym typeface="Calibri"/>
            </a:endParaRPr>
          </a:p>
        </p:txBody>
      </p:sp>
      <p:sp>
        <p:nvSpPr>
          <p:cNvPr id="449" name="Google Shape;449;p21:notes"/>
          <p:cNvSpPr>
            <a:spLocks noGrp="1" noRot="1" noChangeAspect="1"/>
          </p:cNvSpPr>
          <p:nvPr>
            <p:ph type="sldImg" idx="2"/>
          </p:nvPr>
        </p:nvSpPr>
        <p:spPr>
          <a:xfrm>
            <a:off x="74613" y="747713"/>
            <a:ext cx="6569075" cy="36957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450" name="Google Shape;450;p21:notes"/>
          <p:cNvSpPr txBox="1">
            <a:spLocks noGrp="1"/>
          </p:cNvSpPr>
          <p:nvPr>
            <p:ph type="body" idx="1"/>
          </p:nvPr>
        </p:nvSpPr>
        <p:spPr>
          <a:xfrm>
            <a:off x="671008" y="4680288"/>
            <a:ext cx="5374914" cy="4345869"/>
          </a:xfrm>
          <a:prstGeom prst="rect">
            <a:avLst/>
          </a:prstGeom>
          <a:noFill/>
          <a:ln>
            <a:noFill/>
          </a:ln>
        </p:spPr>
        <p:txBody>
          <a:bodyPr spcFirstLastPara="1" wrap="square" lIns="91425" tIns="45700" rIns="91425" bIns="45700" anchor="ctr" anchorCtr="0">
            <a:noAutofit/>
          </a:bodyPr>
          <a:lstStyle/>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לכל </a:t>
            </a:r>
            <a:r>
              <a:rPr lang="en-US" sz="1200" b="0" i="0" u="none" strike="noStrike" cap="none" dirty="0">
                <a:solidFill>
                  <a:schemeClr val="dk1"/>
                </a:solidFill>
                <a:latin typeface="Calibri"/>
                <a:ea typeface="Calibri"/>
                <a:cs typeface="Calibri"/>
                <a:sym typeface="Calibri"/>
              </a:rPr>
              <a:t>priority</a:t>
            </a:r>
            <a:r>
              <a:rPr lang="he-IL" sz="1200" b="0" i="0" u="none" strike="noStrike" cap="none" dirty="0">
                <a:solidFill>
                  <a:schemeClr val="dk1"/>
                </a:solidFill>
                <a:latin typeface="Calibri"/>
                <a:ea typeface="Calibri"/>
                <a:cs typeface="Calibri"/>
                <a:sym typeface="Calibri"/>
              </a:rPr>
              <a:t> יש </a:t>
            </a:r>
            <a:r>
              <a:rPr lang="en-US" sz="1200" b="0" i="0" u="none" strike="noStrike" cap="none" dirty="0">
                <a:solidFill>
                  <a:schemeClr val="dk1"/>
                </a:solidFill>
                <a:latin typeface="Calibri"/>
                <a:ea typeface="Calibri"/>
                <a:cs typeface="Calibri"/>
                <a:sym typeface="Calibri"/>
              </a:rPr>
              <a:t>decay factor</a:t>
            </a:r>
            <a:r>
              <a:rPr lang="he-IL" sz="1200" b="0" i="0" u="none" strike="noStrike" cap="none" dirty="0">
                <a:solidFill>
                  <a:schemeClr val="dk1"/>
                </a:solidFill>
                <a:latin typeface="Calibri"/>
                <a:ea typeface="Calibri"/>
                <a:cs typeface="Calibri"/>
                <a:sym typeface="Calibri"/>
              </a:rPr>
              <a:t> שזה מה שתיארנו – כמה זמן לוקח ל </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לגדול.</a:t>
            </a:r>
          </a:p>
          <a:p>
            <a:pPr marL="0" marR="0" lvl="0" indent="0" algn="r" rtl="1">
              <a:lnSpc>
                <a:spcPct val="100000"/>
              </a:lnSpc>
              <a:spcBef>
                <a:spcPts val="0"/>
              </a:spcBef>
              <a:spcAft>
                <a:spcPts val="0"/>
              </a:spcAft>
              <a:buSzPts val="1400"/>
              <a:buNone/>
            </a:pPr>
            <a:r>
              <a:rPr lang="he-IL" sz="1200" b="0" i="0" u="none" strike="noStrike" cap="none" dirty="0">
                <a:solidFill>
                  <a:schemeClr val="dk1"/>
                </a:solidFill>
                <a:latin typeface="Calibri"/>
                <a:ea typeface="Calibri"/>
                <a:cs typeface="Calibri"/>
                <a:sym typeface="Calibri"/>
              </a:rPr>
              <a:t>לעדיפויות נמוכות יהיו ערכים גדולים יותר של </a:t>
            </a:r>
            <a:r>
              <a:rPr lang="en-US" sz="1200" b="0" i="0" u="none" strike="noStrike" cap="none" dirty="0">
                <a:solidFill>
                  <a:schemeClr val="dk1"/>
                </a:solidFill>
                <a:latin typeface="Calibri"/>
                <a:ea typeface="Calibri"/>
                <a:cs typeface="Calibri"/>
                <a:sym typeface="Calibri"/>
              </a:rPr>
              <a:t>decay factor</a:t>
            </a:r>
            <a:r>
              <a:rPr lang="he-IL" sz="1200" b="0" i="0" u="none" strike="noStrike" cap="none" dirty="0">
                <a:solidFill>
                  <a:schemeClr val="dk1"/>
                </a:solidFill>
                <a:latin typeface="Calibri"/>
                <a:ea typeface="Calibri"/>
                <a:cs typeface="Calibri"/>
                <a:sym typeface="Calibri"/>
              </a:rPr>
              <a:t>, כלומר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יגדל מהר יותר ולעדיפויות גדולות יהיה </a:t>
            </a:r>
            <a:r>
              <a:rPr lang="en-US" sz="1200" b="0" i="0" u="none" strike="noStrike" cap="none" dirty="0">
                <a:solidFill>
                  <a:schemeClr val="dk1"/>
                </a:solidFill>
                <a:latin typeface="Calibri"/>
                <a:ea typeface="Calibri"/>
                <a:cs typeface="Calibri"/>
                <a:sym typeface="Calibri"/>
              </a:rPr>
              <a:t>decay factor</a:t>
            </a:r>
            <a:r>
              <a:rPr lang="he-IL" sz="1200" b="0" i="0" u="none" strike="noStrike" cap="none" dirty="0">
                <a:solidFill>
                  <a:schemeClr val="dk1"/>
                </a:solidFill>
                <a:latin typeface="Calibri"/>
                <a:ea typeface="Calibri"/>
                <a:cs typeface="Calibri"/>
                <a:sym typeface="Calibri"/>
              </a:rPr>
              <a:t> נמוך יותר כלומר ה</a:t>
            </a:r>
            <a:r>
              <a:rPr lang="en-US" sz="1200" b="0" i="0" u="none" strike="noStrike" cap="none" dirty="0" err="1">
                <a:solidFill>
                  <a:schemeClr val="dk1"/>
                </a:solidFill>
                <a:latin typeface="Calibri"/>
                <a:ea typeface="Calibri"/>
                <a:cs typeface="Calibri"/>
                <a:sym typeface="Calibri"/>
              </a:rPr>
              <a:t>vruntime</a:t>
            </a:r>
            <a:r>
              <a:rPr lang="he-IL" sz="1200" b="0" i="0" u="none" strike="noStrike" cap="none" dirty="0">
                <a:solidFill>
                  <a:schemeClr val="dk1"/>
                </a:solidFill>
                <a:latin typeface="Calibri"/>
                <a:ea typeface="Calibri"/>
                <a:cs typeface="Calibri"/>
                <a:sym typeface="Calibri"/>
              </a:rPr>
              <a:t> גדל לאט יותר.</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2: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360"/>
              </a:spcBef>
              <a:spcAft>
                <a:spcPts val="0"/>
              </a:spcAft>
              <a:buSzPts val="1400"/>
              <a:buNone/>
            </a:pPr>
            <a:r>
              <a:rPr lang="he-IL" dirty="0"/>
              <a:t>שתי שאלות שנעשה:</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b="1" dirty="0"/>
              <a:t>למה צריך מערכת הפעלה שיכולה להריץ כמה תהליכים במקביל?</a:t>
            </a:r>
          </a:p>
          <a:p>
            <a:pPr marL="0" lvl="0" indent="0" algn="r" rtl="1">
              <a:lnSpc>
                <a:spcPct val="100000"/>
              </a:lnSpc>
              <a:spcBef>
                <a:spcPts val="360"/>
              </a:spcBef>
              <a:spcAft>
                <a:spcPts val="0"/>
              </a:spcAft>
              <a:buSzPts val="1400"/>
              <a:buNone/>
            </a:pPr>
            <a:r>
              <a:rPr lang="he-IL" dirty="0"/>
              <a:t>נניח שיש מערכת שתהליכים בה מחכים ל</a:t>
            </a:r>
            <a:r>
              <a:rPr lang="en-US" dirty="0"/>
              <a:t>I/O</a:t>
            </a:r>
            <a:r>
              <a:rPr lang="he-IL" dirty="0"/>
              <a:t> 60% מהזמן. מה יהיה הניצול של ה</a:t>
            </a:r>
            <a:r>
              <a:rPr lang="en-US" dirty="0" err="1"/>
              <a:t>cpu</a:t>
            </a:r>
            <a:r>
              <a:rPr lang="he-IL" dirty="0"/>
              <a:t> כאשר יש רק תהליך אחד שרץ? כלומר אין אופציה למולטי </a:t>
            </a:r>
            <a:r>
              <a:rPr lang="he-IL" dirty="0" err="1"/>
              <a:t>פרוגרמינג</a:t>
            </a:r>
            <a:r>
              <a:rPr lang="he-IL" dirty="0"/>
              <a:t>.</a:t>
            </a:r>
          </a:p>
          <a:p>
            <a:pPr marL="0" lvl="0" indent="0" algn="r" rtl="1">
              <a:lnSpc>
                <a:spcPct val="100000"/>
              </a:lnSpc>
              <a:spcBef>
                <a:spcPts val="360"/>
              </a:spcBef>
              <a:spcAft>
                <a:spcPts val="0"/>
              </a:spcAft>
              <a:buSzPts val="1400"/>
              <a:buNone/>
            </a:pPr>
            <a:r>
              <a:rPr lang="he-IL" dirty="0" err="1"/>
              <a:t>תשובה:הניצולת</a:t>
            </a:r>
            <a:r>
              <a:rPr lang="he-IL" dirty="0"/>
              <a:t> תהיה 40%.</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אם יש שלושה תהליכים שרצים וכן יש אופציה למולטי </a:t>
            </a:r>
            <a:r>
              <a:rPr lang="he-IL" dirty="0" err="1"/>
              <a:t>פרוגרמינג</a:t>
            </a:r>
            <a:r>
              <a:rPr lang="he-IL" dirty="0"/>
              <a:t>, בכל אחד מאלגוריתמי התזמון (לא משנה אם </a:t>
            </a:r>
            <a:r>
              <a:rPr lang="en-US" dirty="0"/>
              <a:t>preemptive</a:t>
            </a:r>
            <a:r>
              <a:rPr lang="he-IL" dirty="0"/>
              <a:t> או </a:t>
            </a:r>
            <a:r>
              <a:rPr lang="en-US" dirty="0"/>
              <a:t>non-preemptive</a:t>
            </a:r>
            <a:r>
              <a:rPr lang="he-IL" dirty="0"/>
              <a:t>) ברגע שתהליך ממתין ל</a:t>
            </a:r>
            <a:r>
              <a:rPr lang="en-US" dirty="0"/>
              <a:t>I/O</a:t>
            </a:r>
            <a:r>
              <a:rPr lang="he-IL" dirty="0"/>
              <a:t>, ה</a:t>
            </a:r>
            <a:r>
              <a:rPr lang="en-US" dirty="0"/>
              <a:t>scheduler</a:t>
            </a:r>
            <a:r>
              <a:rPr lang="he-IL" dirty="0"/>
              <a:t> </a:t>
            </a:r>
            <a:r>
              <a:rPr lang="he-IL" dirty="0" err="1"/>
              <a:t>יתן</a:t>
            </a:r>
            <a:r>
              <a:rPr lang="he-IL" dirty="0"/>
              <a:t> זמן ריצה לתהליך אחר.</a:t>
            </a:r>
          </a:p>
          <a:p>
            <a:pPr marL="0" lvl="0" indent="0" algn="r" rtl="1">
              <a:lnSpc>
                <a:spcPct val="100000"/>
              </a:lnSpc>
              <a:spcBef>
                <a:spcPts val="360"/>
              </a:spcBef>
              <a:spcAft>
                <a:spcPts val="0"/>
              </a:spcAft>
              <a:buSzPts val="1400"/>
              <a:buNone/>
            </a:pPr>
            <a:endParaRPr lang="he-IL" dirty="0"/>
          </a:p>
          <a:p>
            <a:pPr marL="0" lvl="0" indent="0" algn="r" rtl="1">
              <a:lnSpc>
                <a:spcPct val="100000"/>
              </a:lnSpc>
              <a:spcBef>
                <a:spcPts val="360"/>
              </a:spcBef>
              <a:spcAft>
                <a:spcPts val="0"/>
              </a:spcAft>
              <a:buSzPts val="1400"/>
              <a:buNone/>
            </a:pPr>
            <a:r>
              <a:rPr lang="he-IL" dirty="0"/>
              <a:t>מה תהיה ניצולת ה</a:t>
            </a:r>
            <a:r>
              <a:rPr lang="en-US" dirty="0" err="1"/>
              <a:t>cpu</a:t>
            </a:r>
            <a:r>
              <a:rPr lang="he-IL" dirty="0"/>
              <a:t>?</a:t>
            </a:r>
            <a:r>
              <a:rPr lang="en-US" dirty="0"/>
              <a:t> </a:t>
            </a:r>
            <a:r>
              <a:rPr lang="he-IL" dirty="0"/>
              <a:t>או מתי ה</a:t>
            </a:r>
            <a:r>
              <a:rPr lang="en-US" dirty="0" err="1"/>
              <a:t>cpu</a:t>
            </a:r>
            <a:r>
              <a:rPr lang="he-IL" dirty="0"/>
              <a:t> יהיה במצב </a:t>
            </a:r>
            <a:r>
              <a:rPr lang="en-US" dirty="0"/>
              <a:t>idle</a:t>
            </a:r>
            <a:r>
              <a:rPr lang="he-IL" dirty="0"/>
              <a:t>? כששלושתם </a:t>
            </a:r>
            <a:r>
              <a:rPr lang="en-US" dirty="0"/>
              <a:t>blocked</a:t>
            </a:r>
            <a:r>
              <a:rPr lang="he-IL" dirty="0"/>
              <a:t> (תשובה מלאה בשקף הבא).</a:t>
            </a:r>
          </a:p>
          <a:p>
            <a:pPr marL="0" lvl="0" indent="0" algn="r" rtl="1">
              <a:lnSpc>
                <a:spcPct val="100000"/>
              </a:lnSpc>
              <a:spcBef>
                <a:spcPts val="360"/>
              </a:spcBef>
              <a:spcAft>
                <a:spcPts val="0"/>
              </a:spcAft>
              <a:buSzPts val="1400"/>
              <a:buNone/>
            </a:pPr>
            <a:r>
              <a:rPr lang="he-IL" dirty="0"/>
              <a:t>אם כל אחד מהתהליכים </a:t>
            </a:r>
            <a:r>
              <a:rPr lang="en-US" dirty="0"/>
              <a:t>blocked</a:t>
            </a:r>
            <a:r>
              <a:rPr lang="he-IL" dirty="0"/>
              <a:t> 60% מהזמן, אז ההסתברות ששלושתם יהיו </a:t>
            </a:r>
            <a:r>
              <a:rPr lang="en-US" dirty="0"/>
              <a:t>blocked</a:t>
            </a:r>
            <a:r>
              <a:rPr lang="he-IL" dirty="0"/>
              <a:t> היא </a:t>
            </a:r>
            <a:r>
              <a:rPr lang="en-US" dirty="0"/>
              <a:t>0.6^3</a:t>
            </a:r>
            <a:r>
              <a:rPr lang="he-IL" dirty="0"/>
              <a:t> ולכן ניצולת ה</a:t>
            </a:r>
            <a:r>
              <a:rPr lang="en-US" dirty="0" err="1"/>
              <a:t>cpu</a:t>
            </a:r>
            <a:r>
              <a:rPr lang="he-IL" dirty="0"/>
              <a:t> תהיה 1 פחות </a:t>
            </a:r>
            <a:r>
              <a:rPr lang="en-US" dirty="0"/>
              <a:t>0.6^3</a:t>
            </a:r>
            <a:r>
              <a:rPr lang="he-IL" dirty="0"/>
              <a:t>.</a:t>
            </a:r>
          </a:p>
          <a:p>
            <a:pPr marL="0" lvl="0" indent="0" algn="r" rtl="1">
              <a:lnSpc>
                <a:spcPct val="100000"/>
              </a:lnSpc>
              <a:spcBef>
                <a:spcPts val="360"/>
              </a:spcBef>
              <a:spcAft>
                <a:spcPts val="0"/>
              </a:spcAft>
              <a:buSzPts val="1400"/>
              <a:buNone/>
            </a:pPr>
            <a:endParaRPr dirty="0"/>
          </a:p>
        </p:txBody>
      </p:sp>
      <p:sp>
        <p:nvSpPr>
          <p:cNvPr id="456" name="Google Shape;456;p22: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p23:notes"/>
          <p:cNvSpPr txBox="1">
            <a:spLocks noGrp="1"/>
          </p:cNvSpPr>
          <p:nvPr>
            <p:ph type="body" idx="1"/>
          </p:nvPr>
        </p:nvSpPr>
        <p:spPr>
          <a:xfrm>
            <a:off x="671513" y="4681538"/>
            <a:ext cx="5375275" cy="4433887"/>
          </a:xfrm>
          <a:prstGeom prst="rect">
            <a:avLst/>
          </a:prstGeom>
          <a:noFill/>
          <a:ln>
            <a:noFill/>
          </a:ln>
        </p:spPr>
        <p:txBody>
          <a:bodyPr spcFirstLastPara="1" wrap="square" lIns="91425" tIns="91425" rIns="91425" bIns="91425" anchor="t" anchorCtr="0">
            <a:noAutofit/>
          </a:bodyPr>
          <a:lstStyle/>
          <a:p>
            <a:pPr marL="0" lvl="0" indent="0" algn="r" rtl="1">
              <a:lnSpc>
                <a:spcPct val="100000"/>
              </a:lnSpc>
              <a:spcBef>
                <a:spcPts val="360"/>
              </a:spcBef>
              <a:spcAft>
                <a:spcPts val="0"/>
              </a:spcAft>
              <a:buSzPts val="1400"/>
              <a:buNone/>
            </a:pPr>
            <a:r>
              <a:rPr lang="he-IL" dirty="0"/>
              <a:t>ראינו שיפור משמעותי בלי תלות באלגוריתם תזמון ורק מזה שמערכת ההפעלה תומכת במולטי </a:t>
            </a:r>
            <a:r>
              <a:rPr lang="he-IL" dirty="0" err="1"/>
              <a:t>פרוגרמינג</a:t>
            </a:r>
            <a:r>
              <a:rPr lang="he-IL" dirty="0"/>
              <a:t> – 78% לעומת 60%.</a:t>
            </a:r>
            <a:endParaRPr dirty="0"/>
          </a:p>
        </p:txBody>
      </p:sp>
      <p:sp>
        <p:nvSpPr>
          <p:cNvPr id="463" name="Google Shape;463;p23:notes"/>
          <p:cNvSpPr>
            <a:spLocks noGrp="1" noRot="1" noChangeAspect="1"/>
          </p:cNvSpPr>
          <p:nvPr>
            <p:ph type="sldImg" idx="2"/>
          </p:nvPr>
        </p:nvSpPr>
        <p:spPr>
          <a:xfrm>
            <a:off x="74613" y="739775"/>
            <a:ext cx="6569075" cy="36957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17" name="Google Shape;17;p1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3" name="Google Shape;2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9" name="Google Shape;2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35" name="Google Shape;3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42" name="Google Shape;4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51" name="Google Shape;5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0" name="Google Shape;60;p2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2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2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67" name="Google Shape;67;p26"/>
          <p:cNvSpPr>
            <a:spLocks noGrp="1"/>
          </p:cNvSpPr>
          <p:nvPr>
            <p:ph type="pic" idx="2"/>
          </p:nvPr>
        </p:nvSpPr>
        <p:spPr>
          <a:xfrm>
            <a:off x="5183188" y="987425"/>
            <a:ext cx="6172200" cy="4873625"/>
          </a:xfrm>
          <a:prstGeom prst="rect">
            <a:avLst/>
          </a:prstGeom>
          <a:noFill/>
          <a:ln>
            <a:noFill/>
          </a:ln>
        </p:spPr>
      </p:sp>
      <p:sp>
        <p:nvSpPr>
          <p:cNvPr id="68" name="Google Shape;68;p2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74" name="Google Shape;74;p2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2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b="0" i="0">
                <a:latin typeface="Arial" panose="020B0604020202020204" pitchFamily="34" charset="0"/>
                <a:cs typeface="Arial" panose="020B0604020202020204" pitchFamily="34" charset="0"/>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80" name="Google Shape;80;p2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dirty="0"/>
          </a:p>
        </p:txBody>
      </p:sp>
      <p:sp>
        <p:nvSpPr>
          <p:cNvPr id="11" name="Google Shape;11;p1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panose="020B0604020202020204" pitchFamily="34" charset="0"/>
          <a:ea typeface="Arial" panose="020B0604020202020204" pitchFamily="34" charset="0"/>
          <a:cs typeface="Arial" panose="020B0604020202020204" pitchFamily="34" charset="0"/>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p>
            <a:pPr marL="0" lvl="0" indent="0" algn="ctr" rtl="1">
              <a:lnSpc>
                <a:spcPct val="90000"/>
              </a:lnSpc>
              <a:spcBef>
                <a:spcPts val="0"/>
              </a:spcBef>
              <a:spcAft>
                <a:spcPts val="0"/>
              </a:spcAft>
              <a:buClr>
                <a:schemeClr val="dk1"/>
              </a:buClr>
              <a:buSzPts val="6000"/>
              <a:buFont typeface="Play"/>
              <a:buNone/>
            </a:pPr>
            <a:r>
              <a:rPr lang="en-US" dirty="0"/>
              <a:t>Operating Systems</a:t>
            </a:r>
            <a:endParaRPr dirty="0"/>
          </a:p>
        </p:txBody>
      </p:sp>
      <p:sp>
        <p:nvSpPr>
          <p:cNvPr id="90" name="Google Shape;90;p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a:t>Practical Session 2</a:t>
            </a:r>
            <a:endParaRPr/>
          </a:p>
          <a:p>
            <a:pPr marL="0" lvl="0" indent="0" algn="ctr" rtl="0">
              <a:lnSpc>
                <a:spcPct val="90000"/>
              </a:lnSpc>
              <a:spcBef>
                <a:spcPts val="1000"/>
              </a:spcBef>
              <a:spcAft>
                <a:spcPts val="0"/>
              </a:spcAft>
              <a:buClr>
                <a:schemeClr val="dk1"/>
              </a:buClr>
              <a:buSzPts val="2400"/>
              <a:buNone/>
            </a:pPr>
            <a:r>
              <a:rPr lang="en-US"/>
              <a:t>Processes and Scheduling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dirty="0"/>
              <a:t>Process model</a:t>
            </a:r>
            <a:endParaRPr dirty="0"/>
          </a:p>
        </p:txBody>
      </p:sp>
      <p:sp>
        <p:nvSpPr>
          <p:cNvPr id="97" name="Google Shape;97;p2"/>
          <p:cNvSpPr/>
          <p:nvPr/>
        </p:nvSpPr>
        <p:spPr>
          <a:xfrm>
            <a:off x="536448" y="1945218"/>
            <a:ext cx="1549473" cy="743712"/>
          </a:xfrm>
          <a:prstGeom prst="roundRect">
            <a:avLst>
              <a:gd name="adj" fmla="val 16667"/>
            </a:avLst>
          </a:prstGeom>
          <a:gradFill>
            <a:gsLst>
              <a:gs pos="0">
                <a:srgbClr val="575757"/>
              </a:gs>
              <a:gs pos="48000">
                <a:srgbClr val="8B8B8B"/>
              </a:gs>
              <a:gs pos="100000">
                <a:srgbClr val="E1E1E1"/>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Arial"/>
                <a:ea typeface="Arial"/>
                <a:cs typeface="Arial"/>
                <a:sym typeface="Arial"/>
              </a:rPr>
              <a:t>UNUSED</a:t>
            </a:r>
            <a:endParaRPr dirty="0"/>
          </a:p>
        </p:txBody>
      </p:sp>
      <p:sp>
        <p:nvSpPr>
          <p:cNvPr id="98" name="Google Shape;98;p2"/>
          <p:cNvSpPr/>
          <p:nvPr/>
        </p:nvSpPr>
        <p:spPr>
          <a:xfrm>
            <a:off x="3726325" y="1945218"/>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Arial"/>
                <a:ea typeface="Arial"/>
                <a:cs typeface="Arial"/>
                <a:sym typeface="Arial"/>
              </a:rPr>
              <a:t>RUNNABLE</a:t>
            </a:r>
            <a:endParaRPr dirty="0"/>
          </a:p>
        </p:txBody>
      </p:sp>
      <p:sp>
        <p:nvSpPr>
          <p:cNvPr id="99" name="Google Shape;99;p2"/>
          <p:cNvSpPr/>
          <p:nvPr/>
        </p:nvSpPr>
        <p:spPr>
          <a:xfrm>
            <a:off x="6916202" y="1945218"/>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RUNNING</a:t>
            </a:r>
            <a:endParaRPr/>
          </a:p>
        </p:txBody>
      </p:sp>
      <p:sp>
        <p:nvSpPr>
          <p:cNvPr id="100" name="Google Shape;100;p2"/>
          <p:cNvSpPr/>
          <p:nvPr/>
        </p:nvSpPr>
        <p:spPr>
          <a:xfrm>
            <a:off x="10106079" y="1945218"/>
            <a:ext cx="1549473" cy="743712"/>
          </a:xfrm>
          <a:prstGeom prst="roundRect">
            <a:avLst>
              <a:gd name="adj" fmla="val 16667"/>
            </a:avLst>
          </a:prstGeom>
          <a:gradFill>
            <a:gsLst>
              <a:gs pos="0">
                <a:srgbClr val="AB1212"/>
              </a:gs>
              <a:gs pos="48000">
                <a:srgbClr val="EA3838"/>
              </a:gs>
              <a:gs pos="100000">
                <a:srgbClr val="F28484"/>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dirty="0">
                <a:solidFill>
                  <a:schemeClr val="lt1"/>
                </a:solidFill>
                <a:latin typeface="Arial"/>
                <a:ea typeface="Arial"/>
                <a:cs typeface="Arial"/>
                <a:sym typeface="Arial"/>
              </a:rPr>
              <a:t>ZOMBIE</a:t>
            </a:r>
            <a:endParaRPr dirty="0"/>
          </a:p>
        </p:txBody>
      </p:sp>
      <p:cxnSp>
        <p:nvCxnSpPr>
          <p:cNvPr id="101" name="Google Shape;101;p2"/>
          <p:cNvCxnSpPr>
            <a:stCxn id="97" idx="3"/>
            <a:endCxn id="98" idx="1"/>
          </p:cNvCxnSpPr>
          <p:nvPr/>
        </p:nvCxnSpPr>
        <p:spPr>
          <a:xfrm>
            <a:off x="2085921" y="2317074"/>
            <a:ext cx="1640400" cy="0"/>
          </a:xfrm>
          <a:prstGeom prst="straightConnector1">
            <a:avLst/>
          </a:prstGeom>
          <a:noFill/>
          <a:ln w="38100" cap="flat" cmpd="sng">
            <a:solidFill>
              <a:schemeClr val="dk1"/>
            </a:solidFill>
            <a:prstDash val="solid"/>
            <a:miter lim="800000"/>
            <a:headEnd type="none" w="sm" len="sm"/>
            <a:tailEnd type="triangle" w="med" len="med"/>
          </a:ln>
        </p:spPr>
      </p:cxnSp>
      <p:cxnSp>
        <p:nvCxnSpPr>
          <p:cNvPr id="102" name="Google Shape;102;p2"/>
          <p:cNvCxnSpPr/>
          <p:nvPr/>
        </p:nvCxnSpPr>
        <p:spPr>
          <a:xfrm>
            <a:off x="5275798" y="2049057"/>
            <a:ext cx="1640404" cy="0"/>
          </a:xfrm>
          <a:prstGeom prst="straightConnector1">
            <a:avLst/>
          </a:prstGeom>
          <a:noFill/>
          <a:ln w="38100" cap="flat" cmpd="sng">
            <a:solidFill>
              <a:schemeClr val="dk1"/>
            </a:solidFill>
            <a:prstDash val="solid"/>
            <a:miter lim="800000"/>
            <a:headEnd type="none" w="sm" len="sm"/>
            <a:tailEnd type="triangle" w="med" len="med"/>
          </a:ln>
        </p:spPr>
      </p:cxnSp>
      <p:cxnSp>
        <p:nvCxnSpPr>
          <p:cNvPr id="103" name="Google Shape;103;p2"/>
          <p:cNvCxnSpPr>
            <a:stCxn id="99" idx="3"/>
            <a:endCxn id="100" idx="1"/>
          </p:cNvCxnSpPr>
          <p:nvPr/>
        </p:nvCxnSpPr>
        <p:spPr>
          <a:xfrm>
            <a:off x="8465675" y="2317074"/>
            <a:ext cx="1640400" cy="0"/>
          </a:xfrm>
          <a:prstGeom prst="straightConnector1">
            <a:avLst/>
          </a:prstGeom>
          <a:noFill/>
          <a:ln w="38100" cap="flat" cmpd="sng">
            <a:solidFill>
              <a:schemeClr val="dk1"/>
            </a:solidFill>
            <a:prstDash val="solid"/>
            <a:miter lim="800000"/>
            <a:headEnd type="none" w="sm" len="sm"/>
            <a:tailEnd type="triangle" w="med" len="med"/>
          </a:ln>
        </p:spPr>
      </p:cxnSp>
      <p:sp>
        <p:nvSpPr>
          <p:cNvPr id="104" name="Google Shape;104;p2"/>
          <p:cNvSpPr/>
          <p:nvPr/>
        </p:nvSpPr>
        <p:spPr>
          <a:xfrm>
            <a:off x="5321263" y="4761334"/>
            <a:ext cx="1549473" cy="743712"/>
          </a:xfrm>
          <a:prstGeom prst="roundRect">
            <a:avLst>
              <a:gd name="adj" fmla="val 16667"/>
            </a:avLst>
          </a:prstGeom>
          <a:solidFill>
            <a:schemeClr val="dk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Arial"/>
                <a:ea typeface="Arial"/>
                <a:cs typeface="Arial"/>
                <a:sym typeface="Arial"/>
              </a:rPr>
              <a:t>SLEEPING</a:t>
            </a:r>
            <a:endParaRPr/>
          </a:p>
        </p:txBody>
      </p:sp>
      <p:cxnSp>
        <p:nvCxnSpPr>
          <p:cNvPr id="105" name="Google Shape;105;p2"/>
          <p:cNvCxnSpPr/>
          <p:nvPr/>
        </p:nvCxnSpPr>
        <p:spPr>
          <a:xfrm>
            <a:off x="5275798" y="2532533"/>
            <a:ext cx="1640404" cy="0"/>
          </a:xfrm>
          <a:prstGeom prst="straightConnector1">
            <a:avLst/>
          </a:prstGeom>
          <a:noFill/>
          <a:ln w="38100" cap="flat" cmpd="sng">
            <a:solidFill>
              <a:schemeClr val="dk1"/>
            </a:solidFill>
            <a:prstDash val="solid"/>
            <a:miter lim="800000"/>
            <a:headEnd type="triangle" w="med" len="med"/>
            <a:tailEnd type="none" w="sm" len="sm"/>
          </a:ln>
        </p:spPr>
      </p:cxnSp>
      <p:cxnSp>
        <p:nvCxnSpPr>
          <p:cNvPr id="106" name="Google Shape;106;p2"/>
          <p:cNvCxnSpPr>
            <a:stCxn id="99" idx="2"/>
          </p:cNvCxnSpPr>
          <p:nvPr/>
        </p:nvCxnSpPr>
        <p:spPr>
          <a:xfrm flipH="1">
            <a:off x="6870738" y="2688930"/>
            <a:ext cx="820200" cy="2120100"/>
          </a:xfrm>
          <a:prstGeom prst="straightConnector1">
            <a:avLst/>
          </a:prstGeom>
          <a:noFill/>
          <a:ln w="38100" cap="flat" cmpd="sng">
            <a:solidFill>
              <a:schemeClr val="dk1"/>
            </a:solidFill>
            <a:prstDash val="solid"/>
            <a:miter lim="800000"/>
            <a:headEnd type="none" w="sm" len="sm"/>
            <a:tailEnd type="triangle" w="med" len="med"/>
          </a:ln>
        </p:spPr>
      </p:cxnSp>
      <p:cxnSp>
        <p:nvCxnSpPr>
          <p:cNvPr id="107" name="Google Shape;107;p2"/>
          <p:cNvCxnSpPr>
            <a:stCxn id="98" idx="2"/>
          </p:cNvCxnSpPr>
          <p:nvPr/>
        </p:nvCxnSpPr>
        <p:spPr>
          <a:xfrm>
            <a:off x="4501062" y="2688930"/>
            <a:ext cx="820200" cy="2120100"/>
          </a:xfrm>
          <a:prstGeom prst="straightConnector1">
            <a:avLst/>
          </a:prstGeom>
          <a:noFill/>
          <a:ln w="38100" cap="flat" cmpd="sng">
            <a:solidFill>
              <a:schemeClr val="dk1"/>
            </a:solidFill>
            <a:prstDash val="solid"/>
            <a:miter lim="800000"/>
            <a:headEnd type="triangle" w="med" len="med"/>
            <a:tailEnd type="none" w="sm" len="sm"/>
          </a:ln>
        </p:spPr>
      </p:cxnSp>
      <p:sp>
        <p:nvSpPr>
          <p:cNvPr id="108" name="Google Shape;108;p2"/>
          <p:cNvSpPr txBox="1"/>
          <p:nvPr/>
        </p:nvSpPr>
        <p:spPr>
          <a:xfrm>
            <a:off x="2360382" y="1760552"/>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dirty="0">
                <a:solidFill>
                  <a:schemeClr val="dk1"/>
                </a:solidFill>
                <a:latin typeface="Arial"/>
                <a:ea typeface="Arial"/>
                <a:cs typeface="Arial"/>
                <a:sym typeface="Arial"/>
              </a:rPr>
              <a:t>fork</a:t>
            </a:r>
            <a:endParaRPr dirty="0"/>
          </a:p>
        </p:txBody>
      </p:sp>
      <p:sp>
        <p:nvSpPr>
          <p:cNvPr id="109" name="Google Shape;109;p2"/>
          <p:cNvSpPr txBox="1"/>
          <p:nvPr/>
        </p:nvSpPr>
        <p:spPr>
          <a:xfrm>
            <a:off x="5504792" y="1480249"/>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schedule</a:t>
            </a:r>
            <a:endParaRPr dirty="0"/>
          </a:p>
        </p:txBody>
      </p:sp>
      <p:sp>
        <p:nvSpPr>
          <p:cNvPr id="110" name="Google Shape;110;p2"/>
          <p:cNvSpPr txBox="1"/>
          <p:nvPr/>
        </p:nvSpPr>
        <p:spPr>
          <a:xfrm>
            <a:off x="5279454" y="2808792"/>
            <a:ext cx="19928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timeout/syscall</a:t>
            </a:r>
            <a:endParaRPr/>
          </a:p>
        </p:txBody>
      </p:sp>
      <p:sp>
        <p:nvSpPr>
          <p:cNvPr id="111" name="Google Shape;111;p2"/>
          <p:cNvSpPr txBox="1"/>
          <p:nvPr/>
        </p:nvSpPr>
        <p:spPr>
          <a:xfrm>
            <a:off x="8820653" y="1482332"/>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exit/kill</a:t>
            </a:r>
            <a:endParaRPr/>
          </a:p>
        </p:txBody>
      </p:sp>
      <p:sp>
        <p:nvSpPr>
          <p:cNvPr id="112" name="Google Shape;112;p2"/>
          <p:cNvSpPr txBox="1"/>
          <p:nvPr/>
        </p:nvSpPr>
        <p:spPr>
          <a:xfrm>
            <a:off x="7469232" y="3463186"/>
            <a:ext cx="19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wait for event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sleep()</a:t>
            </a:r>
            <a:endParaRPr/>
          </a:p>
        </p:txBody>
      </p:sp>
      <p:sp>
        <p:nvSpPr>
          <p:cNvPr id="113" name="Google Shape;113;p2"/>
          <p:cNvSpPr txBox="1"/>
          <p:nvPr/>
        </p:nvSpPr>
        <p:spPr>
          <a:xfrm>
            <a:off x="2906123" y="3463186"/>
            <a:ext cx="19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event occurs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wakeup()</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0">
          <a:extLst>
            <a:ext uri="{FF2B5EF4-FFF2-40B4-BE49-F238E27FC236}">
              <a16:creationId xmlns:a16="http://schemas.microsoft.com/office/drawing/2014/main" id="{E38D5F14-A9CA-D804-6210-12916D47E103}"/>
            </a:ext>
          </a:extLst>
        </p:cNvPr>
        <p:cNvGrpSpPr/>
        <p:nvPr/>
      </p:nvGrpSpPr>
      <p:grpSpPr>
        <a:xfrm>
          <a:off x="0" y="0"/>
          <a:ext cx="0" cy="0"/>
          <a:chOff x="0" y="0"/>
          <a:chExt cx="0" cy="0"/>
        </a:xfrm>
      </p:grpSpPr>
      <p:sp>
        <p:nvSpPr>
          <p:cNvPr id="291" name="Google Shape;291;p16">
            <a:extLst>
              <a:ext uri="{FF2B5EF4-FFF2-40B4-BE49-F238E27FC236}">
                <a16:creationId xmlns:a16="http://schemas.microsoft.com/office/drawing/2014/main" id="{F7F53880-EAA1-0B80-CB24-39637883B347}"/>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overall flow from CPU perspective</a:t>
            </a:r>
            <a:endParaRPr sz="2800" dirty="0"/>
          </a:p>
        </p:txBody>
      </p:sp>
      <p:sp>
        <p:nvSpPr>
          <p:cNvPr id="292" name="Google Shape;292;p16">
            <a:extLst>
              <a:ext uri="{FF2B5EF4-FFF2-40B4-BE49-F238E27FC236}">
                <a16:creationId xmlns:a16="http://schemas.microsoft.com/office/drawing/2014/main" id="{C1610819-B92D-56D9-4B29-9AF3F6FBDBBA}"/>
              </a:ext>
            </a:extLst>
          </p:cNvPr>
          <p:cNvSpPr/>
          <p:nvPr/>
        </p:nvSpPr>
        <p:spPr>
          <a:xfrm>
            <a:off x="1977185" y="3559737"/>
            <a:ext cx="1984664" cy="1922318"/>
          </a:xfrm>
          <a:prstGeom prst="ellipse">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rPr>
              <a:t>S</a:t>
            </a:r>
            <a:r>
              <a:rPr lang="en-US" sz="1800" dirty="0">
                <a:solidFill>
                  <a:schemeClr val="lt1"/>
                </a:solidFill>
                <a:latin typeface="Arial"/>
                <a:ea typeface="Arial"/>
                <a:cs typeface="Arial"/>
                <a:sym typeface="Arial"/>
              </a:rPr>
              <a:t>cheduler</a:t>
            </a:r>
          </a:p>
          <a:p>
            <a:pPr marL="0" marR="0" lvl="0" indent="0" algn="ctr" rtl="0">
              <a:spcBef>
                <a:spcPts val="0"/>
              </a:spcBef>
              <a:spcAft>
                <a:spcPts val="0"/>
              </a:spcAft>
              <a:buNone/>
            </a:pPr>
            <a:r>
              <a:rPr lang="en-US" sz="1800" dirty="0">
                <a:solidFill>
                  <a:schemeClr val="lt1"/>
                </a:solidFill>
              </a:rPr>
              <a:t>picks a process</a:t>
            </a:r>
            <a:endParaRPr dirty="0"/>
          </a:p>
        </p:txBody>
      </p:sp>
      <p:sp>
        <p:nvSpPr>
          <p:cNvPr id="293" name="Google Shape;293;p16">
            <a:extLst>
              <a:ext uri="{FF2B5EF4-FFF2-40B4-BE49-F238E27FC236}">
                <a16:creationId xmlns:a16="http://schemas.microsoft.com/office/drawing/2014/main" id="{17BE4E2C-A86A-B4EB-15B8-8984FCFCA62F}"/>
              </a:ext>
            </a:extLst>
          </p:cNvPr>
          <p:cNvSpPr/>
          <p:nvPr/>
        </p:nvSpPr>
        <p:spPr>
          <a:xfrm>
            <a:off x="8256760" y="3793533"/>
            <a:ext cx="1454726" cy="1454726"/>
          </a:xfrm>
          <a:prstGeom prst="ellipse">
            <a:avLst/>
          </a:prstGeom>
          <a:gradFill>
            <a:gsLst>
              <a:gs pos="0">
                <a:srgbClr val="104718"/>
              </a:gs>
              <a:gs pos="48000">
                <a:srgbClr val="1A7326"/>
              </a:gs>
              <a:gs pos="100000">
                <a:srgbClr val="43D658"/>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process</a:t>
            </a:r>
            <a:endParaRPr/>
          </a:p>
        </p:txBody>
      </p:sp>
      <p:cxnSp>
        <p:nvCxnSpPr>
          <p:cNvPr id="294" name="Google Shape;294;p16">
            <a:extLst>
              <a:ext uri="{FF2B5EF4-FFF2-40B4-BE49-F238E27FC236}">
                <a16:creationId xmlns:a16="http://schemas.microsoft.com/office/drawing/2014/main" id="{20A6632E-03ED-1ADF-1945-7A44DD2064DA}"/>
              </a:ext>
            </a:extLst>
          </p:cNvPr>
          <p:cNvCxnSpPr>
            <a:stCxn id="292" idx="6"/>
            <a:endCxn id="293" idx="2"/>
          </p:cNvCxnSpPr>
          <p:nvPr/>
        </p:nvCxnSpPr>
        <p:spPr>
          <a:xfrm>
            <a:off x="3961849" y="4520896"/>
            <a:ext cx="4294800" cy="0"/>
          </a:xfrm>
          <a:prstGeom prst="straightConnector1">
            <a:avLst/>
          </a:prstGeom>
          <a:noFill/>
          <a:ln w="38100" cap="flat" cmpd="sng">
            <a:solidFill>
              <a:schemeClr val="dk1"/>
            </a:solidFill>
            <a:prstDash val="solid"/>
            <a:miter lim="800000"/>
            <a:headEnd type="none" w="sm" len="sm"/>
            <a:tailEnd type="triangle" w="med" len="med"/>
          </a:ln>
        </p:spPr>
      </p:cxnSp>
      <p:sp>
        <p:nvSpPr>
          <p:cNvPr id="295" name="Google Shape;295;p16">
            <a:extLst>
              <a:ext uri="{FF2B5EF4-FFF2-40B4-BE49-F238E27FC236}">
                <a16:creationId xmlns:a16="http://schemas.microsoft.com/office/drawing/2014/main" id="{E4218050-4D52-61D0-A090-00BBB45A8184}"/>
              </a:ext>
            </a:extLst>
          </p:cNvPr>
          <p:cNvSpPr txBox="1"/>
          <p:nvPr/>
        </p:nvSpPr>
        <p:spPr>
          <a:xfrm>
            <a:off x="5000383" y="4630000"/>
            <a:ext cx="4294911"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rPr>
              <a:t>Jump to </a:t>
            </a:r>
            <a:r>
              <a:rPr lang="en-US" sz="1800" dirty="0" err="1">
                <a:solidFill>
                  <a:schemeClr val="dk1"/>
                </a:solidFill>
              </a:rPr>
              <a:t>userspace</a:t>
            </a:r>
            <a:endParaRPr dirty="0"/>
          </a:p>
        </p:txBody>
      </p:sp>
      <p:cxnSp>
        <p:nvCxnSpPr>
          <p:cNvPr id="296" name="Google Shape;296;p16">
            <a:extLst>
              <a:ext uri="{FF2B5EF4-FFF2-40B4-BE49-F238E27FC236}">
                <a16:creationId xmlns:a16="http://schemas.microsoft.com/office/drawing/2014/main" id="{7DB55144-5D00-8A49-A9E6-C25F21DD1418}"/>
              </a:ext>
            </a:extLst>
          </p:cNvPr>
          <p:cNvCxnSpPr>
            <a:stCxn id="293" idx="1"/>
          </p:cNvCxnSpPr>
          <p:nvPr/>
        </p:nvCxnSpPr>
        <p:spPr>
          <a:xfrm rot="10800000">
            <a:off x="7221200" y="2707573"/>
            <a:ext cx="1248600" cy="1299000"/>
          </a:xfrm>
          <a:prstGeom prst="straightConnector1">
            <a:avLst/>
          </a:prstGeom>
          <a:noFill/>
          <a:ln w="38100" cap="flat" cmpd="sng">
            <a:solidFill>
              <a:schemeClr val="dk1"/>
            </a:solidFill>
            <a:prstDash val="solid"/>
            <a:miter lim="800000"/>
            <a:headEnd type="none" w="sm" len="sm"/>
            <a:tailEnd type="triangle" w="med" len="med"/>
          </a:ln>
        </p:spPr>
      </p:cxnSp>
      <p:cxnSp>
        <p:nvCxnSpPr>
          <p:cNvPr id="297" name="Google Shape;297;p16">
            <a:extLst>
              <a:ext uri="{FF2B5EF4-FFF2-40B4-BE49-F238E27FC236}">
                <a16:creationId xmlns:a16="http://schemas.microsoft.com/office/drawing/2014/main" id="{327B7F2D-C107-FDF4-5D24-922AC2ED6314}"/>
              </a:ext>
            </a:extLst>
          </p:cNvPr>
          <p:cNvCxnSpPr/>
          <p:nvPr/>
        </p:nvCxnSpPr>
        <p:spPr>
          <a:xfrm rot="10800000">
            <a:off x="4689211" y="2728464"/>
            <a:ext cx="2545774" cy="0"/>
          </a:xfrm>
          <a:prstGeom prst="straightConnector1">
            <a:avLst/>
          </a:prstGeom>
          <a:noFill/>
          <a:ln w="38100" cap="flat" cmpd="sng">
            <a:solidFill>
              <a:schemeClr val="dk1"/>
            </a:solidFill>
            <a:prstDash val="solid"/>
            <a:miter lim="800000"/>
            <a:headEnd type="none" w="sm" len="sm"/>
            <a:tailEnd type="triangle" w="med" len="med"/>
          </a:ln>
        </p:spPr>
      </p:cxnSp>
      <p:cxnSp>
        <p:nvCxnSpPr>
          <p:cNvPr id="298" name="Google Shape;298;p16">
            <a:extLst>
              <a:ext uri="{FF2B5EF4-FFF2-40B4-BE49-F238E27FC236}">
                <a16:creationId xmlns:a16="http://schemas.microsoft.com/office/drawing/2014/main" id="{E9D00DD3-C219-E128-C752-7388FA1923C3}"/>
              </a:ext>
            </a:extLst>
          </p:cNvPr>
          <p:cNvCxnSpPr/>
          <p:nvPr/>
        </p:nvCxnSpPr>
        <p:spPr>
          <a:xfrm flipH="1">
            <a:off x="3679366" y="2732174"/>
            <a:ext cx="1028401" cy="1133572"/>
          </a:xfrm>
          <a:prstGeom prst="straightConnector1">
            <a:avLst/>
          </a:prstGeom>
          <a:noFill/>
          <a:ln w="38100" cap="flat" cmpd="sng">
            <a:solidFill>
              <a:schemeClr val="dk1"/>
            </a:solidFill>
            <a:prstDash val="solid"/>
            <a:miter lim="800000"/>
            <a:headEnd type="none" w="sm" len="sm"/>
            <a:tailEnd type="triangle" w="med" len="med"/>
          </a:ln>
        </p:spPr>
      </p:cxnSp>
      <p:sp>
        <p:nvSpPr>
          <p:cNvPr id="299" name="Google Shape;299;p16">
            <a:extLst>
              <a:ext uri="{FF2B5EF4-FFF2-40B4-BE49-F238E27FC236}">
                <a16:creationId xmlns:a16="http://schemas.microsoft.com/office/drawing/2014/main" id="{A739B363-4405-1C11-37DF-5E9F1130F6D6}"/>
              </a:ext>
            </a:extLst>
          </p:cNvPr>
          <p:cNvSpPr txBox="1"/>
          <p:nvPr/>
        </p:nvSpPr>
        <p:spPr>
          <a:xfrm>
            <a:off x="8093928" y="2815312"/>
            <a:ext cx="226336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syscall or</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interrupt</a:t>
            </a:r>
            <a:endParaRPr/>
          </a:p>
        </p:txBody>
      </p:sp>
      <p:sp>
        <p:nvSpPr>
          <p:cNvPr id="300" name="Google Shape;300;p16">
            <a:extLst>
              <a:ext uri="{FF2B5EF4-FFF2-40B4-BE49-F238E27FC236}">
                <a16:creationId xmlns:a16="http://schemas.microsoft.com/office/drawing/2014/main" id="{25A32BA1-7FD4-7954-5C44-91FC759724F3}"/>
              </a:ext>
            </a:extLst>
          </p:cNvPr>
          <p:cNvSpPr txBox="1"/>
          <p:nvPr/>
        </p:nvSpPr>
        <p:spPr>
          <a:xfrm>
            <a:off x="5215682" y="2303071"/>
            <a:ext cx="2947687"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rPr>
              <a:t>Halt process</a:t>
            </a:r>
            <a:endParaRPr dirty="0"/>
          </a:p>
        </p:txBody>
      </p:sp>
      <p:pic>
        <p:nvPicPr>
          <p:cNvPr id="302" name="Google Shape;302;p16">
            <a:extLst>
              <a:ext uri="{FF2B5EF4-FFF2-40B4-BE49-F238E27FC236}">
                <a16:creationId xmlns:a16="http://schemas.microsoft.com/office/drawing/2014/main" id="{C6EE772F-A001-F684-18E7-4D6C63B1AEF5}"/>
              </a:ext>
            </a:extLst>
          </p:cNvPr>
          <p:cNvPicPr preferRelativeResize="0"/>
          <p:nvPr/>
        </p:nvPicPr>
        <p:blipFill rotWithShape="1">
          <a:blip r:embed="rId3">
            <a:alphaModFix/>
          </a:blip>
          <a:srcRect/>
          <a:stretch/>
        </p:blipFill>
        <p:spPr>
          <a:xfrm>
            <a:off x="5228720" y="2884710"/>
            <a:ext cx="1543050" cy="1543050"/>
          </a:xfrm>
          <a:prstGeom prst="rect">
            <a:avLst/>
          </a:prstGeom>
          <a:noFill/>
          <a:ln>
            <a:noFill/>
          </a:ln>
        </p:spPr>
      </p:pic>
      <p:pic>
        <p:nvPicPr>
          <p:cNvPr id="303" name="Google Shape;303;p16" descr="C:\Users\Zoar\Downloads\imaegs\cpu.png">
            <a:extLst>
              <a:ext uri="{FF2B5EF4-FFF2-40B4-BE49-F238E27FC236}">
                <a16:creationId xmlns:a16="http://schemas.microsoft.com/office/drawing/2014/main" id="{9098A5C2-A030-4AD7-38FB-F239AEB962E4}"/>
              </a:ext>
            </a:extLst>
          </p:cNvPr>
          <p:cNvPicPr preferRelativeResize="0"/>
          <p:nvPr/>
        </p:nvPicPr>
        <p:blipFill rotWithShape="1">
          <a:blip r:embed="rId4">
            <a:alphaModFix/>
          </a:blip>
          <a:srcRect/>
          <a:stretch/>
        </p:blipFill>
        <p:spPr>
          <a:xfrm>
            <a:off x="5309220" y="5264227"/>
            <a:ext cx="1382050" cy="1382050"/>
          </a:xfrm>
          <a:prstGeom prst="rect">
            <a:avLst/>
          </a:prstGeom>
          <a:noFill/>
          <a:ln>
            <a:noFill/>
          </a:ln>
        </p:spPr>
      </p:pic>
      <p:sp>
        <p:nvSpPr>
          <p:cNvPr id="304" name="Google Shape;304;p16">
            <a:extLst>
              <a:ext uri="{FF2B5EF4-FFF2-40B4-BE49-F238E27FC236}">
                <a16:creationId xmlns:a16="http://schemas.microsoft.com/office/drawing/2014/main" id="{0CDB725C-0662-AF17-8032-5F95CF863CF9}"/>
              </a:ext>
            </a:extLst>
          </p:cNvPr>
          <p:cNvSpPr/>
          <p:nvPr/>
        </p:nvSpPr>
        <p:spPr>
          <a:xfrm>
            <a:off x="6426201" y="6163734"/>
            <a:ext cx="321732" cy="32173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05" name="Google Shape;305;p16" descr="Single gear with solid fill">
            <a:extLst>
              <a:ext uri="{FF2B5EF4-FFF2-40B4-BE49-F238E27FC236}">
                <a16:creationId xmlns:a16="http://schemas.microsoft.com/office/drawing/2014/main" id="{880EFE97-29AF-1B60-2B38-F6DB2111B6DF}"/>
              </a:ext>
            </a:extLst>
          </p:cNvPr>
          <p:cNvPicPr preferRelativeResize="0"/>
          <p:nvPr/>
        </p:nvPicPr>
        <p:blipFill rotWithShape="1">
          <a:blip r:embed="rId5">
            <a:alphaModFix/>
          </a:blip>
          <a:srcRect/>
          <a:stretch/>
        </p:blipFill>
        <p:spPr>
          <a:xfrm>
            <a:off x="6219843" y="5955252"/>
            <a:ext cx="737860" cy="737860"/>
          </a:xfrm>
          <a:prstGeom prst="rect">
            <a:avLst/>
          </a:prstGeom>
          <a:noFill/>
          <a:ln>
            <a:noFill/>
          </a:ln>
        </p:spPr>
      </p:pic>
      <p:cxnSp>
        <p:nvCxnSpPr>
          <p:cNvPr id="306" name="Google Shape;306;p16">
            <a:extLst>
              <a:ext uri="{FF2B5EF4-FFF2-40B4-BE49-F238E27FC236}">
                <a16:creationId xmlns:a16="http://schemas.microsoft.com/office/drawing/2014/main" id="{0E79DC2B-819D-3C2E-CADC-2155F75AF33F}"/>
              </a:ext>
            </a:extLst>
          </p:cNvPr>
          <p:cNvCxnSpPr>
            <a:endCxn id="292" idx="1"/>
          </p:cNvCxnSpPr>
          <p:nvPr/>
        </p:nvCxnSpPr>
        <p:spPr>
          <a:xfrm>
            <a:off x="1493232" y="3036954"/>
            <a:ext cx="774600" cy="804300"/>
          </a:xfrm>
          <a:prstGeom prst="straightConnector1">
            <a:avLst/>
          </a:prstGeom>
          <a:noFill/>
          <a:ln w="38100" cap="flat" cmpd="sng">
            <a:solidFill>
              <a:schemeClr val="dk1"/>
            </a:solidFill>
            <a:prstDash val="solid"/>
            <a:miter lim="800000"/>
            <a:headEnd type="none" w="sm" len="sm"/>
            <a:tailEnd type="triangle" w="med" len="med"/>
          </a:ln>
        </p:spPr>
      </p:cxnSp>
      <p:sp>
        <p:nvSpPr>
          <p:cNvPr id="307" name="Google Shape;307;p16">
            <a:extLst>
              <a:ext uri="{FF2B5EF4-FFF2-40B4-BE49-F238E27FC236}">
                <a16:creationId xmlns:a16="http://schemas.microsoft.com/office/drawing/2014/main" id="{2BE22069-218F-80E9-FA92-946687886881}"/>
              </a:ext>
            </a:extLst>
          </p:cNvPr>
          <p:cNvSpPr txBox="1"/>
          <p:nvPr/>
        </p:nvSpPr>
        <p:spPr>
          <a:xfrm>
            <a:off x="1880536" y="2837079"/>
            <a:ext cx="936589"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kernel</a:t>
            </a:r>
            <a:endParaRPr dirty="0"/>
          </a:p>
          <a:p>
            <a:pPr marL="0" marR="0" lvl="0" indent="0" algn="l" rtl="0">
              <a:spcBef>
                <a:spcPts val="0"/>
              </a:spcBef>
              <a:spcAft>
                <a:spcPts val="0"/>
              </a:spcAft>
              <a:buNone/>
            </a:pPr>
            <a:r>
              <a:rPr lang="en-US" sz="1800" dirty="0">
                <a:solidFill>
                  <a:schemeClr val="dk1"/>
                </a:solidFill>
              </a:rPr>
              <a:t>starts</a:t>
            </a:r>
            <a:endParaRPr dirty="0"/>
          </a:p>
        </p:txBody>
      </p:sp>
    </p:spTree>
    <p:extLst>
      <p:ext uri="{BB962C8B-B14F-4D97-AF65-F5344CB8AC3E}">
        <p14:creationId xmlns:p14="http://schemas.microsoft.com/office/powerpoint/2010/main" val="1283543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Play"/>
              <a:buNone/>
            </a:pPr>
            <a:r>
              <a:rPr lang="en-US" dirty="0"/>
              <a:t>Process – modeled by </a:t>
            </a:r>
            <a:r>
              <a:rPr lang="en-US" dirty="0">
                <a:latin typeface="Source Code Pro" panose="020B0309030403020204" pitchFamily="34" charset="0"/>
                <a:ea typeface="Source Code Pro" panose="020B0309030403020204" pitchFamily="34" charset="0"/>
              </a:rPr>
              <a:t>struct proc</a:t>
            </a:r>
            <a:endParaRPr dirty="0">
              <a:latin typeface="Source Code Pro" panose="020B0309030403020204" pitchFamily="34" charset="0"/>
              <a:ea typeface="Source Code Pro" panose="020B0309030403020204" pitchFamily="34" charset="0"/>
            </a:endParaRPr>
          </a:p>
        </p:txBody>
      </p:sp>
      <p:sp>
        <p:nvSpPr>
          <p:cNvPr id="120" name="Google Shape;120;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21" name="Google Shape;121;p3"/>
          <p:cNvSpPr/>
          <p:nvPr/>
        </p:nvSpPr>
        <p:spPr>
          <a:xfrm>
            <a:off x="650785" y="1592831"/>
            <a:ext cx="11576231" cy="4584132"/>
          </a:xfrm>
          <a:prstGeom prst="wedgeRoundRectCallout">
            <a:avLst>
              <a:gd name="adj1" fmla="val -15769"/>
              <a:gd name="adj2" fmla="val -41483"/>
              <a:gd name="adj3" fmla="val 16667"/>
            </a:avLst>
          </a:prstGeom>
          <a:solidFill>
            <a:schemeClr val="lt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struct proc {</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b="1" i="0" u="none" strike="noStrike" cap="none" dirty="0">
                <a:solidFill>
                  <a:srgbClr val="7F0055"/>
                </a:solidFill>
                <a:latin typeface="Arial"/>
                <a:ea typeface="Arial"/>
                <a:cs typeface="Arial"/>
                <a:sym typeface="Arial"/>
              </a:rPr>
              <a:t>  struct spinlock </a:t>
            </a:r>
            <a:r>
              <a:rPr lang="en-US" sz="1400" b="1" i="0" u="none" strike="noStrike" cap="none" dirty="0">
                <a:solidFill>
                  <a:srgbClr val="000000"/>
                </a:solidFill>
                <a:latin typeface="Arial"/>
                <a:ea typeface="Arial"/>
                <a:cs typeface="Arial"/>
                <a:sym typeface="Arial"/>
              </a:rPr>
              <a:t>lock;</a:t>
            </a:r>
            <a:endParaRPr dirty="0"/>
          </a:p>
          <a:p>
            <a:pPr marL="0" marR="0" lvl="0" indent="0" algn="l" rtl="0">
              <a:lnSpc>
                <a:spcPct val="100000"/>
              </a:lnSpc>
              <a:spcBef>
                <a:spcPts val="0"/>
              </a:spcBef>
              <a:spcAft>
                <a:spcPts val="0"/>
              </a:spcAft>
              <a:buClr>
                <a:schemeClr val="dk1"/>
              </a:buClr>
              <a:buSzPts val="1400"/>
              <a:buFont typeface="Arial"/>
              <a:buNone/>
            </a:pP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p-&gt;lock must be held when using these:</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a:t>
            </a:r>
            <a:r>
              <a:rPr lang="en-US" sz="1400" i="0" u="none" strike="noStrike" cap="none" dirty="0" err="1">
                <a:solidFill>
                  <a:srgbClr val="7F0055"/>
                </a:solidFill>
                <a:latin typeface="Arial"/>
                <a:ea typeface="Arial"/>
                <a:cs typeface="Arial"/>
                <a:sym typeface="Arial"/>
              </a:rPr>
              <a:t>enum</a:t>
            </a:r>
            <a:r>
              <a:rPr lang="en-US" sz="1400" i="0" u="none" strike="noStrike" cap="none" dirty="0">
                <a:solidFill>
                  <a:srgbClr val="7F0055"/>
                </a:solidFill>
                <a:latin typeface="Arial"/>
                <a:ea typeface="Arial"/>
                <a:cs typeface="Arial"/>
                <a:sym typeface="Arial"/>
              </a:rPr>
              <a:t> </a:t>
            </a:r>
            <a:r>
              <a:rPr lang="en-US" sz="1400" i="0" u="none" strike="noStrike" cap="none" dirty="0" err="1">
                <a:solidFill>
                  <a:srgbClr val="7F0055"/>
                </a:solidFill>
                <a:latin typeface="Arial"/>
                <a:ea typeface="Arial"/>
                <a:cs typeface="Arial"/>
                <a:sym typeface="Arial"/>
              </a:rPr>
              <a:t>procstate</a:t>
            </a:r>
            <a:r>
              <a:rPr lang="en-US" sz="1400" i="0" u="none" strike="noStrike" cap="none" dirty="0">
                <a:solidFill>
                  <a:srgbClr val="7F0055"/>
                </a:solidFill>
                <a:latin typeface="Arial"/>
                <a:ea typeface="Arial"/>
                <a:cs typeface="Arial"/>
                <a:sym typeface="Arial"/>
              </a:rPr>
              <a:t> </a:t>
            </a:r>
            <a:r>
              <a:rPr lang="en-US" sz="1400" i="0" u="none" strike="noStrike" cap="none" dirty="0">
                <a:solidFill>
                  <a:srgbClr val="000000"/>
                </a:solidFill>
                <a:latin typeface="Arial"/>
                <a:ea typeface="Arial"/>
                <a:cs typeface="Arial"/>
                <a:sym typeface="Arial"/>
              </a:rPr>
              <a:t>state;</a:t>
            </a:r>
            <a:r>
              <a:rPr lang="en-US" sz="1400" i="0" u="none" strike="noStrike" cap="none" dirty="0">
                <a:solidFill>
                  <a:srgbClr val="7F0055"/>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 Process state</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void </a:t>
            </a:r>
            <a:r>
              <a:rPr lang="en-US" sz="1400" i="0" u="none" strike="noStrike" cap="none" dirty="0">
                <a:solidFill>
                  <a:srgbClr val="000000"/>
                </a:solidFill>
                <a:latin typeface="Arial"/>
                <a:ea typeface="Arial"/>
                <a:cs typeface="Arial"/>
                <a:sym typeface="Arial"/>
              </a:rPr>
              <a:t>*</a:t>
            </a:r>
            <a:r>
              <a:rPr lang="en-US" sz="1400" i="0" u="none" strike="noStrike" cap="none" dirty="0" err="1">
                <a:solidFill>
                  <a:srgbClr val="000000"/>
                </a:solidFill>
                <a:latin typeface="Arial"/>
                <a:ea typeface="Arial"/>
                <a:cs typeface="Arial"/>
                <a:sym typeface="Arial"/>
              </a:rPr>
              <a:t>chan</a:t>
            </a:r>
            <a:r>
              <a:rPr lang="en-US" sz="1400" i="0" u="none" strike="noStrike" cap="none" dirty="0">
                <a:solidFill>
                  <a:srgbClr val="000000"/>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If non-zero, sleeping on </a:t>
            </a:r>
            <a:r>
              <a:rPr lang="en-US" sz="1400" i="0" u="none" strike="noStrike" cap="none" dirty="0" err="1">
                <a:solidFill>
                  <a:srgbClr val="3F7F5F"/>
                </a:solidFill>
                <a:latin typeface="Arial"/>
                <a:ea typeface="Arial"/>
                <a:cs typeface="Arial"/>
                <a:sym typeface="Arial"/>
              </a:rPr>
              <a:t>chan</a:t>
            </a:r>
            <a:endParaRPr sz="1400" i="0" u="none" strike="noStrike" cap="none" dirty="0">
              <a:solidFill>
                <a:srgbClr val="3F7F5F"/>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int </a:t>
            </a:r>
            <a:r>
              <a:rPr lang="en-US" sz="1400" i="0" u="none" strike="noStrike" cap="none" dirty="0">
                <a:solidFill>
                  <a:srgbClr val="000000"/>
                </a:solidFill>
                <a:latin typeface="Arial"/>
                <a:ea typeface="Arial"/>
                <a:cs typeface="Arial"/>
                <a:sym typeface="Arial"/>
              </a:rPr>
              <a:t>killed;                       </a:t>
            </a:r>
            <a:r>
              <a:rPr lang="en-US" sz="1400" i="0" u="none" strike="noStrike" cap="none" dirty="0">
                <a:solidFill>
                  <a:srgbClr val="3F7F5F"/>
                </a:solidFill>
                <a:latin typeface="Arial"/>
                <a:ea typeface="Arial"/>
                <a:cs typeface="Arial"/>
                <a:sym typeface="Arial"/>
              </a:rPr>
              <a:t>// If non-zero, have been killed</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a:t>
            </a:r>
            <a:r>
              <a:rPr lang="en-US" sz="1400" b="1" i="0" u="none" strike="noStrike" cap="none" dirty="0">
                <a:solidFill>
                  <a:srgbClr val="7F0055"/>
                </a:solidFill>
                <a:latin typeface="Arial"/>
                <a:ea typeface="Arial"/>
                <a:cs typeface="Arial"/>
                <a:sym typeface="Arial"/>
              </a:rPr>
              <a:t>int </a:t>
            </a:r>
            <a:r>
              <a:rPr lang="en-US" sz="1400" b="1" i="0" u="none" strike="noStrike" cap="none" dirty="0" err="1">
                <a:solidFill>
                  <a:srgbClr val="000000"/>
                </a:solidFill>
                <a:latin typeface="Arial"/>
                <a:ea typeface="Arial"/>
                <a:cs typeface="Arial"/>
                <a:sym typeface="Arial"/>
              </a:rPr>
              <a:t>xstate</a:t>
            </a:r>
            <a:r>
              <a:rPr lang="en-US" sz="1400" b="1" i="0" u="none" strike="noStrike" cap="none" dirty="0">
                <a:solidFill>
                  <a:srgbClr val="000000"/>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Exit status to be returned to parent's wait</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int </a:t>
            </a:r>
            <a:r>
              <a:rPr lang="en-US" sz="1400" i="0" u="none" strike="noStrike" cap="none" dirty="0" err="1">
                <a:solidFill>
                  <a:srgbClr val="000000"/>
                </a:solidFill>
                <a:latin typeface="Arial"/>
                <a:ea typeface="Arial"/>
                <a:cs typeface="Arial"/>
                <a:sym typeface="Arial"/>
              </a:rPr>
              <a:t>pid</a:t>
            </a:r>
            <a:r>
              <a:rPr lang="en-US" sz="1400" i="0" u="none" strike="noStrike" cap="none" dirty="0">
                <a:solidFill>
                  <a:srgbClr val="000000"/>
                </a:solidFill>
                <a:latin typeface="Arial"/>
                <a:ea typeface="Arial"/>
                <a:cs typeface="Arial"/>
                <a:sym typeface="Arial"/>
              </a:rPr>
              <a:t>;</a:t>
            </a:r>
            <a:r>
              <a:rPr lang="en-US" sz="1400" i="0" u="none" strike="noStrike" cap="none" dirty="0">
                <a:solidFill>
                  <a:srgbClr val="7F0055"/>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Process ID</a:t>
            </a:r>
            <a:endParaRPr dirty="0"/>
          </a:p>
          <a:p>
            <a:pPr marL="0" marR="0" lvl="0" indent="0" algn="l" rtl="0">
              <a:lnSpc>
                <a:spcPct val="100000"/>
              </a:lnSpc>
              <a:spcBef>
                <a:spcPts val="0"/>
              </a:spcBef>
              <a:spcAft>
                <a:spcPts val="0"/>
              </a:spcAft>
              <a:buClr>
                <a:schemeClr val="dk1"/>
              </a:buClr>
              <a:buSzPts val="1400"/>
              <a:buFont typeface="Arial"/>
              <a:buNone/>
            </a:pP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F7F5F"/>
              </a:buClr>
              <a:buSzPts val="1400"/>
              <a:buFont typeface="Arial"/>
              <a:buNone/>
            </a:pPr>
            <a:r>
              <a:rPr lang="en-US" sz="1400" i="0" u="none" strike="noStrike" cap="none" dirty="0">
                <a:solidFill>
                  <a:srgbClr val="3F7F5F"/>
                </a:solidFill>
                <a:latin typeface="Arial"/>
                <a:ea typeface="Arial"/>
                <a:cs typeface="Arial"/>
                <a:sym typeface="Arial"/>
              </a:rPr>
              <a:t>  // </a:t>
            </a:r>
            <a:r>
              <a:rPr lang="en-US" sz="1400" i="0" u="none" strike="noStrike" cap="none" dirty="0" err="1">
                <a:solidFill>
                  <a:srgbClr val="3F7F5F"/>
                </a:solidFill>
                <a:latin typeface="Arial"/>
                <a:ea typeface="Arial"/>
                <a:cs typeface="Arial"/>
                <a:sym typeface="Arial"/>
              </a:rPr>
              <a:t>proc_tree_lock</a:t>
            </a:r>
            <a:r>
              <a:rPr lang="en-US" sz="1400" i="0" u="none" strike="noStrike" cap="none" dirty="0">
                <a:solidFill>
                  <a:srgbClr val="3F7F5F"/>
                </a:solidFill>
                <a:latin typeface="Arial"/>
                <a:ea typeface="Arial"/>
                <a:cs typeface="Arial"/>
                <a:sym typeface="Arial"/>
              </a:rPr>
              <a:t> must be held when using this:</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struct proc </a:t>
            </a:r>
            <a:r>
              <a:rPr lang="en-US" sz="1400" i="0" u="none" strike="noStrike" cap="none" dirty="0">
                <a:solidFill>
                  <a:srgbClr val="000000"/>
                </a:solidFill>
                <a:latin typeface="Arial"/>
                <a:ea typeface="Arial"/>
                <a:cs typeface="Arial"/>
                <a:sym typeface="Arial"/>
              </a:rPr>
              <a:t>*parent;  </a:t>
            </a:r>
            <a:r>
              <a:rPr lang="en-US" sz="1400" i="0" u="none" strike="noStrike" cap="none" dirty="0">
                <a:solidFill>
                  <a:srgbClr val="7F0055"/>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Parent process</a:t>
            </a:r>
            <a:endParaRPr dirty="0"/>
          </a:p>
          <a:p>
            <a:pPr marL="0" marR="0" lvl="0" indent="0" algn="l" rtl="0">
              <a:lnSpc>
                <a:spcPct val="100000"/>
              </a:lnSpc>
              <a:spcBef>
                <a:spcPts val="0"/>
              </a:spcBef>
              <a:spcAft>
                <a:spcPts val="0"/>
              </a:spcAft>
              <a:buClr>
                <a:schemeClr val="dk1"/>
              </a:buClr>
              <a:buSzPts val="1400"/>
              <a:buFont typeface="Arial"/>
              <a:buNone/>
            </a:pP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these are private to the process, so p-&gt;lock need not be held.</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uint64 </a:t>
            </a:r>
            <a:r>
              <a:rPr lang="en-US" sz="1400" i="0" u="none" strike="noStrike" cap="none" dirty="0" err="1">
                <a:solidFill>
                  <a:srgbClr val="000000"/>
                </a:solidFill>
                <a:latin typeface="Arial"/>
                <a:ea typeface="Arial"/>
                <a:cs typeface="Arial"/>
                <a:sym typeface="Arial"/>
              </a:rPr>
              <a:t>kstack</a:t>
            </a:r>
            <a:r>
              <a:rPr lang="en-US" sz="1400" i="0" u="none" strike="noStrike" cap="none" dirty="0">
                <a:solidFill>
                  <a:srgbClr val="000000"/>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Virtual address of kernel stack</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uint64 </a:t>
            </a:r>
            <a:r>
              <a:rPr lang="en-US" sz="1400" i="0" u="none" strike="noStrike" cap="none" dirty="0" err="1">
                <a:solidFill>
                  <a:schemeClr val="dk1"/>
                </a:solidFill>
                <a:latin typeface="Arial"/>
                <a:ea typeface="Arial"/>
                <a:cs typeface="Arial"/>
                <a:sym typeface="Arial"/>
              </a:rPr>
              <a:t>sz</a:t>
            </a:r>
            <a:r>
              <a:rPr lang="en-US" sz="1400" i="0" u="none" strike="noStrike" cap="none" dirty="0">
                <a:solidFill>
                  <a:schemeClr val="dk1"/>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Size of process memory (bytes)</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3F7F5F"/>
              </a:buClr>
              <a:buSzPts val="1400"/>
              <a:buFont typeface="Arial"/>
              <a:buNone/>
            </a:pPr>
            <a:r>
              <a:rPr lang="en-US" sz="1400" i="0" u="none" strike="noStrike" cap="none" dirty="0">
                <a:solidFill>
                  <a:srgbClr val="3F7F5F"/>
                </a:solidFill>
                <a:latin typeface="Arial"/>
                <a:ea typeface="Arial"/>
                <a:cs typeface="Arial"/>
                <a:sym typeface="Arial"/>
              </a:rPr>
              <a:t>  </a:t>
            </a:r>
            <a:r>
              <a:rPr lang="en-US" sz="1400" i="0" u="none" strike="noStrike" cap="none" dirty="0" err="1">
                <a:solidFill>
                  <a:srgbClr val="7F0055"/>
                </a:solidFill>
                <a:latin typeface="Arial"/>
                <a:ea typeface="Arial"/>
                <a:cs typeface="Arial"/>
                <a:sym typeface="Arial"/>
              </a:rPr>
              <a:t>pagetable_t</a:t>
            </a:r>
            <a:r>
              <a:rPr lang="en-US" sz="1400" i="0" u="none" strike="noStrike" cap="none" dirty="0">
                <a:solidFill>
                  <a:srgbClr val="7F0055"/>
                </a:solidFill>
                <a:latin typeface="Arial"/>
                <a:ea typeface="Arial"/>
                <a:cs typeface="Arial"/>
                <a:sym typeface="Arial"/>
              </a:rPr>
              <a:t> </a:t>
            </a:r>
            <a:r>
              <a:rPr lang="en-US" sz="1400" i="0" u="none" strike="noStrike" cap="none" dirty="0" err="1">
                <a:solidFill>
                  <a:schemeClr val="dk1"/>
                </a:solidFill>
                <a:latin typeface="Arial"/>
                <a:ea typeface="Arial"/>
                <a:cs typeface="Arial"/>
                <a:sym typeface="Arial"/>
              </a:rPr>
              <a:t>pagetable</a:t>
            </a:r>
            <a:r>
              <a:rPr lang="en-US" sz="1400" i="0" u="none" strike="noStrike" cap="none" dirty="0">
                <a:solidFill>
                  <a:schemeClr val="dk1"/>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User page table</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struct </a:t>
            </a:r>
            <a:r>
              <a:rPr lang="en-US" sz="1400" i="0" u="none" strike="noStrike" cap="none" dirty="0" err="1">
                <a:solidFill>
                  <a:srgbClr val="7F0055"/>
                </a:solidFill>
                <a:latin typeface="Arial"/>
                <a:ea typeface="Arial"/>
                <a:cs typeface="Arial"/>
                <a:sym typeface="Arial"/>
              </a:rPr>
              <a:t>trapframe</a:t>
            </a:r>
            <a:r>
              <a:rPr lang="en-US" sz="1400" i="0" u="none" strike="noStrike" cap="none" dirty="0">
                <a:solidFill>
                  <a:srgbClr val="7F0055"/>
                </a:solidFill>
                <a:latin typeface="Arial"/>
                <a:ea typeface="Arial"/>
                <a:cs typeface="Arial"/>
                <a:sym typeface="Arial"/>
              </a:rPr>
              <a:t> </a:t>
            </a:r>
            <a:r>
              <a:rPr lang="en-US" sz="1400" i="0" u="none" strike="noStrike" cap="none" dirty="0">
                <a:solidFill>
                  <a:schemeClr val="dk1"/>
                </a:solidFill>
                <a:latin typeface="Arial"/>
                <a:ea typeface="Arial"/>
                <a:cs typeface="Arial"/>
                <a:sym typeface="Arial"/>
              </a:rPr>
              <a:t>*</a:t>
            </a:r>
            <a:r>
              <a:rPr lang="en-US" sz="1400" i="0" u="none" strike="noStrike" cap="none" dirty="0" err="1">
                <a:solidFill>
                  <a:schemeClr val="dk1"/>
                </a:solidFill>
                <a:latin typeface="Arial"/>
                <a:ea typeface="Arial"/>
                <a:cs typeface="Arial"/>
                <a:sym typeface="Arial"/>
              </a:rPr>
              <a:t>trapframe</a:t>
            </a:r>
            <a:r>
              <a:rPr lang="en-US" sz="1400" i="0" u="none" strike="noStrike" cap="none" dirty="0">
                <a:solidFill>
                  <a:schemeClr val="dk1"/>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data page for </a:t>
            </a:r>
            <a:r>
              <a:rPr lang="en-US" sz="1400" i="0" u="none" strike="noStrike" cap="none" dirty="0" err="1">
                <a:solidFill>
                  <a:srgbClr val="3F7F5F"/>
                </a:solidFill>
                <a:latin typeface="Arial"/>
                <a:ea typeface="Arial"/>
                <a:cs typeface="Arial"/>
                <a:sym typeface="Arial"/>
              </a:rPr>
              <a:t>trampoline.S</a:t>
            </a:r>
            <a:endParaRPr sz="1400" i="0" u="none" strike="noStrike" cap="none" dirty="0">
              <a:solidFill>
                <a:srgbClr val="3F7F5F"/>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b="1" i="0" u="none" strike="noStrike" cap="none" dirty="0">
                <a:solidFill>
                  <a:srgbClr val="7F0055"/>
                </a:solidFill>
                <a:latin typeface="Arial"/>
                <a:ea typeface="Arial"/>
                <a:cs typeface="Arial"/>
                <a:sym typeface="Arial"/>
              </a:rPr>
              <a:t>  struct context </a:t>
            </a:r>
            <a:r>
              <a:rPr lang="en-US" sz="1400" b="1" i="0" u="none" strike="noStrike" cap="none" dirty="0">
                <a:solidFill>
                  <a:schemeClr val="dk1"/>
                </a:solidFill>
                <a:latin typeface="Arial"/>
                <a:ea typeface="Arial"/>
                <a:cs typeface="Arial"/>
                <a:sym typeface="Arial"/>
              </a:rPr>
              <a:t>context;      </a:t>
            </a:r>
            <a:r>
              <a:rPr lang="en-US" sz="1400" i="0" u="none" strike="noStrike" cap="none" dirty="0">
                <a:solidFill>
                  <a:srgbClr val="3F7F5F"/>
                </a:solidFill>
                <a:latin typeface="Arial"/>
                <a:ea typeface="Arial"/>
                <a:cs typeface="Arial"/>
                <a:sym typeface="Arial"/>
              </a:rPr>
              <a:t>// </a:t>
            </a:r>
            <a:r>
              <a:rPr lang="en-US" sz="1400" i="0" u="none" strike="noStrike" cap="none" dirty="0" err="1">
                <a:solidFill>
                  <a:srgbClr val="3F7F5F"/>
                </a:solidFill>
                <a:latin typeface="Arial"/>
                <a:ea typeface="Arial"/>
                <a:cs typeface="Arial"/>
                <a:sym typeface="Arial"/>
              </a:rPr>
              <a:t>swtch</a:t>
            </a:r>
            <a:r>
              <a:rPr lang="en-US" sz="1400" i="0" u="none" strike="noStrike" cap="none" dirty="0">
                <a:solidFill>
                  <a:srgbClr val="3F7F5F"/>
                </a:solidFill>
                <a:latin typeface="Arial"/>
                <a:ea typeface="Arial"/>
                <a:cs typeface="Arial"/>
                <a:sym typeface="Arial"/>
              </a:rPr>
              <a:t>() here to run process</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struct file </a:t>
            </a:r>
            <a:r>
              <a:rPr lang="en-US" sz="1400" i="0" u="none" strike="noStrike" cap="none" dirty="0">
                <a:solidFill>
                  <a:schemeClr val="dk1"/>
                </a:solidFill>
                <a:latin typeface="Arial"/>
                <a:ea typeface="Arial"/>
                <a:cs typeface="Arial"/>
                <a:sym typeface="Arial"/>
              </a:rPr>
              <a:t>*</a:t>
            </a:r>
            <a:r>
              <a:rPr lang="en-US" sz="1400" i="0" u="none" strike="noStrike" cap="none" dirty="0" err="1">
                <a:solidFill>
                  <a:schemeClr val="dk1"/>
                </a:solidFill>
                <a:latin typeface="Arial"/>
                <a:ea typeface="Arial"/>
                <a:cs typeface="Arial"/>
                <a:sym typeface="Arial"/>
              </a:rPr>
              <a:t>ofile</a:t>
            </a:r>
            <a:r>
              <a:rPr lang="en-US" sz="1400" i="0" u="none" strike="noStrike" cap="none" dirty="0">
                <a:solidFill>
                  <a:schemeClr val="dk1"/>
                </a:solidFill>
                <a:latin typeface="Arial"/>
                <a:ea typeface="Arial"/>
                <a:cs typeface="Arial"/>
                <a:sym typeface="Arial"/>
              </a:rPr>
              <a:t>[NOFILE];  </a:t>
            </a:r>
            <a:r>
              <a:rPr lang="en-US" sz="1400" i="0" u="none" strike="noStrike" cap="none" dirty="0">
                <a:solidFill>
                  <a:srgbClr val="3F7F5F"/>
                </a:solidFill>
                <a:latin typeface="Arial"/>
                <a:ea typeface="Arial"/>
                <a:cs typeface="Arial"/>
                <a:sym typeface="Arial"/>
              </a:rPr>
              <a:t>// Open files</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struct </a:t>
            </a:r>
            <a:r>
              <a:rPr lang="en-US" sz="1400" i="0" u="none" strike="noStrike" cap="none" dirty="0" err="1">
                <a:solidFill>
                  <a:srgbClr val="7F0055"/>
                </a:solidFill>
                <a:latin typeface="Arial"/>
                <a:ea typeface="Arial"/>
                <a:cs typeface="Arial"/>
                <a:sym typeface="Arial"/>
              </a:rPr>
              <a:t>inode</a:t>
            </a:r>
            <a:r>
              <a:rPr lang="en-US" sz="1400" i="0" u="none" strike="noStrike" cap="none" dirty="0">
                <a:solidFill>
                  <a:srgbClr val="7F0055"/>
                </a:solidFill>
                <a:latin typeface="Arial"/>
                <a:ea typeface="Arial"/>
                <a:cs typeface="Arial"/>
                <a:sym typeface="Arial"/>
              </a:rPr>
              <a:t> </a:t>
            </a:r>
            <a:r>
              <a:rPr lang="en-US" sz="1400" i="0" u="none" strike="noStrike" cap="none" dirty="0">
                <a:solidFill>
                  <a:schemeClr val="dk1"/>
                </a:solidFill>
                <a:latin typeface="Arial"/>
                <a:ea typeface="Arial"/>
                <a:cs typeface="Arial"/>
                <a:sym typeface="Arial"/>
              </a:rPr>
              <a:t>*</a:t>
            </a:r>
            <a:r>
              <a:rPr lang="en-US" sz="1400" i="0" u="none" strike="noStrike" cap="none" dirty="0" err="1">
                <a:solidFill>
                  <a:schemeClr val="dk1"/>
                </a:solidFill>
                <a:latin typeface="Arial"/>
                <a:ea typeface="Arial"/>
                <a:cs typeface="Arial"/>
                <a:sym typeface="Arial"/>
              </a:rPr>
              <a:t>cwd</a:t>
            </a:r>
            <a:r>
              <a:rPr lang="en-US" sz="1400" i="0" u="none" strike="noStrike" cap="none" dirty="0">
                <a:solidFill>
                  <a:schemeClr val="dk1"/>
                </a:solidFill>
                <a:latin typeface="Arial"/>
                <a:ea typeface="Arial"/>
                <a:cs typeface="Arial"/>
                <a:sym typeface="Arial"/>
              </a:rPr>
              <a:t>;           </a:t>
            </a:r>
            <a:r>
              <a:rPr lang="en-US" sz="1400" i="0" u="none" strike="noStrike" cap="none" dirty="0">
                <a:solidFill>
                  <a:srgbClr val="3F7F5F"/>
                </a:solidFill>
                <a:latin typeface="Arial"/>
                <a:ea typeface="Arial"/>
                <a:cs typeface="Arial"/>
                <a:sym typeface="Arial"/>
              </a:rPr>
              <a:t>// Current directory</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  char </a:t>
            </a:r>
            <a:r>
              <a:rPr lang="en-US" sz="1400" i="0" u="none" strike="noStrike" cap="none" dirty="0">
                <a:solidFill>
                  <a:schemeClr val="dk1"/>
                </a:solidFill>
                <a:latin typeface="Arial"/>
                <a:ea typeface="Arial"/>
                <a:cs typeface="Arial"/>
                <a:sym typeface="Arial"/>
              </a:rPr>
              <a:t>name[16];               </a:t>
            </a:r>
            <a:r>
              <a:rPr lang="en-US" sz="1400" i="0" u="none" strike="noStrike" cap="none" dirty="0">
                <a:solidFill>
                  <a:srgbClr val="3F7F5F"/>
                </a:solidFill>
                <a:latin typeface="Arial"/>
                <a:ea typeface="Arial"/>
                <a:cs typeface="Arial"/>
                <a:sym typeface="Arial"/>
              </a:rPr>
              <a:t>// Process name (debugging)</a:t>
            </a:r>
            <a:endParaRPr sz="1400" dirty="0">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7F0055"/>
              </a:buClr>
              <a:buSzPts val="1400"/>
              <a:buFont typeface="Arial"/>
              <a:buNone/>
            </a:pPr>
            <a:r>
              <a:rPr lang="en-US" sz="1400" i="0" u="none" strike="noStrike" cap="none" dirty="0">
                <a:solidFill>
                  <a:srgbClr val="7F0055"/>
                </a:solidFill>
                <a:latin typeface="Arial"/>
                <a:ea typeface="Arial"/>
                <a:cs typeface="Arial"/>
                <a:sym typeface="Arial"/>
              </a:rPr>
              <a:t>};</a:t>
            </a:r>
            <a:endParaRPr sz="1400" i="0" u="none" strike="noStrike" cap="none" dirty="0">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creation/allocation</a:t>
            </a:r>
            <a:endParaRPr sz="2800" dirty="0"/>
          </a:p>
        </p:txBody>
      </p:sp>
      <p:grpSp>
        <p:nvGrpSpPr>
          <p:cNvPr id="128" name="Google Shape;128;p4"/>
          <p:cNvGrpSpPr/>
          <p:nvPr/>
        </p:nvGrpSpPr>
        <p:grpSpPr>
          <a:xfrm>
            <a:off x="6614450" y="365125"/>
            <a:ext cx="4739350" cy="928378"/>
            <a:chOff x="536448" y="1760552"/>
            <a:chExt cx="4739350" cy="928378"/>
          </a:xfrm>
        </p:grpSpPr>
        <p:sp>
          <p:nvSpPr>
            <p:cNvPr id="129" name="Google Shape;129;p4"/>
            <p:cNvSpPr/>
            <p:nvPr/>
          </p:nvSpPr>
          <p:spPr>
            <a:xfrm>
              <a:off x="536448" y="1945218"/>
              <a:ext cx="1549473" cy="743712"/>
            </a:xfrm>
            <a:prstGeom prst="roundRect">
              <a:avLst>
                <a:gd name="adj" fmla="val 16667"/>
              </a:avLst>
            </a:prstGeom>
            <a:gradFill>
              <a:gsLst>
                <a:gs pos="0">
                  <a:srgbClr val="575757"/>
                </a:gs>
                <a:gs pos="48000">
                  <a:srgbClr val="8B8B8B"/>
                </a:gs>
                <a:gs pos="100000">
                  <a:srgbClr val="E1E1E1"/>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UNUSED</a:t>
              </a:r>
              <a:endParaRPr/>
            </a:p>
          </p:txBody>
        </p:sp>
        <p:sp>
          <p:nvSpPr>
            <p:cNvPr id="130" name="Google Shape;130;p4"/>
            <p:cNvSpPr/>
            <p:nvPr/>
          </p:nvSpPr>
          <p:spPr>
            <a:xfrm>
              <a:off x="3726325" y="1945218"/>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a:ea typeface="Arial"/>
                  <a:cs typeface="Arial"/>
                  <a:sym typeface="Arial"/>
                </a:rPr>
                <a:t>RUNNABLE</a:t>
              </a:r>
              <a:endParaRPr dirty="0"/>
            </a:p>
          </p:txBody>
        </p:sp>
        <p:cxnSp>
          <p:nvCxnSpPr>
            <p:cNvPr id="131" name="Google Shape;131;p4"/>
            <p:cNvCxnSpPr>
              <a:stCxn id="129" idx="3"/>
              <a:endCxn id="130" idx="1"/>
            </p:cNvCxnSpPr>
            <p:nvPr/>
          </p:nvCxnSpPr>
          <p:spPr>
            <a:xfrm>
              <a:off x="2085921" y="2317074"/>
              <a:ext cx="1640400" cy="0"/>
            </a:xfrm>
            <a:prstGeom prst="straightConnector1">
              <a:avLst/>
            </a:prstGeom>
            <a:noFill/>
            <a:ln w="38100" cap="flat" cmpd="sng">
              <a:solidFill>
                <a:schemeClr val="dk1"/>
              </a:solidFill>
              <a:prstDash val="solid"/>
              <a:miter lim="800000"/>
              <a:headEnd type="none" w="sm" len="sm"/>
              <a:tailEnd type="triangle" w="med" len="med"/>
            </a:ln>
          </p:spPr>
        </p:cxnSp>
        <p:sp>
          <p:nvSpPr>
            <p:cNvPr id="132" name="Google Shape;132;p4"/>
            <p:cNvSpPr txBox="1"/>
            <p:nvPr/>
          </p:nvSpPr>
          <p:spPr>
            <a:xfrm>
              <a:off x="2360382" y="1760552"/>
              <a:ext cx="1182413"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rPr>
                <a:t>fork</a:t>
              </a:r>
              <a:endParaRPr dirty="0"/>
            </a:p>
          </p:txBody>
        </p:sp>
      </p:grpSp>
      <p:sp>
        <p:nvSpPr>
          <p:cNvPr id="133" name="Google Shape;133;p4"/>
          <p:cNvSpPr txBox="1"/>
          <p:nvPr/>
        </p:nvSpPr>
        <p:spPr>
          <a:xfrm>
            <a:off x="838200" y="1411005"/>
            <a:ext cx="10515600" cy="4832092"/>
          </a:xfrm>
          <a:prstGeom prst="rect">
            <a:avLst/>
          </a:prstGeom>
          <a:solidFill>
            <a:srgbClr val="242424"/>
          </a:solidFill>
          <a:ln>
            <a:noFill/>
          </a:ln>
        </p:spPr>
        <p:txBody>
          <a:bodyPr spcFirstLastPara="1" wrap="square" lIns="90000" tIns="45700" rIns="91425" bIns="45700" numCol="2" anchor="t" anchorCtr="0">
            <a:spAutoFit/>
          </a:bodyPr>
          <a:lstStyle/>
          <a:p>
            <a:pPr marL="0" marR="0" lvl="0" indent="0" algn="l" rtl="0">
              <a:spcBef>
                <a:spcPts val="0"/>
              </a:spcBef>
              <a:spcAft>
                <a:spcPts val="0"/>
              </a:spcAft>
              <a:buNone/>
            </a:pPr>
            <a:r>
              <a:rPr lang="en-US" sz="1400" dirty="0">
                <a:solidFill>
                  <a:srgbClr val="CC8242"/>
                </a:solidFill>
                <a:highlight>
                  <a:srgbClr val="242424"/>
                </a:highlight>
                <a:latin typeface="Arial"/>
                <a:ea typeface="Arial"/>
                <a:cs typeface="Arial"/>
                <a:sym typeface="Arial"/>
              </a:rPr>
              <a:t>i</a:t>
            </a:r>
            <a:r>
              <a:rPr lang="en-US" sz="1400" b="0" dirty="0">
                <a:solidFill>
                  <a:srgbClr val="CC8242"/>
                </a:solidFill>
                <a:highlight>
                  <a:srgbClr val="242424"/>
                </a:highlight>
                <a:latin typeface="Arial"/>
                <a:ea typeface="Arial"/>
                <a:cs typeface="Arial"/>
                <a:sym typeface="Arial"/>
              </a:rPr>
              <a:t>nt</a:t>
            </a:r>
            <a:r>
              <a:rPr lang="en-US" sz="1400" dirty="0">
                <a:solidFill>
                  <a:srgbClr val="CCCCCC"/>
                </a:solidFill>
                <a:highlight>
                  <a:srgbClr val="242424"/>
                </a:highlight>
                <a:latin typeface="Arial"/>
                <a:ea typeface="Arial"/>
                <a:cs typeface="Arial"/>
                <a:sym typeface="Arial"/>
              </a:rPr>
              <a:t> </a:t>
            </a:r>
            <a:r>
              <a:rPr lang="en-US" sz="1400" b="0" dirty="0">
                <a:solidFill>
                  <a:srgbClr val="FFC66D"/>
                </a:solidFill>
                <a:highlight>
                  <a:srgbClr val="242424"/>
                </a:highlight>
                <a:latin typeface="Arial"/>
                <a:ea typeface="Arial"/>
                <a:cs typeface="Arial"/>
                <a:sym typeface="Arial"/>
              </a:rPr>
              <a:t>fork</a:t>
            </a:r>
            <a:r>
              <a:rPr lang="en-US" sz="1400" b="0" dirty="0">
                <a:solidFill>
                  <a:srgbClr val="CCCCCC"/>
                </a:solidFill>
                <a:highlight>
                  <a:srgbClr val="242424"/>
                </a:highlight>
                <a:latin typeface="Arial"/>
                <a:ea typeface="Arial"/>
                <a:cs typeface="Arial"/>
                <a:sym typeface="Arial"/>
              </a:rPr>
              <a:t>(</a:t>
            </a:r>
            <a:r>
              <a:rPr lang="en-US" sz="1400" b="0" dirty="0">
                <a:solidFill>
                  <a:srgbClr val="CC8242"/>
                </a:solidFill>
                <a:highlight>
                  <a:srgbClr val="242424"/>
                </a:highlight>
                <a:latin typeface="Arial"/>
                <a:ea typeface="Arial"/>
                <a:cs typeface="Arial"/>
                <a:sym typeface="Arial"/>
              </a:rPr>
              <a:t>void</a:t>
            </a:r>
            <a:r>
              <a:rPr lang="en-US" sz="1400" b="0" dirty="0">
                <a:solidFill>
                  <a:srgbClr val="CCCCCC"/>
                </a:solidFill>
                <a:highlight>
                  <a:srgbClr val="242424"/>
                </a:highlight>
                <a:latin typeface="Arial"/>
                <a:ea typeface="Arial"/>
                <a:cs typeface="Arial"/>
                <a:sym typeface="Arial"/>
              </a:rPr>
              <a:t>) {</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int</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err="1">
                <a:solidFill>
                  <a:srgbClr val="CCCCCC"/>
                </a:solidFill>
                <a:highlight>
                  <a:srgbClr val="242424"/>
                </a:highlight>
                <a:latin typeface="Arial"/>
                <a:ea typeface="Arial"/>
                <a:cs typeface="Arial"/>
                <a:sym typeface="Arial"/>
              </a:rPr>
              <a:t>i</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err="1">
                <a:solidFill>
                  <a:srgbClr val="CCCCCC"/>
                </a:solidFill>
                <a:highlight>
                  <a:srgbClr val="242424"/>
                </a:highlight>
                <a:latin typeface="Arial"/>
                <a:ea typeface="Arial"/>
                <a:cs typeface="Arial"/>
                <a:sym typeface="Arial"/>
              </a:rPr>
              <a:t>pid</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struct</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proc</a:t>
            </a:r>
            <a:r>
              <a:rPr lang="en-US" sz="1400" b="0" i="0" u="none" strike="noStrike" cap="none" dirty="0">
                <a:solidFill>
                  <a:srgbClr val="CCCCCC"/>
                </a:solidFill>
                <a:highlight>
                  <a:srgbClr val="242424"/>
                </a:highlight>
                <a:latin typeface="Arial"/>
                <a:ea typeface="Arial"/>
                <a:cs typeface="Arial"/>
                <a:sym typeface="Arial"/>
              </a:rPr>
              <a:t> *np;</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struct</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proc</a:t>
            </a:r>
            <a:r>
              <a:rPr lang="en-US" sz="1400" b="0" i="0" u="none" strike="noStrike" cap="none" dirty="0">
                <a:solidFill>
                  <a:srgbClr val="CCCCCC"/>
                </a:solidFill>
                <a:highlight>
                  <a:srgbClr val="242424"/>
                </a:highlight>
                <a:latin typeface="Arial"/>
                <a:ea typeface="Arial"/>
                <a:cs typeface="Arial"/>
                <a:sym typeface="Arial"/>
              </a:rPr>
              <a:t> *p = </a:t>
            </a:r>
            <a:r>
              <a:rPr lang="en-US" sz="1400" b="0" i="0" u="none" strike="noStrike" cap="none" dirty="0" err="1">
                <a:solidFill>
                  <a:srgbClr val="FFC66D"/>
                </a:solidFill>
                <a:highlight>
                  <a:srgbClr val="242424"/>
                </a:highlight>
                <a:latin typeface="Arial"/>
                <a:ea typeface="Arial"/>
                <a:cs typeface="Arial"/>
                <a:sym typeface="Arial"/>
              </a:rPr>
              <a:t>myproc</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707070"/>
                </a:solidFill>
                <a:highlight>
                  <a:srgbClr val="242424"/>
                </a:highlight>
                <a:latin typeface="Arial"/>
                <a:ea typeface="Arial"/>
                <a:cs typeface="Arial"/>
                <a:sym typeface="Arial"/>
              </a:rPr>
              <a:t>// Allocate process.</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if</a:t>
            </a:r>
            <a:r>
              <a:rPr lang="en-US" sz="1400" b="0" i="0" u="none" strike="noStrike" cap="none" dirty="0">
                <a:solidFill>
                  <a:srgbClr val="CCCCCC"/>
                </a:solidFill>
                <a:highlight>
                  <a:srgbClr val="242424"/>
                </a:highlight>
                <a:latin typeface="Arial"/>
                <a:ea typeface="Arial"/>
                <a:cs typeface="Arial"/>
                <a:sym typeface="Arial"/>
              </a:rPr>
              <a:t>((np = </a:t>
            </a:r>
            <a:r>
              <a:rPr lang="en-US" sz="1400" b="0" i="0" u="none" strike="noStrike" cap="none" dirty="0" err="1">
                <a:solidFill>
                  <a:srgbClr val="FFC66D"/>
                </a:solidFill>
                <a:highlight>
                  <a:srgbClr val="242424"/>
                </a:highlight>
                <a:latin typeface="Arial"/>
                <a:ea typeface="Arial"/>
                <a:cs typeface="Arial"/>
                <a:sym typeface="Arial"/>
              </a:rPr>
              <a:t>allocproc</a:t>
            </a:r>
            <a:r>
              <a:rPr lang="en-US" sz="1400" b="0" i="0" u="none" strike="noStrike" cap="none" dirty="0">
                <a:solidFill>
                  <a:srgbClr val="CCCCCC"/>
                </a:solidFill>
                <a:highlight>
                  <a:srgbClr val="242424"/>
                </a:highlight>
                <a:latin typeface="Arial"/>
                <a:ea typeface="Arial"/>
                <a:cs typeface="Arial"/>
                <a:sym typeface="Arial"/>
              </a:rPr>
              <a:t>()) == </a:t>
            </a:r>
            <a:r>
              <a:rPr lang="en-US" sz="1400" b="0" i="0" u="none" strike="noStrike" cap="none" dirty="0">
                <a:solidFill>
                  <a:srgbClr val="7A9EC2"/>
                </a:solidFill>
                <a:highlight>
                  <a:srgbClr val="242424"/>
                </a:highlight>
                <a:latin typeface="Arial"/>
                <a:ea typeface="Arial"/>
                <a:cs typeface="Arial"/>
                <a:sym typeface="Arial"/>
              </a:rPr>
              <a:t>0</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	return</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1</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707070"/>
                </a:solidFill>
                <a:highlight>
                  <a:srgbClr val="242424"/>
                </a:highlight>
                <a:latin typeface="Arial"/>
                <a:ea typeface="Arial"/>
                <a:cs typeface="Arial"/>
                <a:sym typeface="Arial"/>
              </a:rPr>
              <a:t>// Copy user memory from parent to child.</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if</a:t>
            </a:r>
            <a:r>
              <a:rPr lang="en-US" sz="1400" b="0" i="0" u="none" strike="noStrike" cap="none" dirty="0">
                <a:solidFill>
                  <a:srgbClr val="CCCCCC"/>
                </a:solidFill>
                <a:highlight>
                  <a:srgbClr val="242424"/>
                </a:highlight>
                <a:latin typeface="Arial"/>
                <a:ea typeface="Arial"/>
                <a:cs typeface="Arial"/>
                <a:sym typeface="Arial"/>
              </a:rPr>
              <a:t>(</a:t>
            </a:r>
            <a:r>
              <a:rPr lang="en-US" sz="1400" b="0" i="0" u="none" strike="noStrike" cap="none" dirty="0" err="1">
                <a:solidFill>
                  <a:srgbClr val="FFC66D"/>
                </a:solidFill>
                <a:highlight>
                  <a:srgbClr val="242424"/>
                </a:highlight>
                <a:latin typeface="Arial"/>
                <a:ea typeface="Arial"/>
                <a:cs typeface="Arial"/>
                <a:sym typeface="Arial"/>
              </a:rPr>
              <a:t>uvmcopy</a:t>
            </a: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err="1">
                <a:solidFill>
                  <a:srgbClr val="9E7BB0"/>
                </a:solidFill>
                <a:highlight>
                  <a:srgbClr val="242424"/>
                </a:highlight>
                <a:latin typeface="Arial"/>
                <a:ea typeface="Arial"/>
                <a:cs typeface="Arial"/>
                <a:sym typeface="Arial"/>
              </a:rPr>
              <a:t>pagetable</a:t>
            </a:r>
            <a:r>
              <a:rPr lang="en-US" sz="1400" b="0" i="0" u="none" strike="noStrike" cap="none" dirty="0">
                <a:solidFill>
                  <a:srgbClr val="CCCCCC"/>
                </a:solidFill>
                <a:highlight>
                  <a:srgbClr val="242424"/>
                </a:highlight>
                <a:latin typeface="Arial"/>
                <a:ea typeface="Arial"/>
                <a:cs typeface="Arial"/>
                <a:sym typeface="Arial"/>
              </a:rPr>
              <a:t>, np-&gt;</a:t>
            </a:r>
            <a:r>
              <a:rPr lang="en-US" sz="1400" b="0" i="0" u="none" strike="noStrike" cap="none" dirty="0" err="1">
                <a:solidFill>
                  <a:srgbClr val="9E7BB0"/>
                </a:solidFill>
                <a:highlight>
                  <a:srgbClr val="242424"/>
                </a:highlight>
                <a:latin typeface="Arial"/>
                <a:ea typeface="Arial"/>
                <a:cs typeface="Arial"/>
                <a:sym typeface="Arial"/>
              </a:rPr>
              <a:t>pagetable</a:t>
            </a:r>
            <a:r>
              <a:rPr lang="en-US" sz="1400" b="0" i="0" u="none" strike="noStrike" cap="none" dirty="0">
                <a:solidFill>
                  <a:srgbClr val="CCCCCC"/>
                </a:solidFill>
                <a:highlight>
                  <a:srgbClr val="242424"/>
                </a:highlight>
                <a:latin typeface="Arial"/>
                <a:ea typeface="Arial"/>
                <a:cs typeface="Arial"/>
                <a:sym typeface="Arial"/>
              </a:rPr>
              <a:t>, p-&gt;</a:t>
            </a:r>
            <a:r>
              <a:rPr lang="en-US" sz="1400" b="0" i="0" u="none" strike="noStrike" cap="none" dirty="0" err="1">
                <a:solidFill>
                  <a:srgbClr val="9E7BB0"/>
                </a:solidFill>
                <a:highlight>
                  <a:srgbClr val="242424"/>
                </a:highlight>
                <a:latin typeface="Arial"/>
                <a:ea typeface="Arial"/>
                <a:cs typeface="Arial"/>
                <a:sym typeface="Arial"/>
              </a:rPr>
              <a:t>sz</a:t>
            </a:r>
            <a:r>
              <a:rPr lang="en-US" sz="1400" b="0" i="0" u="none" strike="noStrike" cap="none" dirty="0">
                <a:solidFill>
                  <a:srgbClr val="CCCCCC"/>
                </a:solidFill>
                <a:highlight>
                  <a:srgbClr val="242424"/>
                </a:highlight>
                <a:latin typeface="Arial"/>
                <a:ea typeface="Arial"/>
                <a:cs typeface="Arial"/>
                <a:sym typeface="Arial"/>
              </a:rPr>
              <a:t>) &lt; </a:t>
            </a:r>
            <a:r>
              <a:rPr lang="en-US" sz="1400" b="0" i="0" u="none" strike="noStrike" cap="none" dirty="0">
                <a:solidFill>
                  <a:srgbClr val="7A9EC2"/>
                </a:solidFill>
                <a:highlight>
                  <a:srgbClr val="242424"/>
                </a:highlight>
                <a:latin typeface="Arial"/>
                <a:ea typeface="Arial"/>
                <a:cs typeface="Arial"/>
                <a:sym typeface="Arial"/>
              </a:rPr>
              <a:t>0</a:t>
            </a:r>
            <a:r>
              <a:rPr lang="en-US" sz="1400" b="0" i="0" u="none" strike="noStrike" cap="none" dirty="0">
                <a:solidFill>
                  <a:srgbClr val="CCCCCC"/>
                </a:solidFill>
                <a:highlight>
                  <a:srgbClr val="242424"/>
                </a:highlight>
                <a:latin typeface="Arial"/>
                <a:ea typeface="Arial"/>
                <a:cs typeface="Arial"/>
                <a:sym typeface="Arial"/>
              </a:rPr>
              <a:t>){</a:t>
            </a:r>
            <a:endParaRPr dirty="0"/>
          </a:p>
          <a:p>
            <a:pPr marL="914400" marR="0" lvl="2" indent="0" algn="l" rtl="0">
              <a:spcBef>
                <a:spcPts val="0"/>
              </a:spcBef>
              <a:spcAft>
                <a:spcPts val="0"/>
              </a:spcAft>
              <a:buNone/>
            </a:pPr>
            <a:r>
              <a:rPr lang="en-US" sz="1400" b="0" i="0" u="none" strike="noStrike" cap="none" dirty="0" err="1">
                <a:solidFill>
                  <a:srgbClr val="FFC66D"/>
                </a:solidFill>
                <a:highlight>
                  <a:srgbClr val="242424"/>
                </a:highlight>
                <a:latin typeface="Arial"/>
                <a:ea typeface="Arial"/>
                <a:cs typeface="Arial"/>
                <a:sym typeface="Arial"/>
              </a:rPr>
              <a:t>freeproc</a:t>
            </a:r>
            <a:r>
              <a:rPr lang="en-US" sz="1400" b="0" i="0" u="none" strike="noStrike" cap="none" dirty="0">
                <a:solidFill>
                  <a:srgbClr val="CCCCCC"/>
                </a:solidFill>
                <a:highlight>
                  <a:srgbClr val="242424"/>
                </a:highlight>
                <a:latin typeface="Arial"/>
                <a:ea typeface="Arial"/>
                <a:cs typeface="Arial"/>
                <a:sym typeface="Arial"/>
              </a:rPr>
              <a:t>(np);</a:t>
            </a:r>
            <a:endParaRPr dirty="0"/>
          </a:p>
          <a:p>
            <a:pPr marL="914400" marR="0" lvl="2" indent="0" algn="l" rtl="0">
              <a:spcBef>
                <a:spcPts val="0"/>
              </a:spcBef>
              <a:spcAft>
                <a:spcPts val="0"/>
              </a:spcAft>
              <a:buNone/>
            </a:pPr>
            <a:r>
              <a:rPr lang="en-US" sz="1400" b="0" i="0" u="none" strike="noStrike" cap="none" dirty="0">
                <a:solidFill>
                  <a:srgbClr val="FFC66D"/>
                </a:solidFill>
                <a:highlight>
                  <a:srgbClr val="242424"/>
                </a:highlight>
                <a:latin typeface="Arial"/>
                <a:ea typeface="Arial"/>
                <a:cs typeface="Arial"/>
                <a:sym typeface="Arial"/>
              </a:rPr>
              <a:t>release</a:t>
            </a:r>
            <a:r>
              <a:rPr lang="en-US" sz="1400" b="0" i="0" u="none" strike="noStrike" cap="none" dirty="0">
                <a:solidFill>
                  <a:srgbClr val="CCCCCC"/>
                </a:solidFill>
                <a:highlight>
                  <a:srgbClr val="242424"/>
                </a:highlight>
                <a:latin typeface="Arial"/>
                <a:ea typeface="Arial"/>
                <a:cs typeface="Arial"/>
                <a:sym typeface="Arial"/>
              </a:rPr>
              <a:t>(&amp;np-&gt;</a:t>
            </a:r>
            <a:r>
              <a:rPr lang="en-US" sz="1400" b="0" i="0" u="none" strike="noStrike" cap="none" dirty="0">
                <a:solidFill>
                  <a:srgbClr val="9E7BB0"/>
                </a:solidFill>
                <a:highlight>
                  <a:srgbClr val="242424"/>
                </a:highlight>
                <a:latin typeface="Arial"/>
                <a:ea typeface="Arial"/>
                <a:cs typeface="Arial"/>
                <a:sym typeface="Arial"/>
              </a:rPr>
              <a:t>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914400" marR="0" lvl="2"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return</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1</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np-&gt;</a:t>
            </a:r>
            <a:r>
              <a:rPr lang="en-US" sz="1400" b="0" i="0" u="none" strike="noStrike" cap="none" dirty="0" err="1">
                <a:solidFill>
                  <a:srgbClr val="9E7BB0"/>
                </a:solidFill>
                <a:highlight>
                  <a:srgbClr val="242424"/>
                </a:highlight>
                <a:latin typeface="Arial"/>
                <a:ea typeface="Arial"/>
                <a:cs typeface="Arial"/>
                <a:sym typeface="Arial"/>
              </a:rPr>
              <a:t>sz</a:t>
            </a:r>
            <a:r>
              <a:rPr lang="en-US" sz="1400" b="0" i="0" u="none" strike="noStrike" cap="none" dirty="0">
                <a:solidFill>
                  <a:srgbClr val="CCCCCC"/>
                </a:solidFill>
                <a:highlight>
                  <a:srgbClr val="242424"/>
                </a:highlight>
                <a:latin typeface="Arial"/>
                <a:ea typeface="Arial"/>
                <a:cs typeface="Arial"/>
                <a:sym typeface="Arial"/>
              </a:rPr>
              <a:t> = p-&gt;</a:t>
            </a:r>
            <a:r>
              <a:rPr lang="en-US" sz="1400" b="0" i="0" u="none" strike="noStrike" cap="none" dirty="0" err="1">
                <a:solidFill>
                  <a:srgbClr val="9E7BB0"/>
                </a:solidFill>
                <a:highlight>
                  <a:srgbClr val="242424"/>
                </a:highlight>
                <a:latin typeface="Arial"/>
                <a:ea typeface="Arial"/>
                <a:cs typeface="Arial"/>
                <a:sym typeface="Arial"/>
              </a:rPr>
              <a:t>sz</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707070"/>
                </a:solidFill>
                <a:highlight>
                  <a:srgbClr val="242424"/>
                </a:highlight>
                <a:latin typeface="Arial"/>
                <a:ea typeface="Arial"/>
                <a:cs typeface="Arial"/>
                <a:sym typeface="Arial"/>
              </a:rPr>
              <a:t>// copy saved user registers.</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*(np-&gt;</a:t>
            </a:r>
            <a:r>
              <a:rPr lang="en-US" sz="1400" b="0" i="0" u="none" strike="noStrike" cap="none" dirty="0" err="1">
                <a:solidFill>
                  <a:srgbClr val="9E7BB0"/>
                </a:solidFill>
                <a:highlight>
                  <a:srgbClr val="242424"/>
                </a:highlight>
                <a:latin typeface="Arial"/>
                <a:ea typeface="Arial"/>
                <a:cs typeface="Arial"/>
                <a:sym typeface="Arial"/>
              </a:rPr>
              <a:t>trapframe</a:t>
            </a:r>
            <a:r>
              <a:rPr lang="en-US" sz="1400" b="0" i="0" u="none" strike="noStrike" cap="none" dirty="0">
                <a:solidFill>
                  <a:srgbClr val="CCCCCC"/>
                </a:solidFill>
                <a:highlight>
                  <a:srgbClr val="242424"/>
                </a:highlight>
                <a:latin typeface="Arial"/>
                <a:ea typeface="Arial"/>
                <a:cs typeface="Arial"/>
                <a:sym typeface="Arial"/>
              </a:rPr>
              <a:t>) = *(p-&gt;</a:t>
            </a:r>
            <a:r>
              <a:rPr lang="en-US" sz="1400" b="0" i="0" u="none" strike="noStrike" cap="none" dirty="0" err="1">
                <a:solidFill>
                  <a:srgbClr val="9E7BB0"/>
                </a:solidFill>
                <a:highlight>
                  <a:srgbClr val="242424"/>
                </a:highlight>
                <a:latin typeface="Arial"/>
                <a:ea typeface="Arial"/>
                <a:cs typeface="Arial"/>
                <a:sym typeface="Arial"/>
              </a:rPr>
              <a:t>trapframe</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707070"/>
                </a:solidFill>
                <a:highlight>
                  <a:srgbClr val="242424"/>
                </a:highlight>
                <a:latin typeface="Arial"/>
                <a:ea typeface="Arial"/>
                <a:cs typeface="Arial"/>
                <a:sym typeface="Arial"/>
              </a:rPr>
              <a:t>// Cause fork to return 0 in the child.</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np-&gt;</a:t>
            </a:r>
            <a:r>
              <a:rPr lang="en-US" sz="1400" b="0" i="0" u="none" strike="noStrike" cap="none" dirty="0" err="1">
                <a:solidFill>
                  <a:srgbClr val="9E7BB0"/>
                </a:solidFill>
                <a:highlight>
                  <a:srgbClr val="242424"/>
                </a:highlight>
                <a:latin typeface="Arial"/>
                <a:ea typeface="Arial"/>
                <a:cs typeface="Arial"/>
                <a:sym typeface="Arial"/>
              </a:rPr>
              <a:t>trapframe</a:t>
            </a:r>
            <a:r>
              <a:rPr lang="en-US" sz="1400" b="0" i="0" u="none" strike="noStrike" cap="none" dirty="0">
                <a:solidFill>
                  <a:srgbClr val="CCCCCC"/>
                </a:solidFill>
                <a:highlight>
                  <a:srgbClr val="242424"/>
                </a:highlight>
                <a:latin typeface="Arial"/>
                <a:ea typeface="Arial"/>
                <a:cs typeface="Arial"/>
                <a:sym typeface="Arial"/>
              </a:rPr>
              <a:t>-&gt;</a:t>
            </a:r>
            <a:r>
              <a:rPr lang="en-US" sz="1400" b="0" i="0" u="none" strike="noStrike" cap="none" dirty="0">
                <a:solidFill>
                  <a:srgbClr val="9E7BB0"/>
                </a:solidFill>
                <a:highlight>
                  <a:srgbClr val="242424"/>
                </a:highlight>
                <a:latin typeface="Arial"/>
                <a:ea typeface="Arial"/>
                <a:cs typeface="Arial"/>
                <a:sym typeface="Arial"/>
              </a:rPr>
              <a:t>a0</a:t>
            </a:r>
            <a:r>
              <a:rPr lang="en-US" sz="1400" b="0" i="0" u="none" strike="noStrike" cap="none" dirty="0">
                <a:solidFill>
                  <a:srgbClr val="CCCCCC"/>
                </a:solidFill>
                <a:highlight>
                  <a:srgbClr val="242424"/>
                </a:highlight>
                <a:latin typeface="Arial"/>
                <a:ea typeface="Arial"/>
                <a:cs typeface="Arial"/>
                <a:sym typeface="Arial"/>
              </a:rPr>
              <a:t> = </a:t>
            </a:r>
            <a:r>
              <a:rPr lang="en-US" sz="1400" b="0" i="0" u="none" strike="noStrike" cap="none" dirty="0">
                <a:solidFill>
                  <a:srgbClr val="7A9EC2"/>
                </a:solidFill>
                <a:highlight>
                  <a:srgbClr val="242424"/>
                </a:highlight>
                <a:latin typeface="Arial"/>
                <a:ea typeface="Arial"/>
                <a:cs typeface="Arial"/>
                <a:sym typeface="Arial"/>
              </a:rPr>
              <a:t>0</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CCCCCC"/>
                </a:solidFill>
                <a:highlight>
                  <a:srgbClr val="242424"/>
                </a:highlight>
                <a:latin typeface="Arial"/>
                <a:ea typeface="Arial"/>
                <a:cs typeface="Arial"/>
                <a:sym typeface="Arial"/>
              </a:rPr>
              <a:t>...</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err="1">
                <a:solidFill>
                  <a:srgbClr val="CCCCCC"/>
                </a:solidFill>
                <a:highlight>
                  <a:srgbClr val="242424"/>
                </a:highlight>
                <a:latin typeface="Arial"/>
                <a:ea typeface="Arial"/>
                <a:cs typeface="Arial"/>
                <a:sym typeface="Arial"/>
              </a:rPr>
              <a:t>pid</a:t>
            </a:r>
            <a:r>
              <a:rPr lang="en-US" sz="1400" b="0" i="0" u="none" strike="noStrike" cap="none" dirty="0">
                <a:solidFill>
                  <a:srgbClr val="CCCCCC"/>
                </a:solidFill>
                <a:highlight>
                  <a:srgbClr val="242424"/>
                </a:highlight>
                <a:latin typeface="Arial"/>
                <a:ea typeface="Arial"/>
                <a:cs typeface="Arial"/>
                <a:sym typeface="Arial"/>
              </a:rPr>
              <a:t> = np-&gt;</a:t>
            </a:r>
            <a:r>
              <a:rPr lang="en-US" sz="1400" b="0" i="0" u="none" strike="noStrike" cap="none" dirty="0" err="1">
                <a:solidFill>
                  <a:srgbClr val="9E7BB0"/>
                </a:solidFill>
                <a:highlight>
                  <a:srgbClr val="242424"/>
                </a:highlight>
                <a:latin typeface="Arial"/>
                <a:ea typeface="Arial"/>
                <a:cs typeface="Arial"/>
                <a:sym typeface="Arial"/>
              </a:rPr>
              <a:t>pid</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FFC66D"/>
                </a:solidFill>
                <a:highlight>
                  <a:srgbClr val="242424"/>
                </a:highlight>
                <a:latin typeface="Arial"/>
                <a:ea typeface="Arial"/>
                <a:cs typeface="Arial"/>
                <a:sym typeface="Arial"/>
              </a:rPr>
              <a:t>release</a:t>
            </a:r>
            <a:r>
              <a:rPr lang="en-US" sz="1400" b="0" i="0" u="none" strike="noStrike" cap="none" dirty="0">
                <a:solidFill>
                  <a:srgbClr val="CCCCCC"/>
                </a:solidFill>
                <a:highlight>
                  <a:srgbClr val="242424"/>
                </a:highlight>
                <a:latin typeface="Arial"/>
                <a:ea typeface="Arial"/>
                <a:cs typeface="Arial"/>
                <a:sym typeface="Arial"/>
              </a:rPr>
              <a:t>(&amp;np-&gt;</a:t>
            </a:r>
            <a:r>
              <a:rPr lang="en-US" sz="1400" b="0" i="0" u="none" strike="noStrike" cap="none" dirty="0">
                <a:solidFill>
                  <a:srgbClr val="9E7BB0"/>
                </a:solidFill>
                <a:highlight>
                  <a:srgbClr val="242424"/>
                </a:highlight>
                <a:latin typeface="Arial"/>
                <a:ea typeface="Arial"/>
                <a:cs typeface="Arial"/>
                <a:sym typeface="Arial"/>
              </a:rPr>
              <a:t>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FFC66D"/>
                </a:solidFill>
                <a:highlight>
                  <a:srgbClr val="242424"/>
                </a:highlight>
                <a:latin typeface="Arial"/>
                <a:ea typeface="Arial"/>
                <a:cs typeface="Arial"/>
                <a:sym typeface="Arial"/>
              </a:rPr>
              <a:t>acquire</a:t>
            </a:r>
            <a:r>
              <a:rPr lang="en-US" sz="1400" b="0" i="0" u="none" strike="noStrike" cap="none" dirty="0">
                <a:solidFill>
                  <a:srgbClr val="CCCCCC"/>
                </a:solidFill>
                <a:highlight>
                  <a:srgbClr val="242424"/>
                </a:highlight>
                <a:latin typeface="Arial"/>
                <a:ea typeface="Arial"/>
                <a:cs typeface="Arial"/>
                <a:sym typeface="Arial"/>
              </a:rPr>
              <a:t>(&amp;</a:t>
            </a:r>
            <a:r>
              <a:rPr lang="en-US" sz="1400" b="0" i="0" u="none" strike="noStrike" cap="none" dirty="0" err="1">
                <a:solidFill>
                  <a:srgbClr val="CCCCCC"/>
                </a:solidFill>
                <a:highlight>
                  <a:srgbClr val="242424"/>
                </a:highlight>
                <a:latin typeface="Arial"/>
                <a:ea typeface="Arial"/>
                <a:cs typeface="Arial"/>
                <a:sym typeface="Arial"/>
              </a:rPr>
              <a:t>wait_lock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np-&gt;</a:t>
            </a:r>
            <a:r>
              <a:rPr lang="en-US" sz="1400" b="0" i="0" u="none" strike="noStrike" cap="none" dirty="0">
                <a:solidFill>
                  <a:srgbClr val="9E7BB0"/>
                </a:solidFill>
                <a:highlight>
                  <a:srgbClr val="242424"/>
                </a:highlight>
                <a:latin typeface="Arial"/>
                <a:ea typeface="Arial"/>
                <a:cs typeface="Arial"/>
                <a:sym typeface="Arial"/>
              </a:rPr>
              <a:t>parent</a:t>
            </a:r>
            <a:r>
              <a:rPr lang="en-US" sz="1400" b="0" i="0" u="none" strike="noStrike" cap="none" dirty="0">
                <a:solidFill>
                  <a:srgbClr val="CCCCCC"/>
                </a:solidFill>
                <a:highlight>
                  <a:srgbClr val="242424"/>
                </a:highlight>
                <a:latin typeface="Arial"/>
                <a:ea typeface="Arial"/>
                <a:cs typeface="Arial"/>
                <a:sym typeface="Arial"/>
              </a:rPr>
              <a:t> = p;</a:t>
            </a:r>
            <a:endParaRPr dirty="0"/>
          </a:p>
          <a:p>
            <a:pPr marL="457200" marR="0" lvl="1" indent="0" algn="l" rtl="0">
              <a:spcBef>
                <a:spcPts val="0"/>
              </a:spcBef>
              <a:spcAft>
                <a:spcPts val="0"/>
              </a:spcAft>
              <a:buNone/>
            </a:pPr>
            <a:r>
              <a:rPr lang="en-US" sz="1400" b="0" i="0" u="none" strike="noStrike" cap="none" dirty="0">
                <a:solidFill>
                  <a:srgbClr val="FFC66D"/>
                </a:solidFill>
                <a:highlight>
                  <a:srgbClr val="242424"/>
                </a:highlight>
                <a:latin typeface="Arial"/>
                <a:ea typeface="Arial"/>
                <a:cs typeface="Arial"/>
                <a:sym typeface="Arial"/>
              </a:rPr>
              <a:t>release</a:t>
            </a:r>
            <a:r>
              <a:rPr lang="en-US" sz="1400" b="0" i="0" u="none" strike="noStrike" cap="none" dirty="0">
                <a:solidFill>
                  <a:srgbClr val="CCCCCC"/>
                </a:solidFill>
                <a:highlight>
                  <a:srgbClr val="242424"/>
                </a:highlight>
                <a:latin typeface="Arial"/>
                <a:ea typeface="Arial"/>
                <a:cs typeface="Arial"/>
                <a:sym typeface="Arial"/>
              </a:rPr>
              <a:t>(&amp;</a:t>
            </a:r>
            <a:r>
              <a:rPr lang="en-US" sz="1400" b="0" i="0" u="none" strike="noStrike" cap="none" dirty="0" err="1">
                <a:solidFill>
                  <a:srgbClr val="CCCCCC"/>
                </a:solidFill>
                <a:highlight>
                  <a:srgbClr val="242424"/>
                </a:highlight>
                <a:latin typeface="Arial"/>
                <a:ea typeface="Arial"/>
                <a:cs typeface="Arial"/>
                <a:sym typeface="Arial"/>
              </a:rPr>
              <a:t>wait_lock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FFC66D"/>
                </a:solidFill>
                <a:highlight>
                  <a:srgbClr val="242424"/>
                </a:highlight>
                <a:latin typeface="Arial"/>
                <a:ea typeface="Arial"/>
                <a:cs typeface="Arial"/>
                <a:sym typeface="Arial"/>
              </a:rPr>
              <a:t>acquire</a:t>
            </a:r>
            <a:r>
              <a:rPr lang="en-US" sz="1400" b="0" i="0" u="none" strike="noStrike" cap="none" dirty="0">
                <a:solidFill>
                  <a:srgbClr val="CCCCCC"/>
                </a:solidFill>
                <a:highlight>
                  <a:srgbClr val="242424"/>
                </a:highlight>
                <a:latin typeface="Arial"/>
                <a:ea typeface="Arial"/>
                <a:cs typeface="Arial"/>
                <a:sym typeface="Arial"/>
              </a:rPr>
              <a:t>(&amp;np-&gt;</a:t>
            </a:r>
            <a:r>
              <a:rPr lang="en-US" sz="1400" b="0" i="0" u="none" strike="noStrike" cap="none" dirty="0">
                <a:solidFill>
                  <a:srgbClr val="9E7BB0"/>
                </a:solidFill>
                <a:highlight>
                  <a:srgbClr val="242424"/>
                </a:highlight>
                <a:latin typeface="Arial"/>
                <a:ea typeface="Arial"/>
                <a:cs typeface="Arial"/>
                <a:sym typeface="Arial"/>
              </a:rPr>
              <a:t>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np-&gt;</a:t>
            </a:r>
            <a:r>
              <a:rPr lang="en-US" sz="1400" b="0" i="0" u="none" strike="noStrike" cap="none" dirty="0">
                <a:solidFill>
                  <a:srgbClr val="9E7BB0"/>
                </a:solidFill>
                <a:highlight>
                  <a:srgbClr val="242424"/>
                </a:highlight>
                <a:latin typeface="Arial"/>
                <a:ea typeface="Arial"/>
                <a:cs typeface="Arial"/>
                <a:sym typeface="Arial"/>
              </a:rPr>
              <a:t>state</a:t>
            </a:r>
            <a:r>
              <a:rPr lang="en-US" sz="1400" b="0" i="0" u="none" strike="noStrike" cap="none" dirty="0">
                <a:solidFill>
                  <a:srgbClr val="CCCCCC"/>
                </a:solidFill>
                <a:highlight>
                  <a:srgbClr val="242424"/>
                </a:highlight>
                <a:latin typeface="Arial"/>
                <a:ea typeface="Arial"/>
                <a:cs typeface="Arial"/>
                <a:sym typeface="Arial"/>
              </a:rPr>
              <a:t> = RUNNABLE;</a:t>
            </a:r>
            <a:endParaRPr dirty="0"/>
          </a:p>
          <a:p>
            <a:pPr marL="457200" marR="0" lvl="1" indent="0" algn="l" rtl="0">
              <a:spcBef>
                <a:spcPts val="0"/>
              </a:spcBef>
              <a:spcAft>
                <a:spcPts val="0"/>
              </a:spcAft>
              <a:buNone/>
            </a:pPr>
            <a:r>
              <a:rPr lang="en-US" sz="1400" b="0" i="0" u="none" strike="noStrike" cap="none" dirty="0">
                <a:solidFill>
                  <a:srgbClr val="FFC66D"/>
                </a:solidFill>
                <a:highlight>
                  <a:srgbClr val="242424"/>
                </a:highlight>
                <a:latin typeface="Arial"/>
                <a:ea typeface="Arial"/>
                <a:cs typeface="Arial"/>
                <a:sym typeface="Arial"/>
              </a:rPr>
              <a:t>release</a:t>
            </a:r>
            <a:r>
              <a:rPr lang="en-US" sz="1400" b="0" i="0" u="none" strike="noStrike" cap="none" dirty="0">
                <a:solidFill>
                  <a:srgbClr val="CCCCCC"/>
                </a:solidFill>
                <a:highlight>
                  <a:srgbClr val="242424"/>
                </a:highlight>
                <a:latin typeface="Arial"/>
                <a:ea typeface="Arial"/>
                <a:cs typeface="Arial"/>
                <a:sym typeface="Arial"/>
              </a:rPr>
              <a:t>(&amp;np-&gt;</a:t>
            </a:r>
            <a:r>
              <a:rPr lang="en-US" sz="1400" b="0" i="0" u="none" strike="noStrike" cap="none" dirty="0">
                <a:solidFill>
                  <a:srgbClr val="9E7BB0"/>
                </a:solidFill>
                <a:highlight>
                  <a:srgbClr val="242424"/>
                </a:highlight>
                <a:latin typeface="Arial"/>
                <a:ea typeface="Arial"/>
                <a:cs typeface="Arial"/>
                <a:sym typeface="Arial"/>
              </a:rPr>
              <a:t>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CC8242"/>
                </a:solidFill>
                <a:highlight>
                  <a:srgbClr val="242424"/>
                </a:highlight>
                <a:latin typeface="Arial"/>
                <a:ea typeface="Arial"/>
                <a:cs typeface="Arial"/>
                <a:sym typeface="Arial"/>
              </a:rPr>
              <a:t>return</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err="1">
                <a:solidFill>
                  <a:srgbClr val="CCCCCC"/>
                </a:solidFill>
                <a:highlight>
                  <a:srgbClr val="242424"/>
                </a:highlight>
                <a:latin typeface="Arial"/>
                <a:ea typeface="Arial"/>
                <a:cs typeface="Arial"/>
                <a:sym typeface="Arial"/>
              </a:rPr>
              <a:t>pid</a:t>
            </a:r>
            <a:r>
              <a:rPr lang="en-US" sz="1400" b="0" i="0" u="none" strike="noStrike" cap="none"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4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endParaRPr sz="1400" dirty="0">
              <a:solidFill>
                <a:schemeClr val="dk1"/>
              </a:solidFill>
              <a:latin typeface="Arial"/>
              <a:ea typeface="Arial"/>
              <a:cs typeface="Arial"/>
              <a:sym typeface="Arial"/>
            </a:endParaRPr>
          </a:p>
          <a:p>
            <a:pPr marL="0" marR="0" lvl="0" indent="0" algn="l" rtl="0">
              <a:spcBef>
                <a:spcPts val="0"/>
              </a:spcBef>
              <a:spcAft>
                <a:spcPts val="0"/>
              </a:spcAft>
              <a:buNone/>
            </a:pPr>
            <a:endParaRPr sz="1400" dirty="0">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creation/allocation</a:t>
            </a:r>
            <a:endParaRPr sz="2800" dirty="0"/>
          </a:p>
        </p:txBody>
      </p:sp>
      <p:grpSp>
        <p:nvGrpSpPr>
          <p:cNvPr id="140" name="Google Shape;140;p5"/>
          <p:cNvGrpSpPr/>
          <p:nvPr/>
        </p:nvGrpSpPr>
        <p:grpSpPr>
          <a:xfrm>
            <a:off x="6614450" y="365125"/>
            <a:ext cx="4739350" cy="928378"/>
            <a:chOff x="536448" y="1760552"/>
            <a:chExt cx="4739350" cy="928378"/>
          </a:xfrm>
        </p:grpSpPr>
        <p:sp>
          <p:nvSpPr>
            <p:cNvPr id="141" name="Google Shape;141;p5"/>
            <p:cNvSpPr/>
            <p:nvPr/>
          </p:nvSpPr>
          <p:spPr>
            <a:xfrm>
              <a:off x="536448" y="1945218"/>
              <a:ext cx="1549473" cy="743712"/>
            </a:xfrm>
            <a:prstGeom prst="roundRect">
              <a:avLst>
                <a:gd name="adj" fmla="val 16667"/>
              </a:avLst>
            </a:prstGeom>
            <a:gradFill>
              <a:gsLst>
                <a:gs pos="0">
                  <a:srgbClr val="575757"/>
                </a:gs>
                <a:gs pos="48000">
                  <a:srgbClr val="8B8B8B"/>
                </a:gs>
                <a:gs pos="100000">
                  <a:srgbClr val="E1E1E1"/>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a:ea typeface="Arial"/>
                  <a:cs typeface="Arial"/>
                  <a:sym typeface="Arial"/>
                </a:rPr>
                <a:t>UNUSED</a:t>
              </a:r>
              <a:endParaRPr dirty="0"/>
            </a:p>
          </p:txBody>
        </p:sp>
        <p:sp>
          <p:nvSpPr>
            <p:cNvPr id="142" name="Google Shape;142;p5"/>
            <p:cNvSpPr/>
            <p:nvPr/>
          </p:nvSpPr>
          <p:spPr>
            <a:xfrm>
              <a:off x="3726325" y="1945218"/>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a:ea typeface="Arial"/>
                  <a:cs typeface="Arial"/>
                  <a:sym typeface="Arial"/>
                </a:rPr>
                <a:t>RUNNABLE</a:t>
              </a:r>
              <a:endParaRPr dirty="0"/>
            </a:p>
          </p:txBody>
        </p:sp>
        <p:cxnSp>
          <p:nvCxnSpPr>
            <p:cNvPr id="143" name="Google Shape;143;p5"/>
            <p:cNvCxnSpPr>
              <a:cxnSpLocks/>
              <a:stCxn id="141" idx="3"/>
              <a:endCxn id="142" idx="1"/>
            </p:cNvCxnSpPr>
            <p:nvPr/>
          </p:nvCxnSpPr>
          <p:spPr>
            <a:xfrm>
              <a:off x="2085921" y="2317074"/>
              <a:ext cx="1640400" cy="0"/>
            </a:xfrm>
            <a:prstGeom prst="straightConnector1">
              <a:avLst/>
            </a:prstGeom>
            <a:noFill/>
            <a:ln w="38100" cap="flat" cmpd="sng">
              <a:solidFill>
                <a:schemeClr val="dk1"/>
              </a:solidFill>
              <a:prstDash val="solid"/>
              <a:miter lim="800000"/>
              <a:headEnd type="none" w="sm" len="sm"/>
              <a:tailEnd type="triangle" w="med" len="med"/>
            </a:ln>
          </p:spPr>
        </p:cxnSp>
        <p:sp>
          <p:nvSpPr>
            <p:cNvPr id="144" name="Google Shape;144;p5"/>
            <p:cNvSpPr txBox="1"/>
            <p:nvPr/>
          </p:nvSpPr>
          <p:spPr>
            <a:xfrm>
              <a:off x="2360382" y="1760552"/>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Arial"/>
                  <a:ea typeface="Arial"/>
                  <a:cs typeface="Arial"/>
                  <a:sym typeface="Arial"/>
                </a:rPr>
                <a:t>allocate</a:t>
              </a:r>
              <a:endParaRPr dirty="0"/>
            </a:p>
          </p:txBody>
        </p:sp>
      </p:grpSp>
      <p:sp>
        <p:nvSpPr>
          <p:cNvPr id="145" name="Google Shape;145;p5"/>
          <p:cNvSpPr txBox="1"/>
          <p:nvPr/>
        </p:nvSpPr>
        <p:spPr>
          <a:xfrm>
            <a:off x="838200" y="1411005"/>
            <a:ext cx="10515600" cy="4190802"/>
          </a:xfrm>
          <a:prstGeom prst="rect">
            <a:avLst/>
          </a:prstGeom>
          <a:solidFill>
            <a:srgbClr val="242424"/>
          </a:solidFill>
          <a:ln>
            <a:noFill/>
          </a:ln>
        </p:spPr>
        <p:txBody>
          <a:bodyPr spcFirstLastPara="1" wrap="square" lIns="90000" tIns="45700" rIns="91425" bIns="45700" numCol="2" anchor="t" anchorCtr="0">
            <a:noAutofit/>
          </a:bodyPr>
          <a:lstStyle/>
          <a:p>
            <a:pPr marL="0" marR="0" lvl="0" indent="0" algn="l" rtl="0">
              <a:spcBef>
                <a:spcPts val="0"/>
              </a:spcBef>
              <a:spcAft>
                <a:spcPts val="0"/>
              </a:spcAft>
              <a:buNone/>
            </a:pPr>
            <a:r>
              <a:rPr lang="en-US" sz="1400" b="0" dirty="0">
                <a:solidFill>
                  <a:srgbClr val="CC8242"/>
                </a:solidFill>
                <a:highlight>
                  <a:srgbClr val="242424"/>
                </a:highlight>
                <a:latin typeface="Arial"/>
                <a:ea typeface="Arial"/>
                <a:cs typeface="Arial"/>
                <a:sym typeface="Arial"/>
              </a:rPr>
              <a:t>static</a:t>
            </a:r>
            <a:r>
              <a:rPr lang="en-US" sz="1400" b="0" dirty="0">
                <a:solidFill>
                  <a:srgbClr val="CCCCCC"/>
                </a:solidFill>
                <a:highlight>
                  <a:srgbClr val="242424"/>
                </a:highlight>
                <a:latin typeface="Arial"/>
                <a:ea typeface="Arial"/>
                <a:cs typeface="Arial"/>
                <a:sym typeface="Arial"/>
              </a:rPr>
              <a:t> </a:t>
            </a:r>
            <a:r>
              <a:rPr lang="en-US" sz="1400" b="0" dirty="0">
                <a:solidFill>
                  <a:srgbClr val="CC8242"/>
                </a:solidFill>
                <a:highlight>
                  <a:srgbClr val="242424"/>
                </a:highlight>
                <a:latin typeface="Arial"/>
                <a:ea typeface="Arial"/>
                <a:cs typeface="Arial"/>
                <a:sym typeface="Arial"/>
              </a:rPr>
              <a:t>struct</a:t>
            </a:r>
            <a:r>
              <a:rPr lang="en-US" sz="1400" b="0" dirty="0">
                <a:solidFill>
                  <a:srgbClr val="CCCCCC"/>
                </a:solidFill>
                <a:highlight>
                  <a:srgbClr val="242424"/>
                </a:highlight>
                <a:latin typeface="Arial"/>
                <a:ea typeface="Arial"/>
                <a:cs typeface="Arial"/>
                <a:sym typeface="Arial"/>
              </a:rPr>
              <a:t> </a:t>
            </a:r>
            <a:r>
              <a:rPr lang="en-US" sz="1400" b="0" dirty="0">
                <a:solidFill>
                  <a:srgbClr val="7A9EC2"/>
                </a:solidFill>
                <a:highlight>
                  <a:srgbClr val="242424"/>
                </a:highlight>
                <a:latin typeface="Arial"/>
                <a:ea typeface="Arial"/>
                <a:cs typeface="Arial"/>
                <a:sym typeface="Arial"/>
              </a:rPr>
              <a:t>proc</a:t>
            </a:r>
            <a:r>
              <a:rPr lang="en-US" sz="1400" b="0" dirty="0">
                <a:solidFill>
                  <a:srgbClr val="CCCCCC"/>
                </a:solidFill>
                <a:highlight>
                  <a:srgbClr val="242424"/>
                </a:highlight>
                <a:latin typeface="Arial"/>
                <a:ea typeface="Arial"/>
                <a:cs typeface="Arial"/>
                <a:sym typeface="Arial"/>
              </a:rPr>
              <a:t>* </a:t>
            </a:r>
            <a:r>
              <a:rPr lang="en-US" sz="1400" b="0" dirty="0" err="1">
                <a:solidFill>
                  <a:srgbClr val="FFC66D"/>
                </a:solidFill>
                <a:highlight>
                  <a:srgbClr val="242424"/>
                </a:highlight>
                <a:latin typeface="Arial"/>
                <a:ea typeface="Arial"/>
                <a:cs typeface="Arial"/>
                <a:sym typeface="Arial"/>
              </a:rPr>
              <a:t>allocproc</a:t>
            </a:r>
            <a:r>
              <a:rPr lang="en-US" sz="1400" b="0" dirty="0">
                <a:solidFill>
                  <a:srgbClr val="CCCCCC"/>
                </a:solidFill>
                <a:highlight>
                  <a:srgbClr val="242424"/>
                </a:highlight>
                <a:latin typeface="Arial"/>
                <a:ea typeface="Arial"/>
                <a:cs typeface="Arial"/>
                <a:sym typeface="Arial"/>
              </a:rPr>
              <a:t>(</a:t>
            </a:r>
            <a:r>
              <a:rPr lang="en-US" sz="1400" b="0" dirty="0">
                <a:solidFill>
                  <a:srgbClr val="CC8242"/>
                </a:solidFill>
                <a:highlight>
                  <a:srgbClr val="242424"/>
                </a:highlight>
                <a:latin typeface="Arial"/>
                <a:ea typeface="Arial"/>
                <a:cs typeface="Arial"/>
                <a:sym typeface="Arial"/>
              </a:rPr>
              <a:t>void</a:t>
            </a:r>
            <a:r>
              <a:rPr lang="en-US" sz="1400" b="0" dirty="0">
                <a:solidFill>
                  <a:srgbClr val="CCCCCC"/>
                </a:solidFill>
                <a:highlight>
                  <a:srgbClr val="242424"/>
                </a:highlight>
                <a:latin typeface="Arial"/>
                <a:ea typeface="Arial"/>
                <a:cs typeface="Arial"/>
                <a:sym typeface="Arial"/>
              </a:rPr>
              <a:t>) {</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struct</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proc</a:t>
            </a:r>
            <a:r>
              <a:rPr lang="en-US" sz="1400" b="0" i="0" u="none" strike="noStrike" cap="none" dirty="0">
                <a:solidFill>
                  <a:srgbClr val="CCCCCC"/>
                </a:solidFill>
                <a:highlight>
                  <a:srgbClr val="242424"/>
                </a:highlight>
                <a:latin typeface="Arial"/>
                <a:ea typeface="Arial"/>
                <a:cs typeface="Arial"/>
                <a:sym typeface="Arial"/>
              </a:rPr>
              <a:t> *p;</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CC8242"/>
                </a:solidFill>
                <a:highlight>
                  <a:srgbClr val="242424"/>
                </a:highlight>
                <a:latin typeface="Arial"/>
                <a:ea typeface="Arial"/>
                <a:cs typeface="Arial"/>
                <a:sym typeface="Arial"/>
              </a:rPr>
              <a:t>for</a:t>
            </a:r>
            <a:r>
              <a:rPr lang="en-US" sz="1400" b="0" i="0" u="none" strike="noStrike" cap="none" dirty="0">
                <a:solidFill>
                  <a:srgbClr val="CCCCCC"/>
                </a:solidFill>
                <a:highlight>
                  <a:srgbClr val="242424"/>
                </a:highlight>
                <a:latin typeface="Arial"/>
                <a:ea typeface="Arial"/>
                <a:cs typeface="Arial"/>
                <a:sym typeface="Arial"/>
              </a:rPr>
              <a:t>(p = proc; p &lt; &amp;proc[</a:t>
            </a:r>
            <a:r>
              <a:rPr lang="en-US" sz="1400" b="0" i="0" u="none" strike="noStrike" cap="none" dirty="0">
                <a:solidFill>
                  <a:srgbClr val="FFC66D"/>
                </a:solidFill>
                <a:highlight>
                  <a:srgbClr val="242424"/>
                </a:highlight>
                <a:latin typeface="Arial"/>
                <a:ea typeface="Arial"/>
                <a:cs typeface="Arial"/>
                <a:sym typeface="Arial"/>
              </a:rPr>
              <a:t>NPROC</a:t>
            </a:r>
            <a:r>
              <a:rPr lang="en-US" sz="1400" b="0" i="0" u="none" strike="noStrike" cap="none" dirty="0">
                <a:solidFill>
                  <a:srgbClr val="CCCCCC"/>
                </a:solidFill>
                <a:highlight>
                  <a:srgbClr val="242424"/>
                </a:highlight>
                <a:latin typeface="Arial"/>
                <a:ea typeface="Arial"/>
                <a:cs typeface="Arial"/>
                <a:sym typeface="Arial"/>
              </a:rPr>
              <a:t>]; p++) {</a:t>
            </a:r>
            <a:endParaRPr dirty="0"/>
          </a:p>
          <a:p>
            <a:pPr marL="457200" marR="0" lvl="1" indent="0" algn="l" rtl="0">
              <a:spcBef>
                <a:spcPts val="0"/>
              </a:spcBef>
              <a:spcAft>
                <a:spcPts val="0"/>
              </a:spcAft>
              <a:buNone/>
            </a:pPr>
            <a:r>
              <a:rPr lang="en-US" sz="1400" b="0" i="0" u="none" strike="noStrike" cap="none" dirty="0">
                <a:solidFill>
                  <a:srgbClr val="FFC66D"/>
                </a:solidFill>
                <a:highlight>
                  <a:srgbClr val="242424"/>
                </a:highlight>
                <a:latin typeface="Arial"/>
                <a:ea typeface="Arial"/>
                <a:cs typeface="Arial"/>
                <a:sym typeface="Arial"/>
              </a:rPr>
              <a:t>	acquire</a:t>
            </a:r>
            <a:r>
              <a:rPr lang="en-US" sz="1400" b="0" i="0" u="none" strike="noStrike" cap="none" dirty="0">
                <a:solidFill>
                  <a:srgbClr val="CCCCCC"/>
                </a:solidFill>
                <a:highlight>
                  <a:srgbClr val="242424"/>
                </a:highlight>
                <a:latin typeface="Arial"/>
                <a:ea typeface="Arial"/>
                <a:cs typeface="Arial"/>
                <a:sym typeface="Arial"/>
              </a:rPr>
              <a:t>(&amp;p-&gt;</a:t>
            </a:r>
            <a:r>
              <a:rPr lang="en-US" sz="1400" b="0" i="0" u="none" strike="noStrike" cap="none" dirty="0">
                <a:solidFill>
                  <a:srgbClr val="9E7BB0"/>
                </a:solidFill>
                <a:highlight>
                  <a:srgbClr val="242424"/>
                </a:highlight>
                <a:latin typeface="Arial"/>
                <a:ea typeface="Arial"/>
                <a:cs typeface="Arial"/>
                <a:sym typeface="Arial"/>
              </a:rPr>
              <a:t>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	if</a:t>
            </a: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a:solidFill>
                  <a:srgbClr val="9E7BB0"/>
                </a:solidFill>
                <a:highlight>
                  <a:srgbClr val="242424"/>
                </a:highlight>
                <a:latin typeface="Arial"/>
                <a:ea typeface="Arial"/>
                <a:cs typeface="Arial"/>
                <a:sym typeface="Arial"/>
              </a:rPr>
              <a:t>state</a:t>
            </a:r>
            <a:r>
              <a:rPr lang="en-US" sz="1400" b="0" i="0" u="none" strike="noStrike" cap="none" dirty="0">
                <a:solidFill>
                  <a:srgbClr val="CCCCCC"/>
                </a:solidFill>
                <a:highlight>
                  <a:srgbClr val="242424"/>
                </a:highlight>
                <a:latin typeface="Arial"/>
                <a:ea typeface="Arial"/>
                <a:cs typeface="Arial"/>
                <a:sym typeface="Arial"/>
              </a:rPr>
              <a:t> == UNUSED) {</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		</a:t>
            </a:r>
            <a:r>
              <a:rPr lang="en-US" sz="1400" b="0" i="0" u="none" strike="noStrike" cap="none" dirty="0" err="1">
                <a:solidFill>
                  <a:srgbClr val="CC8242"/>
                </a:solidFill>
                <a:highlight>
                  <a:srgbClr val="242424"/>
                </a:highlight>
                <a:latin typeface="Arial"/>
                <a:ea typeface="Arial"/>
                <a:cs typeface="Arial"/>
                <a:sym typeface="Arial"/>
              </a:rPr>
              <a:t>goto</a:t>
            </a:r>
            <a:r>
              <a:rPr lang="en-US" sz="1400" b="0" i="0" u="none" strike="noStrike" cap="none" dirty="0">
                <a:solidFill>
                  <a:srgbClr val="CCCCCC"/>
                </a:solidFill>
                <a:highlight>
                  <a:srgbClr val="242424"/>
                </a:highlight>
                <a:latin typeface="Arial"/>
                <a:ea typeface="Arial"/>
                <a:cs typeface="Arial"/>
                <a:sym typeface="Arial"/>
              </a:rPr>
              <a:t> found;</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	} </a:t>
            </a:r>
            <a:r>
              <a:rPr lang="en-US" sz="1400" b="0" i="0" u="none" strike="noStrike" cap="none" dirty="0">
                <a:solidFill>
                  <a:srgbClr val="CC8242"/>
                </a:solidFill>
                <a:highlight>
                  <a:srgbClr val="242424"/>
                </a:highlight>
                <a:latin typeface="Arial"/>
                <a:ea typeface="Arial"/>
                <a:cs typeface="Arial"/>
                <a:sym typeface="Arial"/>
              </a:rPr>
              <a:t>else</a:t>
            </a:r>
            <a:r>
              <a:rPr lang="en-US" sz="1400" b="0" i="0" u="none" strike="noStrike" cap="none" dirty="0">
                <a:solidFill>
                  <a:srgbClr val="CCCCCC"/>
                </a:solidFill>
                <a:highlight>
                  <a:srgbClr val="242424"/>
                </a:highlight>
                <a:latin typeface="Arial"/>
                <a:ea typeface="Arial"/>
                <a:cs typeface="Arial"/>
                <a:sym typeface="Arial"/>
              </a:rPr>
              <a:t> {</a:t>
            </a:r>
            <a:endParaRPr dirty="0"/>
          </a:p>
          <a:p>
            <a:pPr marL="457200" marR="0" lvl="1" indent="0" algn="l" rtl="0">
              <a:spcBef>
                <a:spcPts val="0"/>
              </a:spcBef>
              <a:spcAft>
                <a:spcPts val="0"/>
              </a:spcAft>
              <a:buNone/>
            </a:pPr>
            <a:r>
              <a:rPr lang="en-US" sz="1400" b="0" i="0" u="none" strike="noStrike" cap="none" dirty="0">
                <a:solidFill>
                  <a:srgbClr val="FFC66D"/>
                </a:solidFill>
                <a:highlight>
                  <a:srgbClr val="242424"/>
                </a:highlight>
                <a:latin typeface="Arial"/>
                <a:ea typeface="Arial"/>
                <a:cs typeface="Arial"/>
                <a:sym typeface="Arial"/>
              </a:rPr>
              <a:t>		release</a:t>
            </a:r>
            <a:r>
              <a:rPr lang="en-US" sz="1400" b="0" i="0" u="none" strike="noStrike" cap="none" dirty="0">
                <a:solidFill>
                  <a:srgbClr val="CCCCCC"/>
                </a:solidFill>
                <a:highlight>
                  <a:srgbClr val="242424"/>
                </a:highlight>
                <a:latin typeface="Arial"/>
                <a:ea typeface="Arial"/>
                <a:cs typeface="Arial"/>
                <a:sym typeface="Arial"/>
              </a:rPr>
              <a:t>(&amp;p-&gt;</a:t>
            </a:r>
            <a:r>
              <a:rPr lang="en-US" sz="1400" b="0" i="0" u="none" strike="noStrike" cap="none" dirty="0">
                <a:solidFill>
                  <a:srgbClr val="9E7BB0"/>
                </a:solidFill>
                <a:highlight>
                  <a:srgbClr val="242424"/>
                </a:highlight>
                <a:latin typeface="Arial"/>
                <a:ea typeface="Arial"/>
                <a:cs typeface="Arial"/>
                <a:sym typeface="Arial"/>
              </a:rPr>
              <a:t>lock</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	}</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8242"/>
                </a:solidFill>
                <a:highlight>
                  <a:srgbClr val="242424"/>
                </a:highlight>
                <a:latin typeface="Arial"/>
                <a:ea typeface="Arial"/>
                <a:cs typeface="Arial"/>
                <a:sym typeface="Arial"/>
              </a:rPr>
              <a:t>return</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0</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endParaRPr sz="1400" b="0" i="0" u="none" strike="noStrike" cap="none" dirty="0">
              <a:solidFill>
                <a:srgbClr val="CCCCCC"/>
              </a:solidFill>
              <a:highlight>
                <a:srgbClr val="242424"/>
              </a:highlight>
              <a:latin typeface="Arial"/>
              <a:ea typeface="Arial"/>
              <a:cs typeface="Arial"/>
              <a:sym typeface="Arial"/>
            </a:endParaRPr>
          </a:p>
          <a:p>
            <a:pPr marL="0" marR="0" lvl="0" indent="0" algn="l" rtl="0">
              <a:spcBef>
                <a:spcPts val="0"/>
              </a:spcBef>
              <a:spcAft>
                <a:spcPts val="0"/>
              </a:spcAft>
              <a:buNone/>
            </a:pPr>
            <a:r>
              <a:rPr lang="en-US" sz="1400" b="0" dirty="0">
                <a:solidFill>
                  <a:srgbClr val="CCCCCC"/>
                </a:solidFill>
                <a:highlight>
                  <a:srgbClr val="242424"/>
                </a:highlight>
                <a:latin typeface="Arial"/>
                <a:ea typeface="Arial"/>
                <a:cs typeface="Arial"/>
                <a:sym typeface="Arial"/>
              </a:rPr>
              <a:t>found:</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err="1">
                <a:solidFill>
                  <a:srgbClr val="9E7BB0"/>
                </a:solidFill>
                <a:highlight>
                  <a:srgbClr val="242424"/>
                </a:highlight>
                <a:latin typeface="Arial"/>
                <a:ea typeface="Arial"/>
                <a:cs typeface="Arial"/>
                <a:sym typeface="Arial"/>
              </a:rPr>
              <a:t>pid</a:t>
            </a:r>
            <a:r>
              <a:rPr lang="en-US" sz="1400" b="0" i="0" u="none" strike="noStrike" cap="none" dirty="0">
                <a:solidFill>
                  <a:srgbClr val="CCCCCC"/>
                </a:solidFill>
                <a:highlight>
                  <a:srgbClr val="242424"/>
                </a:highlight>
                <a:latin typeface="Arial"/>
                <a:ea typeface="Arial"/>
                <a:cs typeface="Arial"/>
                <a:sym typeface="Arial"/>
              </a:rPr>
              <a:t> = </a:t>
            </a:r>
            <a:r>
              <a:rPr lang="en-US" sz="1400" b="0" i="0" u="none" strike="noStrike" cap="none" dirty="0" err="1">
                <a:solidFill>
                  <a:srgbClr val="FFC66D"/>
                </a:solidFill>
                <a:highlight>
                  <a:srgbClr val="242424"/>
                </a:highlight>
                <a:latin typeface="Arial"/>
                <a:ea typeface="Arial"/>
                <a:cs typeface="Arial"/>
                <a:sym typeface="Arial"/>
              </a:rPr>
              <a:t>allocpid</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a:solidFill>
                  <a:srgbClr val="9E7BB0"/>
                </a:solidFill>
                <a:highlight>
                  <a:srgbClr val="242424"/>
                </a:highlight>
                <a:latin typeface="Arial"/>
                <a:ea typeface="Arial"/>
                <a:cs typeface="Arial"/>
                <a:sym typeface="Arial"/>
              </a:rPr>
              <a:t>state</a:t>
            </a:r>
            <a:r>
              <a:rPr lang="en-US" sz="1400" b="0" i="0" u="none" strike="noStrike" cap="none" dirty="0">
                <a:solidFill>
                  <a:srgbClr val="CCCCCC"/>
                </a:solidFill>
                <a:highlight>
                  <a:srgbClr val="242424"/>
                </a:highlight>
                <a:latin typeface="Arial"/>
                <a:ea typeface="Arial"/>
                <a:cs typeface="Arial"/>
                <a:sym typeface="Arial"/>
              </a:rPr>
              <a:t> = USED;</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707070"/>
                </a:solidFill>
                <a:highlight>
                  <a:srgbClr val="242424"/>
                </a:highlight>
                <a:latin typeface="Arial"/>
                <a:ea typeface="Arial"/>
                <a:cs typeface="Arial"/>
                <a:sym typeface="Arial"/>
              </a:rPr>
              <a:t>// Allocate </a:t>
            </a:r>
            <a:r>
              <a:rPr lang="en-US" sz="1400" b="0" i="0" u="none" strike="noStrike" cap="none" dirty="0" err="1">
                <a:solidFill>
                  <a:srgbClr val="707070"/>
                </a:solidFill>
                <a:highlight>
                  <a:srgbClr val="242424"/>
                </a:highlight>
                <a:latin typeface="Arial"/>
                <a:ea typeface="Arial"/>
                <a:cs typeface="Arial"/>
                <a:sym typeface="Arial"/>
              </a:rPr>
              <a:t>trapframe</a:t>
            </a:r>
            <a:r>
              <a:rPr lang="en-US" sz="1400" b="0" i="0" u="none" strike="noStrike" cap="none" dirty="0">
                <a:solidFill>
                  <a:srgbClr val="707070"/>
                </a:solidFill>
                <a:highlight>
                  <a:srgbClr val="242424"/>
                </a:highlight>
                <a:latin typeface="Arial"/>
                <a:ea typeface="Arial"/>
                <a:cs typeface="Arial"/>
                <a:sym typeface="Arial"/>
              </a:rPr>
              <a:t> page and page table.</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a:t>
            </a: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707070"/>
                </a:solidFill>
                <a:highlight>
                  <a:srgbClr val="242424"/>
                </a:highlight>
                <a:latin typeface="Arial"/>
                <a:ea typeface="Arial"/>
                <a:cs typeface="Arial"/>
                <a:sym typeface="Arial"/>
              </a:rPr>
              <a:t>// Set up new context to start executing at </a:t>
            </a:r>
            <a:r>
              <a:rPr lang="en-US" sz="1400" b="0" i="0" u="none" strike="noStrike" cap="none" dirty="0" err="1">
                <a:solidFill>
                  <a:srgbClr val="707070"/>
                </a:solidFill>
                <a:highlight>
                  <a:srgbClr val="242424"/>
                </a:highlight>
                <a:latin typeface="Arial"/>
                <a:ea typeface="Arial"/>
                <a:cs typeface="Arial"/>
                <a:sym typeface="Arial"/>
              </a:rPr>
              <a:t>forkret</a:t>
            </a:r>
            <a:r>
              <a:rPr lang="en-US" sz="1400" b="0" i="0" u="none" strike="noStrike" cap="none" dirty="0">
                <a:solidFill>
                  <a:srgbClr val="707070"/>
                </a:solidFill>
                <a:highlight>
                  <a:srgbClr val="242424"/>
                </a:highlight>
                <a:latin typeface="Arial"/>
                <a:ea typeface="Arial"/>
                <a:cs typeface="Arial"/>
                <a:sym typeface="Arial"/>
              </a:rPr>
              <a:t>,</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a:solidFill>
                  <a:srgbClr val="707070"/>
                </a:solidFill>
                <a:highlight>
                  <a:srgbClr val="242424"/>
                </a:highlight>
                <a:latin typeface="Arial"/>
                <a:ea typeface="Arial"/>
                <a:cs typeface="Arial"/>
                <a:sym typeface="Arial"/>
              </a:rPr>
              <a:t>// which returns to user space.</a:t>
            </a:r>
            <a:endParaRPr sz="1400" b="0" i="0" u="none" strike="noStrike" cap="none" dirty="0">
              <a:solidFill>
                <a:srgbClr val="CCCCCC"/>
              </a:solidFill>
              <a:highlight>
                <a:srgbClr val="242424"/>
              </a:highlight>
              <a:latin typeface="Arial"/>
              <a:ea typeface="Arial"/>
              <a:cs typeface="Arial"/>
              <a:sym typeface="Arial"/>
            </a:endParaRPr>
          </a:p>
          <a:p>
            <a:pPr marL="457200" marR="0" lvl="1" indent="0" algn="l" rtl="0">
              <a:spcBef>
                <a:spcPts val="0"/>
              </a:spcBef>
              <a:spcAft>
                <a:spcPts val="0"/>
              </a:spcAft>
              <a:buNone/>
            </a:pPr>
            <a:r>
              <a:rPr lang="en-US" sz="1400" b="0" i="0" u="none" strike="noStrike" cap="none" dirty="0" err="1">
                <a:solidFill>
                  <a:srgbClr val="FFC66D"/>
                </a:solidFill>
                <a:highlight>
                  <a:srgbClr val="242424"/>
                </a:highlight>
                <a:latin typeface="Arial"/>
                <a:ea typeface="Arial"/>
                <a:cs typeface="Arial"/>
                <a:sym typeface="Arial"/>
              </a:rPr>
              <a:t>memset</a:t>
            </a:r>
            <a:r>
              <a:rPr lang="en-US" sz="1400" b="0" i="0" u="none" strike="noStrike" cap="none" dirty="0">
                <a:solidFill>
                  <a:srgbClr val="CCCCCC"/>
                </a:solidFill>
                <a:highlight>
                  <a:srgbClr val="242424"/>
                </a:highlight>
                <a:latin typeface="Arial"/>
                <a:ea typeface="Arial"/>
                <a:cs typeface="Arial"/>
                <a:sym typeface="Arial"/>
              </a:rPr>
              <a:t>(&amp;p-&gt;</a:t>
            </a:r>
            <a:r>
              <a:rPr lang="en-US" sz="1400" b="0" i="0" u="none" strike="noStrike" cap="none" dirty="0">
                <a:solidFill>
                  <a:srgbClr val="9E7BB0"/>
                </a:solidFill>
                <a:highlight>
                  <a:srgbClr val="242424"/>
                </a:highlight>
                <a:latin typeface="Arial"/>
                <a:ea typeface="Arial"/>
                <a:cs typeface="Arial"/>
                <a:sym typeface="Arial"/>
              </a:rPr>
              <a:t>context</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a:solidFill>
                  <a:srgbClr val="7A9EC2"/>
                </a:solidFill>
                <a:highlight>
                  <a:srgbClr val="242424"/>
                </a:highlight>
                <a:latin typeface="Arial"/>
                <a:ea typeface="Arial"/>
                <a:cs typeface="Arial"/>
                <a:sym typeface="Arial"/>
              </a:rPr>
              <a:t>0</a:t>
            </a:r>
            <a:r>
              <a:rPr lang="en-US" sz="1400" b="0" i="0" u="none" strike="noStrike" cap="none" dirty="0">
                <a:solidFill>
                  <a:srgbClr val="CCCCCC"/>
                </a:solidFill>
                <a:highlight>
                  <a:srgbClr val="242424"/>
                </a:highlight>
                <a:latin typeface="Arial"/>
                <a:ea typeface="Arial"/>
                <a:cs typeface="Arial"/>
                <a:sym typeface="Arial"/>
              </a:rPr>
              <a:t>, </a:t>
            </a:r>
            <a:r>
              <a:rPr lang="en-US" sz="1400" b="0" i="0" u="none" strike="noStrike" cap="none" dirty="0" err="1">
                <a:solidFill>
                  <a:srgbClr val="CCCCCC"/>
                </a:solidFill>
                <a:highlight>
                  <a:srgbClr val="242424"/>
                </a:highlight>
                <a:latin typeface="Arial"/>
                <a:ea typeface="Arial"/>
                <a:cs typeface="Arial"/>
                <a:sym typeface="Arial"/>
              </a:rPr>
              <a:t>sizeof</a:t>
            </a: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a:solidFill>
                  <a:srgbClr val="9E7BB0"/>
                </a:solidFill>
                <a:highlight>
                  <a:srgbClr val="242424"/>
                </a:highlight>
                <a:latin typeface="Arial"/>
                <a:ea typeface="Arial"/>
                <a:cs typeface="Arial"/>
                <a:sym typeface="Arial"/>
              </a:rPr>
              <a:t>context</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err="1">
                <a:solidFill>
                  <a:srgbClr val="9E7BB0"/>
                </a:solidFill>
                <a:highlight>
                  <a:srgbClr val="242424"/>
                </a:highlight>
                <a:latin typeface="Arial"/>
                <a:ea typeface="Arial"/>
                <a:cs typeface="Arial"/>
                <a:sym typeface="Arial"/>
              </a:rPr>
              <a:t>context</a:t>
            </a:r>
            <a:r>
              <a:rPr lang="en-US" sz="1400" b="0" i="0" u="none" strike="noStrike" cap="none" dirty="0" err="1">
                <a:solidFill>
                  <a:srgbClr val="CCCCCC"/>
                </a:solidFill>
                <a:highlight>
                  <a:srgbClr val="242424"/>
                </a:highlight>
                <a:latin typeface="Arial"/>
                <a:ea typeface="Arial"/>
                <a:cs typeface="Arial"/>
                <a:sym typeface="Arial"/>
              </a:rPr>
              <a:t>.</a:t>
            </a:r>
            <a:r>
              <a:rPr lang="en-US" sz="1400" b="0" i="0" u="none" strike="noStrike" cap="none" dirty="0" err="1">
                <a:solidFill>
                  <a:srgbClr val="9E7BB0"/>
                </a:solidFill>
                <a:highlight>
                  <a:srgbClr val="242424"/>
                </a:highlight>
                <a:latin typeface="Arial"/>
                <a:ea typeface="Arial"/>
                <a:cs typeface="Arial"/>
                <a:sym typeface="Arial"/>
              </a:rPr>
              <a:t>ra</a:t>
            </a:r>
            <a:r>
              <a:rPr lang="en-US" sz="1400" b="0" i="0" u="none" strike="noStrike" cap="none" dirty="0">
                <a:solidFill>
                  <a:srgbClr val="CCCCCC"/>
                </a:solidFill>
                <a:highlight>
                  <a:srgbClr val="242424"/>
                </a:highlight>
                <a:latin typeface="Arial"/>
                <a:ea typeface="Arial"/>
                <a:cs typeface="Arial"/>
                <a:sym typeface="Arial"/>
              </a:rPr>
              <a:t> = (</a:t>
            </a:r>
            <a:r>
              <a:rPr lang="en-US" sz="1400" b="0" i="0" u="none" strike="noStrike" cap="none" dirty="0">
                <a:solidFill>
                  <a:srgbClr val="7A9EC2"/>
                </a:solidFill>
                <a:highlight>
                  <a:srgbClr val="242424"/>
                </a:highlight>
                <a:latin typeface="Arial"/>
                <a:ea typeface="Arial"/>
                <a:cs typeface="Arial"/>
                <a:sym typeface="Arial"/>
              </a:rPr>
              <a:t>uint64</a:t>
            </a:r>
            <a:r>
              <a:rPr lang="en-US" sz="1400" b="0" i="0" u="none" strike="noStrike" cap="none" dirty="0">
                <a:solidFill>
                  <a:srgbClr val="CCCCCC"/>
                </a:solidFill>
                <a:highlight>
                  <a:srgbClr val="242424"/>
                </a:highlight>
                <a:latin typeface="Arial"/>
                <a:ea typeface="Arial"/>
                <a:cs typeface="Arial"/>
                <a:sym typeface="Arial"/>
              </a:rPr>
              <a:t>)</a:t>
            </a:r>
            <a:r>
              <a:rPr lang="en-US" sz="1400" b="0" i="0" u="none" strike="noStrike" cap="none" dirty="0" err="1">
                <a:solidFill>
                  <a:srgbClr val="FFC66D"/>
                </a:solidFill>
                <a:highlight>
                  <a:srgbClr val="242424"/>
                </a:highlight>
                <a:latin typeface="Arial"/>
                <a:ea typeface="Arial"/>
                <a:cs typeface="Arial"/>
                <a:sym typeface="Arial"/>
              </a:rPr>
              <a:t>forkret</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r>
              <a:rPr lang="en-US" sz="1400" b="0" i="0" u="none" strike="noStrike" cap="none" dirty="0">
                <a:solidFill>
                  <a:srgbClr val="CCCCCC"/>
                </a:solidFill>
                <a:highlight>
                  <a:srgbClr val="242424"/>
                </a:highlight>
                <a:latin typeface="Arial"/>
                <a:ea typeface="Arial"/>
                <a:cs typeface="Arial"/>
                <a:sym typeface="Arial"/>
              </a:rPr>
              <a:t>p-&gt;</a:t>
            </a:r>
            <a:r>
              <a:rPr lang="en-US" sz="1400" b="0" i="0" u="none" strike="noStrike" cap="none" dirty="0" err="1">
                <a:solidFill>
                  <a:srgbClr val="9E7BB0"/>
                </a:solidFill>
                <a:highlight>
                  <a:srgbClr val="242424"/>
                </a:highlight>
                <a:latin typeface="Arial"/>
                <a:ea typeface="Arial"/>
                <a:cs typeface="Arial"/>
                <a:sym typeface="Arial"/>
              </a:rPr>
              <a:t>context</a:t>
            </a:r>
            <a:r>
              <a:rPr lang="en-US" sz="1400" b="0" i="0" u="none" strike="noStrike" cap="none" dirty="0" err="1">
                <a:solidFill>
                  <a:srgbClr val="CCCCCC"/>
                </a:solidFill>
                <a:highlight>
                  <a:srgbClr val="242424"/>
                </a:highlight>
                <a:latin typeface="Arial"/>
                <a:ea typeface="Arial"/>
                <a:cs typeface="Arial"/>
                <a:sym typeface="Arial"/>
              </a:rPr>
              <a:t>.</a:t>
            </a:r>
            <a:r>
              <a:rPr lang="en-US" sz="1400" b="0" i="0" u="none" strike="noStrike" cap="none" dirty="0" err="1">
                <a:solidFill>
                  <a:srgbClr val="9E7BB0"/>
                </a:solidFill>
                <a:highlight>
                  <a:srgbClr val="242424"/>
                </a:highlight>
                <a:latin typeface="Arial"/>
                <a:ea typeface="Arial"/>
                <a:cs typeface="Arial"/>
                <a:sym typeface="Arial"/>
              </a:rPr>
              <a:t>sp</a:t>
            </a:r>
            <a:r>
              <a:rPr lang="en-US" sz="1400" b="0" i="0" u="none" strike="noStrike" cap="none" dirty="0">
                <a:solidFill>
                  <a:srgbClr val="CCCCCC"/>
                </a:solidFill>
                <a:highlight>
                  <a:srgbClr val="242424"/>
                </a:highlight>
                <a:latin typeface="Arial"/>
                <a:ea typeface="Arial"/>
                <a:cs typeface="Arial"/>
                <a:sym typeface="Arial"/>
              </a:rPr>
              <a:t> = p-&gt;</a:t>
            </a:r>
            <a:r>
              <a:rPr lang="en-US" sz="1400" b="0" i="0" u="none" strike="noStrike" cap="none" dirty="0" err="1">
                <a:solidFill>
                  <a:srgbClr val="9E7BB0"/>
                </a:solidFill>
                <a:highlight>
                  <a:srgbClr val="242424"/>
                </a:highlight>
                <a:latin typeface="Arial"/>
                <a:ea typeface="Arial"/>
                <a:cs typeface="Arial"/>
                <a:sym typeface="Arial"/>
              </a:rPr>
              <a:t>kstack</a:t>
            </a:r>
            <a:r>
              <a:rPr lang="en-US" sz="1400" b="0" i="0" u="none" strike="noStrike" cap="none" dirty="0">
                <a:solidFill>
                  <a:srgbClr val="CCCCCC"/>
                </a:solidFill>
                <a:highlight>
                  <a:srgbClr val="242424"/>
                </a:highlight>
                <a:latin typeface="Arial"/>
                <a:ea typeface="Arial"/>
                <a:cs typeface="Arial"/>
                <a:sym typeface="Arial"/>
              </a:rPr>
              <a:t> + </a:t>
            </a:r>
            <a:r>
              <a:rPr lang="en-US" sz="1400" b="0" i="0" u="none" strike="noStrike" cap="none" dirty="0">
                <a:solidFill>
                  <a:srgbClr val="FFC66D"/>
                </a:solidFill>
                <a:highlight>
                  <a:srgbClr val="242424"/>
                </a:highlight>
                <a:latin typeface="Arial"/>
                <a:ea typeface="Arial"/>
                <a:cs typeface="Arial"/>
                <a:sym typeface="Arial"/>
              </a:rPr>
              <a:t>PGSIZE</a:t>
            </a:r>
            <a:r>
              <a:rPr lang="en-US" sz="1400" b="0" i="0" u="none" strike="noStrike" cap="none" dirty="0">
                <a:solidFill>
                  <a:srgbClr val="CCCCCC"/>
                </a:solidFill>
                <a:highlight>
                  <a:srgbClr val="242424"/>
                </a:highlight>
                <a:latin typeface="Arial"/>
                <a:ea typeface="Arial"/>
                <a:cs typeface="Arial"/>
                <a:sym typeface="Arial"/>
              </a:rPr>
              <a:t>;</a:t>
            </a:r>
            <a:endParaRPr dirty="0"/>
          </a:p>
          <a:p>
            <a:pPr marL="457200" marR="0" lvl="1" indent="0" algn="l" rtl="0">
              <a:spcBef>
                <a:spcPts val="0"/>
              </a:spcBef>
              <a:spcAft>
                <a:spcPts val="0"/>
              </a:spcAft>
              <a:buNone/>
            </a:pPr>
            <a:br>
              <a:rPr lang="en-US" sz="1400" b="0" i="0" u="none" strike="noStrike" cap="none" dirty="0">
                <a:solidFill>
                  <a:srgbClr val="CCCCCC"/>
                </a:solidFill>
                <a:highlight>
                  <a:srgbClr val="242424"/>
                </a:highlight>
                <a:latin typeface="Arial"/>
                <a:ea typeface="Arial"/>
                <a:cs typeface="Arial"/>
                <a:sym typeface="Arial"/>
              </a:rPr>
            </a:br>
            <a:r>
              <a:rPr lang="en-US" sz="1400" b="0" i="0" u="none" strike="noStrike" cap="none" dirty="0">
                <a:solidFill>
                  <a:srgbClr val="CC8242"/>
                </a:solidFill>
                <a:highlight>
                  <a:srgbClr val="242424"/>
                </a:highlight>
                <a:latin typeface="Arial"/>
                <a:ea typeface="Arial"/>
                <a:cs typeface="Arial"/>
                <a:sym typeface="Arial"/>
              </a:rPr>
              <a:t>return</a:t>
            </a:r>
            <a:r>
              <a:rPr lang="en-US" sz="1400" b="0" i="0" u="none" strike="noStrike" cap="none" dirty="0">
                <a:solidFill>
                  <a:srgbClr val="CCCCCC"/>
                </a:solidFill>
                <a:highlight>
                  <a:srgbClr val="242424"/>
                </a:highlight>
                <a:latin typeface="Arial"/>
                <a:ea typeface="Arial"/>
                <a:cs typeface="Arial"/>
                <a:sym typeface="Arial"/>
              </a:rPr>
              <a:t> p;</a:t>
            </a:r>
            <a:endParaRPr dirty="0"/>
          </a:p>
          <a:p>
            <a:pPr marL="0" marR="0" lvl="0" indent="0" algn="l" rtl="0">
              <a:spcBef>
                <a:spcPts val="0"/>
              </a:spcBef>
              <a:spcAft>
                <a:spcPts val="0"/>
              </a:spcAft>
              <a:buNone/>
            </a:pPr>
            <a:r>
              <a:rPr lang="en-US" sz="1400" b="0" dirty="0">
                <a:solidFill>
                  <a:srgbClr val="CCCCCC"/>
                </a:solidFill>
                <a:highlight>
                  <a:srgbClr val="242424"/>
                </a:highlight>
                <a:latin typeface="Arial"/>
                <a:ea typeface="Arial"/>
                <a:cs typeface="Arial"/>
                <a:sym typeface="Arial"/>
              </a:rPr>
              <a:t>}</a:t>
            </a:r>
            <a:endParaRPr dirty="0"/>
          </a:p>
        </p:txBody>
      </p:sp>
      <p:sp>
        <p:nvSpPr>
          <p:cNvPr id="2" name="Google Shape;141;p5">
            <a:extLst>
              <a:ext uri="{FF2B5EF4-FFF2-40B4-BE49-F238E27FC236}">
                <a16:creationId xmlns:a16="http://schemas.microsoft.com/office/drawing/2014/main" id="{5E247D8F-1594-A303-9AA1-099FD0E9F816}"/>
              </a:ext>
            </a:extLst>
          </p:cNvPr>
          <p:cNvSpPr/>
          <p:nvPr/>
        </p:nvSpPr>
        <p:spPr>
          <a:xfrm>
            <a:off x="9808433" y="548186"/>
            <a:ext cx="1549473" cy="743712"/>
          </a:xfrm>
          <a:prstGeom prst="roundRect">
            <a:avLst>
              <a:gd name="adj" fmla="val 16667"/>
            </a:avLst>
          </a:prstGeom>
          <a:gradFill>
            <a:gsLst>
              <a:gs pos="0">
                <a:srgbClr val="575757"/>
              </a:gs>
              <a:gs pos="48000">
                <a:srgbClr val="8B8B8B"/>
              </a:gs>
              <a:gs pos="100000">
                <a:srgbClr val="E1E1E1"/>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Arial"/>
                <a:ea typeface="Arial"/>
                <a:cs typeface="Arial"/>
                <a:sym typeface="Arial"/>
              </a:rPr>
              <a:t>USED</a:t>
            </a:r>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creation/allocation</a:t>
            </a:r>
            <a:endParaRPr sz="2800" dirty="0"/>
          </a:p>
        </p:txBody>
      </p:sp>
      <p:sp>
        <p:nvSpPr>
          <p:cNvPr id="152" name="Google Shape;152;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fork() releases the lock on the newly allocated process momentarily (the reason has to do with the wait() system call, never mind right now).</a:t>
            </a:r>
            <a:endParaRPr/>
          </a:p>
          <a:p>
            <a:pPr marL="228600" lvl="0" indent="-228600" algn="l" rtl="0">
              <a:lnSpc>
                <a:spcPct val="90000"/>
              </a:lnSpc>
              <a:spcBef>
                <a:spcPts val="1000"/>
              </a:spcBef>
              <a:spcAft>
                <a:spcPts val="0"/>
              </a:spcAft>
              <a:buClr>
                <a:schemeClr val="dk1"/>
              </a:buClr>
              <a:buSzPts val="2800"/>
              <a:buChar char="•"/>
            </a:pPr>
            <a:r>
              <a:rPr lang="en-US"/>
              <a:t>For this reason, allocproc() can’t set the new process’ state directly to RUNNABLE – because it isn’t allowed to run until fork() is done initializing it.</a:t>
            </a:r>
            <a:endParaRPr/>
          </a:p>
          <a:p>
            <a:pPr marL="228600" lvl="0" indent="-228600" algn="l" rtl="0">
              <a:lnSpc>
                <a:spcPct val="90000"/>
              </a:lnSpc>
              <a:spcBef>
                <a:spcPts val="1000"/>
              </a:spcBef>
              <a:spcAft>
                <a:spcPts val="0"/>
              </a:spcAft>
              <a:buClr>
                <a:schemeClr val="dk1"/>
              </a:buClr>
              <a:buSzPts val="2800"/>
              <a:buChar char="•"/>
            </a:pPr>
            <a:r>
              <a:rPr lang="en-US"/>
              <a:t>Thus, we need an </a:t>
            </a:r>
            <a:r>
              <a:rPr lang="en-US" b="1"/>
              <a:t>intermediate state </a:t>
            </a:r>
            <a:r>
              <a:rPr lang="en-US"/>
              <a:t>between UNUSED and RUNNABLE – USED.</a:t>
            </a:r>
            <a:endParaRPr/>
          </a:p>
        </p:txBody>
      </p:sp>
      <p:grpSp>
        <p:nvGrpSpPr>
          <p:cNvPr id="153" name="Google Shape;153;p6"/>
          <p:cNvGrpSpPr/>
          <p:nvPr/>
        </p:nvGrpSpPr>
        <p:grpSpPr>
          <a:xfrm>
            <a:off x="6614450" y="365125"/>
            <a:ext cx="4739350" cy="928378"/>
            <a:chOff x="536448" y="1760552"/>
            <a:chExt cx="4739350" cy="928378"/>
          </a:xfrm>
        </p:grpSpPr>
        <p:sp>
          <p:nvSpPr>
            <p:cNvPr id="154" name="Google Shape;154;p6"/>
            <p:cNvSpPr/>
            <p:nvPr/>
          </p:nvSpPr>
          <p:spPr>
            <a:xfrm>
              <a:off x="536448" y="1945218"/>
              <a:ext cx="1549473" cy="743712"/>
            </a:xfrm>
            <a:prstGeom prst="roundRect">
              <a:avLst>
                <a:gd name="adj" fmla="val 16667"/>
              </a:avLst>
            </a:prstGeom>
            <a:gradFill>
              <a:gsLst>
                <a:gs pos="0">
                  <a:srgbClr val="575757"/>
                </a:gs>
                <a:gs pos="48000">
                  <a:srgbClr val="8B8B8B"/>
                </a:gs>
                <a:gs pos="100000">
                  <a:srgbClr val="E1E1E1"/>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UNUSED</a:t>
              </a:r>
              <a:endParaRPr/>
            </a:p>
          </p:txBody>
        </p:sp>
        <p:sp>
          <p:nvSpPr>
            <p:cNvPr id="155" name="Google Shape;155;p6"/>
            <p:cNvSpPr/>
            <p:nvPr/>
          </p:nvSpPr>
          <p:spPr>
            <a:xfrm>
              <a:off x="3726325" y="1945218"/>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cxnSp>
          <p:nvCxnSpPr>
            <p:cNvPr id="156" name="Google Shape;156;p6"/>
            <p:cNvCxnSpPr>
              <a:stCxn id="154" idx="3"/>
              <a:endCxn id="155" idx="1"/>
            </p:cNvCxnSpPr>
            <p:nvPr/>
          </p:nvCxnSpPr>
          <p:spPr>
            <a:xfrm>
              <a:off x="2085921" y="2317074"/>
              <a:ext cx="1640400" cy="0"/>
            </a:xfrm>
            <a:prstGeom prst="straightConnector1">
              <a:avLst/>
            </a:prstGeom>
            <a:noFill/>
            <a:ln w="38100" cap="flat" cmpd="sng">
              <a:solidFill>
                <a:schemeClr val="dk1"/>
              </a:solidFill>
              <a:prstDash val="solid"/>
              <a:miter lim="800000"/>
              <a:headEnd type="none" w="sm" len="sm"/>
              <a:tailEnd type="triangle" w="med" len="med"/>
            </a:ln>
          </p:spPr>
        </p:cxnSp>
        <p:sp>
          <p:nvSpPr>
            <p:cNvPr id="157" name="Google Shape;157;p6"/>
            <p:cNvSpPr txBox="1"/>
            <p:nvPr/>
          </p:nvSpPr>
          <p:spPr>
            <a:xfrm>
              <a:off x="2360382" y="1760552"/>
              <a:ext cx="1182413"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rPr>
                <a:t>fork</a:t>
              </a:r>
              <a:endParaRPr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scheduling and context switching</a:t>
            </a:r>
            <a:endParaRPr sz="2800" dirty="0"/>
          </a:p>
        </p:txBody>
      </p:sp>
      <p:grpSp>
        <p:nvGrpSpPr>
          <p:cNvPr id="164" name="Google Shape;164;p7"/>
          <p:cNvGrpSpPr/>
          <p:nvPr/>
        </p:nvGrpSpPr>
        <p:grpSpPr>
          <a:xfrm>
            <a:off x="6614450" y="47402"/>
            <a:ext cx="4739350" cy="1697875"/>
            <a:chOff x="3684761" y="5340138"/>
            <a:chExt cx="4739350" cy="1697875"/>
          </a:xfrm>
        </p:grpSpPr>
        <p:sp>
          <p:nvSpPr>
            <p:cNvPr id="165" name="Google Shape;165;p7"/>
            <p:cNvSpPr/>
            <p:nvPr/>
          </p:nvSpPr>
          <p:spPr>
            <a:xfrm>
              <a:off x="3684761" y="5843744"/>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166" name="Google Shape;166;p7"/>
            <p:cNvSpPr/>
            <p:nvPr/>
          </p:nvSpPr>
          <p:spPr>
            <a:xfrm>
              <a:off x="6874638" y="5805107"/>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cxnSp>
          <p:nvCxnSpPr>
            <p:cNvPr id="167" name="Google Shape;167;p7"/>
            <p:cNvCxnSpPr/>
            <p:nvPr/>
          </p:nvCxnSpPr>
          <p:spPr>
            <a:xfrm>
              <a:off x="5234234" y="5908946"/>
              <a:ext cx="1640404" cy="0"/>
            </a:xfrm>
            <a:prstGeom prst="straightConnector1">
              <a:avLst/>
            </a:prstGeom>
            <a:noFill/>
            <a:ln w="38100" cap="flat" cmpd="sng">
              <a:solidFill>
                <a:schemeClr val="dk1"/>
              </a:solidFill>
              <a:prstDash val="solid"/>
              <a:miter lim="800000"/>
              <a:headEnd type="none" w="sm" len="sm"/>
              <a:tailEnd type="triangle" w="med" len="med"/>
            </a:ln>
          </p:spPr>
        </p:cxnSp>
        <p:cxnSp>
          <p:nvCxnSpPr>
            <p:cNvPr id="168" name="Google Shape;168;p7"/>
            <p:cNvCxnSpPr/>
            <p:nvPr/>
          </p:nvCxnSpPr>
          <p:spPr>
            <a:xfrm>
              <a:off x="5234234" y="6392422"/>
              <a:ext cx="1640404" cy="0"/>
            </a:xfrm>
            <a:prstGeom prst="straightConnector1">
              <a:avLst/>
            </a:prstGeom>
            <a:noFill/>
            <a:ln w="38100" cap="flat" cmpd="sng">
              <a:solidFill>
                <a:schemeClr val="dk1"/>
              </a:solidFill>
              <a:prstDash val="solid"/>
              <a:miter lim="800000"/>
              <a:headEnd type="triangle" w="med" len="med"/>
              <a:tailEnd type="none" w="sm" len="sm"/>
            </a:ln>
          </p:spPr>
        </p:cxnSp>
        <p:sp>
          <p:nvSpPr>
            <p:cNvPr id="169" name="Google Shape;169;p7"/>
            <p:cNvSpPr txBox="1"/>
            <p:nvPr/>
          </p:nvSpPr>
          <p:spPr>
            <a:xfrm>
              <a:off x="5463228" y="5340138"/>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schedule</a:t>
              </a:r>
              <a:endParaRPr/>
            </a:p>
          </p:txBody>
        </p:sp>
        <p:sp>
          <p:nvSpPr>
            <p:cNvPr id="170" name="Google Shape;170;p7"/>
            <p:cNvSpPr txBox="1"/>
            <p:nvPr/>
          </p:nvSpPr>
          <p:spPr>
            <a:xfrm>
              <a:off x="5237890" y="6668681"/>
              <a:ext cx="19928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timeout/syscall</a:t>
              </a:r>
              <a:endParaRPr/>
            </a:p>
          </p:txBody>
        </p:sp>
      </p:grpSp>
      <p:pic>
        <p:nvPicPr>
          <p:cNvPr id="171" name="Google Shape;171;p7"/>
          <p:cNvPicPr preferRelativeResize="0"/>
          <p:nvPr/>
        </p:nvPicPr>
        <p:blipFill rotWithShape="1">
          <a:blip r:embed="rId3">
            <a:alphaModFix/>
          </a:blip>
          <a:srcRect/>
          <a:stretch/>
        </p:blipFill>
        <p:spPr>
          <a:xfrm>
            <a:off x="2076450" y="1681836"/>
            <a:ext cx="8039100" cy="4597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scheduling and context switching</a:t>
            </a:r>
            <a:endParaRPr sz="2800" dirty="0"/>
          </a:p>
        </p:txBody>
      </p:sp>
      <p:grpSp>
        <p:nvGrpSpPr>
          <p:cNvPr id="178" name="Google Shape;178;p8"/>
          <p:cNvGrpSpPr/>
          <p:nvPr/>
        </p:nvGrpSpPr>
        <p:grpSpPr>
          <a:xfrm>
            <a:off x="6614450" y="47402"/>
            <a:ext cx="4739350" cy="1697875"/>
            <a:chOff x="3684761" y="5340138"/>
            <a:chExt cx="4739350" cy="1697875"/>
          </a:xfrm>
        </p:grpSpPr>
        <p:sp>
          <p:nvSpPr>
            <p:cNvPr id="179" name="Google Shape;179;p8"/>
            <p:cNvSpPr/>
            <p:nvPr/>
          </p:nvSpPr>
          <p:spPr>
            <a:xfrm>
              <a:off x="3684761" y="5843744"/>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180" name="Google Shape;180;p8"/>
            <p:cNvSpPr/>
            <p:nvPr/>
          </p:nvSpPr>
          <p:spPr>
            <a:xfrm>
              <a:off x="6874638" y="5805107"/>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cxnSp>
          <p:nvCxnSpPr>
            <p:cNvPr id="181" name="Google Shape;181;p8"/>
            <p:cNvCxnSpPr/>
            <p:nvPr/>
          </p:nvCxnSpPr>
          <p:spPr>
            <a:xfrm>
              <a:off x="5234234" y="5908946"/>
              <a:ext cx="1640404" cy="0"/>
            </a:xfrm>
            <a:prstGeom prst="straightConnector1">
              <a:avLst/>
            </a:prstGeom>
            <a:noFill/>
            <a:ln w="38100" cap="flat" cmpd="sng">
              <a:solidFill>
                <a:schemeClr val="dk1"/>
              </a:solidFill>
              <a:prstDash val="solid"/>
              <a:miter lim="800000"/>
              <a:headEnd type="none" w="sm" len="sm"/>
              <a:tailEnd type="triangle" w="med" len="med"/>
            </a:ln>
          </p:spPr>
        </p:cxnSp>
        <p:cxnSp>
          <p:nvCxnSpPr>
            <p:cNvPr id="182" name="Google Shape;182;p8"/>
            <p:cNvCxnSpPr/>
            <p:nvPr/>
          </p:nvCxnSpPr>
          <p:spPr>
            <a:xfrm>
              <a:off x="5234234" y="6392422"/>
              <a:ext cx="1640404" cy="0"/>
            </a:xfrm>
            <a:prstGeom prst="straightConnector1">
              <a:avLst/>
            </a:prstGeom>
            <a:noFill/>
            <a:ln w="38100" cap="flat" cmpd="sng">
              <a:solidFill>
                <a:schemeClr val="dk1"/>
              </a:solidFill>
              <a:prstDash val="solid"/>
              <a:miter lim="800000"/>
              <a:headEnd type="triangle" w="med" len="med"/>
              <a:tailEnd type="none" w="sm" len="sm"/>
            </a:ln>
          </p:spPr>
        </p:cxnSp>
        <p:sp>
          <p:nvSpPr>
            <p:cNvPr id="183" name="Google Shape;183;p8"/>
            <p:cNvSpPr txBox="1"/>
            <p:nvPr/>
          </p:nvSpPr>
          <p:spPr>
            <a:xfrm>
              <a:off x="5463228" y="5340138"/>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schedule</a:t>
              </a:r>
              <a:endParaRPr/>
            </a:p>
          </p:txBody>
        </p:sp>
        <p:sp>
          <p:nvSpPr>
            <p:cNvPr id="184" name="Google Shape;184;p8"/>
            <p:cNvSpPr txBox="1"/>
            <p:nvPr/>
          </p:nvSpPr>
          <p:spPr>
            <a:xfrm>
              <a:off x="5237890" y="6668681"/>
              <a:ext cx="19928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timeout/syscall</a:t>
              </a:r>
              <a:endParaRPr/>
            </a:p>
          </p:txBody>
        </p:sp>
      </p:grpSp>
      <p:sp>
        <p:nvSpPr>
          <p:cNvPr id="185" name="Google Shape;185;p8"/>
          <p:cNvSpPr txBox="1"/>
          <p:nvPr/>
        </p:nvSpPr>
        <p:spPr>
          <a:xfrm>
            <a:off x="838200" y="1745120"/>
            <a:ext cx="10515600" cy="4832092"/>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spcBef>
                <a:spcPts val="0"/>
              </a:spcBef>
              <a:spcAft>
                <a:spcPts val="0"/>
              </a:spcAft>
              <a:buNone/>
            </a:pPr>
            <a:r>
              <a:rPr lang="en-US" sz="1200" b="0" dirty="0">
                <a:solidFill>
                  <a:srgbClr val="CC8242"/>
                </a:solidFill>
                <a:highlight>
                  <a:srgbClr val="242424"/>
                </a:highlight>
                <a:latin typeface="Arial"/>
                <a:ea typeface="Arial"/>
                <a:cs typeface="Arial"/>
                <a:sym typeface="Arial"/>
              </a:rPr>
              <a:t>void</a:t>
            </a:r>
            <a:r>
              <a:rPr lang="en-US" sz="1200" dirty="0">
                <a:solidFill>
                  <a:srgbClr val="CCCCCC"/>
                </a:solidFill>
                <a:highlight>
                  <a:srgbClr val="242424"/>
                </a:highlight>
                <a:latin typeface="Arial"/>
                <a:ea typeface="Arial"/>
                <a:cs typeface="Arial"/>
                <a:sym typeface="Arial"/>
              </a:rPr>
              <a:t> </a:t>
            </a:r>
            <a:r>
              <a:rPr lang="en-US" sz="1200" b="0" dirty="0">
                <a:solidFill>
                  <a:srgbClr val="FFC66D"/>
                </a:solidFill>
                <a:highlight>
                  <a:srgbClr val="242424"/>
                </a:highlight>
                <a:latin typeface="Arial"/>
                <a:ea typeface="Arial"/>
                <a:cs typeface="Arial"/>
                <a:sym typeface="Arial"/>
              </a:rPr>
              <a:t>scheduler</a:t>
            </a:r>
            <a:r>
              <a:rPr lang="en-US" sz="1200" b="0" dirty="0">
                <a:solidFill>
                  <a:srgbClr val="CCCCCC"/>
                </a:solidFill>
                <a:highlight>
                  <a:srgbClr val="242424"/>
                </a:highlight>
                <a:latin typeface="Arial"/>
                <a:ea typeface="Arial"/>
                <a:cs typeface="Arial"/>
                <a:sym typeface="Arial"/>
              </a:rPr>
              <a:t>(</a:t>
            </a:r>
            <a:r>
              <a:rPr lang="en-US" sz="1200" b="0" dirty="0">
                <a:solidFill>
                  <a:srgbClr val="CC8242"/>
                </a:solidFill>
                <a:highlight>
                  <a:srgbClr val="242424"/>
                </a:highlight>
                <a:latin typeface="Arial"/>
                <a:ea typeface="Arial"/>
                <a:cs typeface="Arial"/>
                <a:sym typeface="Arial"/>
              </a:rPr>
              <a:t>void</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CC8242"/>
                </a:solidFill>
                <a:highlight>
                  <a:srgbClr val="242424"/>
                </a:highlight>
                <a:latin typeface="Arial"/>
                <a:ea typeface="Arial"/>
                <a:cs typeface="Arial"/>
                <a:sym typeface="Arial"/>
              </a:rPr>
              <a:t>    struct</a:t>
            </a:r>
            <a:r>
              <a:rPr lang="en-US" sz="1200" b="0" dirty="0">
                <a:solidFill>
                  <a:srgbClr val="CCCCCC"/>
                </a:solidFill>
                <a:highlight>
                  <a:srgbClr val="242424"/>
                </a:highlight>
                <a:latin typeface="Arial"/>
                <a:ea typeface="Arial"/>
                <a:cs typeface="Arial"/>
                <a:sym typeface="Arial"/>
              </a:rPr>
              <a:t> </a:t>
            </a:r>
            <a:r>
              <a:rPr lang="en-US" sz="1200" b="0" dirty="0">
                <a:solidFill>
                  <a:srgbClr val="7A9EC2"/>
                </a:solidFill>
                <a:highlight>
                  <a:srgbClr val="242424"/>
                </a:highlight>
                <a:latin typeface="Arial"/>
                <a:ea typeface="Arial"/>
                <a:cs typeface="Arial"/>
                <a:sym typeface="Arial"/>
              </a:rPr>
              <a:t>proc</a:t>
            </a:r>
            <a:r>
              <a:rPr lang="en-US" sz="1200" b="0" dirty="0">
                <a:solidFill>
                  <a:srgbClr val="CCCCCC"/>
                </a:solidFill>
                <a:highlight>
                  <a:srgbClr val="242424"/>
                </a:highlight>
                <a:latin typeface="Arial"/>
                <a:ea typeface="Arial"/>
                <a:cs typeface="Arial"/>
                <a:sym typeface="Arial"/>
              </a:rPr>
              <a:t> *p;</a:t>
            </a:r>
            <a:endParaRPr dirty="0"/>
          </a:p>
          <a:p>
            <a:pPr marL="0" marR="0" lvl="0" indent="0" algn="l" rtl="0">
              <a:spcBef>
                <a:spcPts val="0"/>
              </a:spcBef>
              <a:spcAft>
                <a:spcPts val="0"/>
              </a:spcAft>
              <a:buNone/>
            </a:pPr>
            <a:r>
              <a:rPr lang="en-US" sz="1200" b="0" dirty="0">
                <a:solidFill>
                  <a:srgbClr val="CC8242"/>
                </a:solidFill>
                <a:highlight>
                  <a:srgbClr val="242424"/>
                </a:highlight>
                <a:latin typeface="Arial"/>
                <a:ea typeface="Arial"/>
                <a:cs typeface="Arial"/>
                <a:sym typeface="Arial"/>
              </a:rPr>
              <a:t>    struct</a:t>
            </a:r>
            <a:r>
              <a:rPr lang="en-US" sz="1200" b="0" dirty="0">
                <a:solidFill>
                  <a:srgbClr val="CCCCCC"/>
                </a:solidFill>
                <a:highlight>
                  <a:srgbClr val="242424"/>
                </a:highlight>
                <a:latin typeface="Arial"/>
                <a:ea typeface="Arial"/>
                <a:cs typeface="Arial"/>
                <a:sym typeface="Arial"/>
              </a:rPr>
              <a:t> </a:t>
            </a:r>
            <a:r>
              <a:rPr lang="en-US" sz="1200" b="0" dirty="0" err="1">
                <a:solidFill>
                  <a:srgbClr val="7A9EC2"/>
                </a:solidFill>
                <a:highlight>
                  <a:srgbClr val="242424"/>
                </a:highlight>
                <a:latin typeface="Arial"/>
                <a:ea typeface="Arial"/>
                <a:cs typeface="Arial"/>
                <a:sym typeface="Arial"/>
              </a:rPr>
              <a:t>cpu</a:t>
            </a:r>
            <a:r>
              <a:rPr lang="en-US" sz="1200" b="0" dirty="0">
                <a:solidFill>
                  <a:srgbClr val="CCCCCC"/>
                </a:solidFill>
                <a:highlight>
                  <a:srgbClr val="242424"/>
                </a:highlight>
                <a:latin typeface="Arial"/>
                <a:ea typeface="Arial"/>
                <a:cs typeface="Arial"/>
                <a:sym typeface="Arial"/>
              </a:rPr>
              <a:t> *c = </a:t>
            </a:r>
            <a:r>
              <a:rPr lang="en-US" sz="1200" b="0" dirty="0" err="1">
                <a:solidFill>
                  <a:srgbClr val="FFC66D"/>
                </a:solidFill>
                <a:highlight>
                  <a:srgbClr val="242424"/>
                </a:highlight>
                <a:latin typeface="Arial"/>
                <a:ea typeface="Arial"/>
                <a:cs typeface="Arial"/>
                <a:sym typeface="Arial"/>
              </a:rPr>
              <a:t>mycpu</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a:t>
            </a:r>
            <a:endParaRPr dirty="0"/>
          </a:p>
          <a:p>
            <a:pPr marL="0" marR="0" lvl="0" indent="0" algn="l" rtl="0">
              <a:spcBef>
                <a:spcPts val="0"/>
              </a:spcBef>
              <a:spcAft>
                <a:spcPts val="0"/>
              </a:spcAft>
              <a:buNone/>
            </a:pPr>
            <a:r>
              <a:rPr lang="en-US" sz="1200" dirty="0">
                <a:solidFill>
                  <a:srgbClr val="CCCCCC"/>
                </a:solidFill>
                <a:highlight>
                  <a:srgbClr val="242424"/>
                </a:highlight>
                <a:latin typeface="Arial"/>
                <a:ea typeface="Arial"/>
                <a:cs typeface="Arial"/>
                <a:sym typeface="Arial"/>
              </a:rPr>
              <a:t>    </a:t>
            </a:r>
            <a:r>
              <a:rPr lang="en-US" sz="1200" b="0" dirty="0">
                <a:solidFill>
                  <a:srgbClr val="CCCCCC"/>
                </a:solidFill>
                <a:highlight>
                  <a:srgbClr val="242424"/>
                </a:highlight>
                <a:latin typeface="Arial"/>
                <a:ea typeface="Arial"/>
                <a:cs typeface="Arial"/>
                <a:sym typeface="Arial"/>
              </a:rPr>
              <a:t>c-&gt;</a:t>
            </a:r>
            <a:r>
              <a:rPr lang="en-US" sz="1200" b="0" dirty="0">
                <a:solidFill>
                  <a:srgbClr val="9E7BB0"/>
                </a:solidFill>
                <a:highlight>
                  <a:srgbClr val="242424"/>
                </a:highlight>
                <a:latin typeface="Arial"/>
                <a:ea typeface="Arial"/>
                <a:cs typeface="Arial"/>
                <a:sym typeface="Arial"/>
              </a:rPr>
              <a:t>proc</a:t>
            </a:r>
            <a:r>
              <a:rPr lang="en-US" sz="1200" b="0" dirty="0">
                <a:solidFill>
                  <a:srgbClr val="CCCCCC"/>
                </a:solidFill>
                <a:highlight>
                  <a:srgbClr val="242424"/>
                </a:highlight>
                <a:latin typeface="Arial"/>
                <a:ea typeface="Arial"/>
                <a:cs typeface="Arial"/>
                <a:sym typeface="Arial"/>
              </a:rPr>
              <a:t> = </a:t>
            </a:r>
            <a:r>
              <a:rPr lang="en-US" sz="1200" b="0" dirty="0">
                <a:solidFill>
                  <a:srgbClr val="7A9EC2"/>
                </a:solidFill>
                <a:highlight>
                  <a:srgbClr val="242424"/>
                </a:highlight>
                <a:latin typeface="Arial"/>
                <a:ea typeface="Arial"/>
                <a:cs typeface="Arial"/>
                <a:sym typeface="Arial"/>
              </a:rPr>
              <a:t>0</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CC8242"/>
                </a:solidFill>
                <a:highlight>
                  <a:srgbClr val="242424"/>
                </a:highlight>
                <a:latin typeface="Arial"/>
                <a:ea typeface="Arial"/>
                <a:cs typeface="Arial"/>
                <a:sym typeface="Arial"/>
              </a:rPr>
              <a:t>    for</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707070"/>
                </a:solidFill>
                <a:highlight>
                  <a:srgbClr val="242424"/>
                </a:highlight>
                <a:latin typeface="Arial"/>
                <a:ea typeface="Arial"/>
                <a:cs typeface="Arial"/>
                <a:sym typeface="Arial"/>
              </a:rPr>
              <a:t>        // Avoid deadlock by ensuring that devices can interrupt.</a:t>
            </a:r>
            <a:endParaRPr sz="1200" b="0" dirty="0">
              <a:solidFill>
                <a:srgbClr val="CCCCCC"/>
              </a:solidFill>
              <a:highlight>
                <a:srgbClr val="242424"/>
              </a:highlight>
              <a:latin typeface="Arial"/>
              <a:ea typeface="Arial"/>
              <a:cs typeface="Arial"/>
              <a:sym typeface="Arial"/>
            </a:endParaRPr>
          </a:p>
          <a:p>
            <a:pPr marL="0" marR="0" lvl="0" indent="0" algn="l" rtl="0">
              <a:spcBef>
                <a:spcPts val="0"/>
              </a:spcBef>
              <a:spcAft>
                <a:spcPts val="0"/>
              </a:spcAft>
              <a:buNone/>
            </a:pPr>
            <a:r>
              <a:rPr lang="en-US" sz="1200" b="0" dirty="0">
                <a:solidFill>
                  <a:srgbClr val="FFC66D"/>
                </a:solidFill>
                <a:highlight>
                  <a:srgbClr val="242424"/>
                </a:highlight>
                <a:latin typeface="Arial"/>
                <a:ea typeface="Arial"/>
                <a:cs typeface="Arial"/>
                <a:sym typeface="Arial"/>
              </a:rPr>
              <a:t>        </a:t>
            </a:r>
            <a:r>
              <a:rPr lang="en-US" sz="1200" b="0" dirty="0" err="1">
                <a:solidFill>
                  <a:srgbClr val="FFC66D"/>
                </a:solidFill>
                <a:highlight>
                  <a:srgbClr val="242424"/>
                </a:highlight>
                <a:latin typeface="Arial"/>
                <a:ea typeface="Arial"/>
                <a:cs typeface="Arial"/>
                <a:sym typeface="Arial"/>
              </a:rPr>
              <a:t>intr_on</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br>
              <a:rPr lang="en-US" sz="1200" b="0" dirty="0">
                <a:solidFill>
                  <a:srgbClr val="CCCCCC"/>
                </a:solidFill>
                <a:highlight>
                  <a:srgbClr val="242424"/>
                </a:highlight>
                <a:latin typeface="Arial"/>
                <a:ea typeface="Arial"/>
                <a:cs typeface="Arial"/>
                <a:sym typeface="Arial"/>
              </a:rPr>
            </a:br>
            <a:r>
              <a:rPr lang="en-US" sz="1200" b="0" dirty="0">
                <a:solidFill>
                  <a:srgbClr val="CCCCCC"/>
                </a:solidFill>
                <a:highlight>
                  <a:srgbClr val="242424"/>
                </a:highlight>
                <a:latin typeface="Arial"/>
                <a:ea typeface="Arial"/>
                <a:cs typeface="Arial"/>
                <a:sym typeface="Arial"/>
              </a:rPr>
              <a:t>        </a:t>
            </a:r>
            <a:r>
              <a:rPr lang="en-US" sz="1200" b="0" dirty="0">
                <a:solidFill>
                  <a:srgbClr val="CC8242"/>
                </a:solidFill>
                <a:highlight>
                  <a:srgbClr val="242424"/>
                </a:highlight>
                <a:latin typeface="Arial"/>
                <a:ea typeface="Arial"/>
                <a:cs typeface="Arial"/>
                <a:sym typeface="Arial"/>
              </a:rPr>
              <a:t>for</a:t>
            </a:r>
            <a:r>
              <a:rPr lang="en-US" sz="1200" b="0" dirty="0">
                <a:solidFill>
                  <a:srgbClr val="CCCCCC"/>
                </a:solidFill>
                <a:highlight>
                  <a:srgbClr val="242424"/>
                </a:highlight>
                <a:latin typeface="Arial"/>
                <a:ea typeface="Arial"/>
                <a:cs typeface="Arial"/>
                <a:sym typeface="Arial"/>
              </a:rPr>
              <a:t>(p = proc; p &lt; &amp;proc[</a:t>
            </a:r>
            <a:r>
              <a:rPr lang="en-US" sz="1200" b="0" dirty="0">
                <a:solidFill>
                  <a:srgbClr val="FFC66D"/>
                </a:solidFill>
                <a:highlight>
                  <a:srgbClr val="242424"/>
                </a:highlight>
                <a:latin typeface="Arial"/>
                <a:ea typeface="Arial"/>
                <a:cs typeface="Arial"/>
                <a:sym typeface="Arial"/>
              </a:rPr>
              <a:t>NPROC</a:t>
            </a:r>
            <a:r>
              <a:rPr lang="en-US" sz="1200" b="0" dirty="0">
                <a:solidFill>
                  <a:srgbClr val="CCCCCC"/>
                </a:solidFill>
                <a:highlight>
                  <a:srgbClr val="242424"/>
                </a:highlight>
                <a:latin typeface="Arial"/>
                <a:ea typeface="Arial"/>
                <a:cs typeface="Arial"/>
                <a:sym typeface="Arial"/>
              </a:rPr>
              <a:t>]; p++) {</a:t>
            </a:r>
            <a:endParaRPr dirty="0"/>
          </a:p>
          <a:p>
            <a:pPr marL="0" marR="0" lvl="0" indent="0" algn="l" rtl="0">
              <a:spcBef>
                <a:spcPts val="0"/>
              </a:spcBef>
              <a:spcAft>
                <a:spcPts val="0"/>
              </a:spcAft>
              <a:buNone/>
            </a:pPr>
            <a:r>
              <a:rPr lang="en-US" sz="1200" b="0" dirty="0">
                <a:solidFill>
                  <a:srgbClr val="FFC66D"/>
                </a:solidFill>
                <a:highlight>
                  <a:srgbClr val="242424"/>
                </a:highlight>
                <a:latin typeface="Arial"/>
                <a:ea typeface="Arial"/>
                <a:cs typeface="Arial"/>
                <a:sym typeface="Arial"/>
              </a:rPr>
              <a:t>            acquire</a:t>
            </a:r>
            <a:r>
              <a:rPr lang="en-US" sz="1200" b="0" dirty="0">
                <a:solidFill>
                  <a:srgbClr val="CCCCCC"/>
                </a:solidFill>
                <a:highlight>
                  <a:srgbClr val="242424"/>
                </a:highlight>
                <a:latin typeface="Arial"/>
                <a:ea typeface="Arial"/>
                <a:cs typeface="Arial"/>
                <a:sym typeface="Arial"/>
              </a:rPr>
              <a:t>(&amp;p-&gt;</a:t>
            </a:r>
            <a:r>
              <a:rPr lang="en-US" sz="1200" b="0" dirty="0">
                <a:solidFill>
                  <a:srgbClr val="9E7BB0"/>
                </a:solidFill>
                <a:highlight>
                  <a:srgbClr val="242424"/>
                </a:highlight>
                <a:latin typeface="Arial"/>
                <a:ea typeface="Arial"/>
                <a:cs typeface="Arial"/>
                <a:sym typeface="Arial"/>
              </a:rPr>
              <a:t>lock</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CC8242"/>
                </a:solidFill>
                <a:highlight>
                  <a:srgbClr val="242424"/>
                </a:highlight>
                <a:latin typeface="Arial"/>
                <a:ea typeface="Arial"/>
                <a:cs typeface="Arial"/>
                <a:sym typeface="Arial"/>
              </a:rPr>
              <a:t>            if</a:t>
            </a:r>
            <a:r>
              <a:rPr lang="en-US" sz="1200" b="0" dirty="0">
                <a:solidFill>
                  <a:srgbClr val="CCCCCC"/>
                </a:solidFill>
                <a:highlight>
                  <a:srgbClr val="242424"/>
                </a:highlight>
                <a:latin typeface="Arial"/>
                <a:ea typeface="Arial"/>
                <a:cs typeface="Arial"/>
                <a:sym typeface="Arial"/>
              </a:rPr>
              <a:t>(p-&gt;</a:t>
            </a:r>
            <a:r>
              <a:rPr lang="en-US" sz="1200" b="0" dirty="0">
                <a:solidFill>
                  <a:srgbClr val="9E7BB0"/>
                </a:solidFill>
                <a:highlight>
                  <a:srgbClr val="242424"/>
                </a:highlight>
                <a:latin typeface="Arial"/>
                <a:ea typeface="Arial"/>
                <a:cs typeface="Arial"/>
                <a:sym typeface="Arial"/>
              </a:rPr>
              <a:t>state</a:t>
            </a:r>
            <a:r>
              <a:rPr lang="en-US" sz="1200" b="0" dirty="0">
                <a:solidFill>
                  <a:srgbClr val="CCCCCC"/>
                </a:solidFill>
                <a:highlight>
                  <a:srgbClr val="242424"/>
                </a:highlight>
                <a:latin typeface="Arial"/>
                <a:ea typeface="Arial"/>
                <a:cs typeface="Arial"/>
                <a:sym typeface="Arial"/>
              </a:rPr>
              <a:t> == RUNNABLE) {</a:t>
            </a:r>
            <a:endParaRPr dirty="0"/>
          </a:p>
          <a:p>
            <a:pPr marL="0" marR="0" lvl="0" indent="0" algn="l" rtl="0">
              <a:spcBef>
                <a:spcPts val="0"/>
              </a:spcBef>
              <a:spcAft>
                <a:spcPts val="0"/>
              </a:spcAft>
              <a:buNone/>
            </a:pPr>
            <a:r>
              <a:rPr lang="en-US" sz="1200" b="0" dirty="0">
                <a:solidFill>
                  <a:srgbClr val="707070"/>
                </a:solidFill>
                <a:highlight>
                  <a:srgbClr val="242424"/>
                </a:highlight>
                <a:latin typeface="Arial"/>
                <a:ea typeface="Arial"/>
                <a:cs typeface="Arial"/>
                <a:sym typeface="Arial"/>
              </a:rPr>
              <a:t>                // Process must release lock and reacquire before </a:t>
            </a:r>
            <a:r>
              <a:rPr lang="en-US" sz="1200" b="0" dirty="0" err="1">
                <a:solidFill>
                  <a:srgbClr val="707070"/>
                </a:solidFill>
                <a:highlight>
                  <a:srgbClr val="242424"/>
                </a:highlight>
                <a:latin typeface="Arial"/>
                <a:ea typeface="Arial"/>
                <a:cs typeface="Arial"/>
                <a:sym typeface="Arial"/>
              </a:rPr>
              <a:t>swtching</a:t>
            </a:r>
            <a:r>
              <a:rPr lang="en-US" sz="1200" b="0" dirty="0">
                <a:solidFill>
                  <a:srgbClr val="707070"/>
                </a:solidFill>
                <a:highlight>
                  <a:srgbClr val="242424"/>
                </a:highlight>
                <a:latin typeface="Arial"/>
                <a:ea typeface="Arial"/>
                <a:cs typeface="Arial"/>
                <a:sym typeface="Arial"/>
              </a:rPr>
              <a:t> back here.</a:t>
            </a:r>
            <a:endParaRPr sz="1200" b="0" dirty="0">
              <a:solidFill>
                <a:srgbClr val="CCCCCC"/>
              </a:solidFill>
              <a:highlight>
                <a:srgbClr val="242424"/>
              </a:highlight>
              <a:latin typeface="Arial"/>
              <a:ea typeface="Arial"/>
              <a:cs typeface="Arial"/>
              <a:sym typeface="Arial"/>
            </a:endParaRPr>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p-&gt;</a:t>
            </a:r>
            <a:r>
              <a:rPr lang="en-US" sz="1200" b="0" dirty="0">
                <a:solidFill>
                  <a:srgbClr val="9E7BB0"/>
                </a:solidFill>
                <a:highlight>
                  <a:srgbClr val="242424"/>
                </a:highlight>
                <a:latin typeface="Arial"/>
                <a:ea typeface="Arial"/>
                <a:cs typeface="Arial"/>
                <a:sym typeface="Arial"/>
              </a:rPr>
              <a:t>state</a:t>
            </a:r>
            <a:r>
              <a:rPr lang="en-US" sz="1200" b="0" dirty="0">
                <a:solidFill>
                  <a:srgbClr val="CCCCCC"/>
                </a:solidFill>
                <a:highlight>
                  <a:srgbClr val="242424"/>
                </a:highlight>
                <a:latin typeface="Arial"/>
                <a:ea typeface="Arial"/>
                <a:cs typeface="Arial"/>
                <a:sym typeface="Arial"/>
              </a:rPr>
              <a:t> = RUNNING;</a:t>
            </a:r>
            <a:endParaRPr dirty="0"/>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c-&gt;</a:t>
            </a:r>
            <a:r>
              <a:rPr lang="en-US" sz="1200" b="0" dirty="0">
                <a:solidFill>
                  <a:srgbClr val="9E7BB0"/>
                </a:solidFill>
                <a:highlight>
                  <a:srgbClr val="242424"/>
                </a:highlight>
                <a:latin typeface="Arial"/>
                <a:ea typeface="Arial"/>
                <a:cs typeface="Arial"/>
                <a:sym typeface="Arial"/>
              </a:rPr>
              <a:t>proc</a:t>
            </a:r>
            <a:r>
              <a:rPr lang="en-US" sz="1200" b="0" dirty="0">
                <a:solidFill>
                  <a:srgbClr val="CCCCCC"/>
                </a:solidFill>
                <a:highlight>
                  <a:srgbClr val="242424"/>
                </a:highlight>
                <a:latin typeface="Arial"/>
                <a:ea typeface="Arial"/>
                <a:cs typeface="Arial"/>
                <a:sym typeface="Arial"/>
              </a:rPr>
              <a:t> = p;</a:t>
            </a:r>
            <a:endParaRPr dirty="0"/>
          </a:p>
          <a:p>
            <a:pPr marL="0" marR="0" lvl="0" indent="0" algn="l" rtl="0">
              <a:spcBef>
                <a:spcPts val="0"/>
              </a:spcBef>
              <a:spcAft>
                <a:spcPts val="0"/>
              </a:spcAft>
              <a:buNone/>
            </a:pPr>
            <a:r>
              <a:rPr lang="en-US" sz="1200" b="1" dirty="0">
                <a:solidFill>
                  <a:srgbClr val="FFC66D"/>
                </a:solidFill>
                <a:highlight>
                  <a:srgbClr val="242424"/>
                </a:highlight>
                <a:latin typeface="Arial"/>
                <a:ea typeface="Arial"/>
                <a:cs typeface="Arial"/>
                <a:sym typeface="Arial"/>
              </a:rPr>
              <a:t>                </a:t>
            </a:r>
            <a:r>
              <a:rPr lang="en-US" sz="1200" b="1" dirty="0" err="1">
                <a:solidFill>
                  <a:srgbClr val="FFC66D"/>
                </a:solidFill>
                <a:highlight>
                  <a:srgbClr val="242424"/>
                </a:highlight>
                <a:latin typeface="Arial"/>
                <a:ea typeface="Arial"/>
                <a:cs typeface="Arial"/>
                <a:sym typeface="Arial"/>
              </a:rPr>
              <a:t>swtch</a:t>
            </a:r>
            <a:r>
              <a:rPr lang="en-US" sz="1200" b="1" dirty="0">
                <a:solidFill>
                  <a:srgbClr val="CCCCCC"/>
                </a:solidFill>
                <a:highlight>
                  <a:srgbClr val="242424"/>
                </a:highlight>
                <a:latin typeface="Arial"/>
                <a:ea typeface="Arial"/>
                <a:cs typeface="Arial"/>
                <a:sym typeface="Arial"/>
              </a:rPr>
              <a:t>(&amp;c-&gt;</a:t>
            </a:r>
            <a:r>
              <a:rPr lang="en-US" sz="1200" b="1" dirty="0">
                <a:solidFill>
                  <a:srgbClr val="9E7BB0"/>
                </a:solidFill>
                <a:highlight>
                  <a:srgbClr val="242424"/>
                </a:highlight>
                <a:latin typeface="Arial"/>
                <a:ea typeface="Arial"/>
                <a:cs typeface="Arial"/>
                <a:sym typeface="Arial"/>
              </a:rPr>
              <a:t>context</a:t>
            </a:r>
            <a:r>
              <a:rPr lang="en-US" sz="1200" b="1" dirty="0">
                <a:solidFill>
                  <a:srgbClr val="CCCCCC"/>
                </a:solidFill>
                <a:highlight>
                  <a:srgbClr val="242424"/>
                </a:highlight>
                <a:latin typeface="Arial"/>
                <a:ea typeface="Arial"/>
                <a:cs typeface="Arial"/>
                <a:sym typeface="Arial"/>
              </a:rPr>
              <a:t>, &amp;p-&gt;</a:t>
            </a:r>
            <a:r>
              <a:rPr lang="en-US" sz="1200" b="1" dirty="0">
                <a:solidFill>
                  <a:srgbClr val="9E7BB0"/>
                </a:solidFill>
                <a:highlight>
                  <a:srgbClr val="242424"/>
                </a:highlight>
                <a:latin typeface="Arial"/>
                <a:ea typeface="Arial"/>
                <a:cs typeface="Arial"/>
                <a:sym typeface="Arial"/>
              </a:rPr>
              <a:t>context</a:t>
            </a:r>
            <a:r>
              <a:rPr lang="en-US" sz="1200" b="1"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br>
              <a:rPr lang="en-US" sz="1200" b="0" dirty="0">
                <a:solidFill>
                  <a:srgbClr val="CCCCCC"/>
                </a:solidFill>
                <a:highlight>
                  <a:srgbClr val="242424"/>
                </a:highlight>
                <a:latin typeface="Arial"/>
                <a:ea typeface="Arial"/>
                <a:cs typeface="Arial"/>
                <a:sym typeface="Arial"/>
              </a:rPr>
            </a:br>
            <a:r>
              <a:rPr lang="en-US" sz="1200" b="0" dirty="0">
                <a:solidFill>
                  <a:srgbClr val="CCCCCC"/>
                </a:solidFill>
                <a:highlight>
                  <a:srgbClr val="242424"/>
                </a:highlight>
                <a:latin typeface="Arial"/>
                <a:ea typeface="Arial"/>
                <a:cs typeface="Arial"/>
                <a:sym typeface="Arial"/>
              </a:rPr>
              <a:t>                </a:t>
            </a:r>
            <a:r>
              <a:rPr lang="en-US" sz="1200" b="0" dirty="0">
                <a:solidFill>
                  <a:srgbClr val="707070"/>
                </a:solidFill>
                <a:highlight>
                  <a:srgbClr val="242424"/>
                </a:highlight>
                <a:latin typeface="Arial"/>
                <a:ea typeface="Arial"/>
                <a:cs typeface="Arial"/>
                <a:sym typeface="Arial"/>
              </a:rPr>
              <a:t>// Process is done running for now.</a:t>
            </a:r>
            <a:endParaRPr sz="1200" b="0" dirty="0">
              <a:solidFill>
                <a:srgbClr val="CCCCCC"/>
              </a:solidFill>
              <a:highlight>
                <a:srgbClr val="242424"/>
              </a:highlight>
              <a:latin typeface="Arial"/>
              <a:ea typeface="Arial"/>
              <a:cs typeface="Arial"/>
              <a:sym typeface="Arial"/>
            </a:endParaRPr>
          </a:p>
          <a:p>
            <a:pPr marL="0" marR="0" lvl="0" indent="0" algn="l" rtl="0">
              <a:spcBef>
                <a:spcPts val="0"/>
              </a:spcBef>
              <a:spcAft>
                <a:spcPts val="0"/>
              </a:spcAft>
              <a:buNone/>
            </a:pPr>
            <a:r>
              <a:rPr lang="en-US" sz="1200" b="0" dirty="0">
                <a:solidFill>
                  <a:srgbClr val="707070"/>
                </a:solidFill>
                <a:highlight>
                  <a:srgbClr val="242424"/>
                </a:highlight>
                <a:latin typeface="Arial"/>
                <a:ea typeface="Arial"/>
                <a:cs typeface="Arial"/>
                <a:sym typeface="Arial"/>
              </a:rPr>
              <a:t>                // It should have changed its p-&gt;state before coming back.</a:t>
            </a:r>
            <a:endParaRPr sz="1200" b="0" dirty="0">
              <a:solidFill>
                <a:srgbClr val="CCCCCC"/>
              </a:solidFill>
              <a:highlight>
                <a:srgbClr val="242424"/>
              </a:highlight>
              <a:latin typeface="Arial"/>
              <a:ea typeface="Arial"/>
              <a:cs typeface="Arial"/>
              <a:sym typeface="Arial"/>
            </a:endParaRPr>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c-&gt;</a:t>
            </a:r>
            <a:r>
              <a:rPr lang="en-US" sz="1200" b="0" dirty="0">
                <a:solidFill>
                  <a:srgbClr val="9E7BB0"/>
                </a:solidFill>
                <a:highlight>
                  <a:srgbClr val="242424"/>
                </a:highlight>
                <a:latin typeface="Arial"/>
                <a:ea typeface="Arial"/>
                <a:cs typeface="Arial"/>
                <a:sym typeface="Arial"/>
              </a:rPr>
              <a:t>proc</a:t>
            </a:r>
            <a:r>
              <a:rPr lang="en-US" sz="1200" b="0" dirty="0">
                <a:solidFill>
                  <a:srgbClr val="CCCCCC"/>
                </a:solidFill>
                <a:highlight>
                  <a:srgbClr val="242424"/>
                </a:highlight>
                <a:latin typeface="Arial"/>
                <a:ea typeface="Arial"/>
                <a:cs typeface="Arial"/>
                <a:sym typeface="Arial"/>
              </a:rPr>
              <a:t> = </a:t>
            </a:r>
            <a:r>
              <a:rPr lang="en-US" sz="1200" b="0" dirty="0">
                <a:solidFill>
                  <a:srgbClr val="7A9EC2"/>
                </a:solidFill>
                <a:highlight>
                  <a:srgbClr val="242424"/>
                </a:highlight>
                <a:latin typeface="Arial"/>
                <a:ea typeface="Arial"/>
                <a:cs typeface="Arial"/>
                <a:sym typeface="Arial"/>
              </a:rPr>
              <a:t>0</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a:t>
            </a:r>
            <a:endParaRPr dirty="0"/>
          </a:p>
          <a:p>
            <a:pPr marL="0" marR="0" lvl="0" indent="0" algn="l" rtl="0">
              <a:spcBef>
                <a:spcPts val="0"/>
              </a:spcBef>
              <a:spcAft>
                <a:spcPts val="0"/>
              </a:spcAft>
              <a:buNone/>
            </a:pPr>
            <a:r>
              <a:rPr lang="en-US" sz="1200" b="0" dirty="0">
                <a:solidFill>
                  <a:srgbClr val="FFC66D"/>
                </a:solidFill>
                <a:highlight>
                  <a:srgbClr val="242424"/>
                </a:highlight>
                <a:latin typeface="Arial"/>
                <a:ea typeface="Arial"/>
                <a:cs typeface="Arial"/>
                <a:sym typeface="Arial"/>
              </a:rPr>
              <a:t>           release</a:t>
            </a:r>
            <a:r>
              <a:rPr lang="en-US" sz="1200" b="0" dirty="0">
                <a:solidFill>
                  <a:srgbClr val="CCCCCC"/>
                </a:solidFill>
                <a:highlight>
                  <a:srgbClr val="242424"/>
                </a:highlight>
                <a:latin typeface="Arial"/>
                <a:ea typeface="Arial"/>
                <a:cs typeface="Arial"/>
                <a:sym typeface="Arial"/>
              </a:rPr>
              <a:t>(&amp;p-&gt;</a:t>
            </a:r>
            <a:r>
              <a:rPr lang="en-US" sz="1200" b="0" dirty="0">
                <a:solidFill>
                  <a:srgbClr val="9E7BB0"/>
                </a:solidFill>
                <a:highlight>
                  <a:srgbClr val="242424"/>
                </a:highlight>
                <a:latin typeface="Arial"/>
                <a:ea typeface="Arial"/>
                <a:cs typeface="Arial"/>
                <a:sym typeface="Arial"/>
              </a:rPr>
              <a:t>lock</a:t>
            </a:r>
            <a:r>
              <a:rPr lang="en-US" sz="1200" b="0" dirty="0">
                <a:solidFill>
                  <a:srgbClr val="CCCCCC"/>
                </a:solidFill>
                <a:highlight>
                  <a:srgbClr val="242424"/>
                </a:highlight>
                <a:latin typeface="Arial"/>
                <a:ea typeface="Arial"/>
                <a:cs typeface="Arial"/>
                <a:sym typeface="Arial"/>
              </a:rPr>
              <a:t>);</a:t>
            </a:r>
            <a:endParaRPr dirty="0"/>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a:t>
            </a:r>
            <a:endParaRPr dirty="0"/>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    }</a:t>
            </a:r>
            <a:endParaRPr dirty="0"/>
          </a:p>
          <a:p>
            <a:pPr marL="0" marR="0" lvl="0" indent="0" algn="l" rtl="0">
              <a:spcBef>
                <a:spcPts val="0"/>
              </a:spcBef>
              <a:spcAft>
                <a:spcPts val="0"/>
              </a:spcAft>
              <a:buNone/>
            </a:pPr>
            <a:r>
              <a:rPr lang="en-US" sz="1200" b="0" dirty="0">
                <a:solidFill>
                  <a:srgbClr val="CCCCCC"/>
                </a:solidFill>
                <a:highlight>
                  <a:srgbClr val="242424"/>
                </a:highlight>
                <a:latin typeface="Arial"/>
                <a:ea typeface="Arial"/>
                <a:cs typeface="Arial"/>
                <a:sym typeface="Arial"/>
              </a:rPr>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scheduling and context switching</a:t>
            </a:r>
            <a:endParaRPr sz="2800" dirty="0"/>
          </a:p>
        </p:txBody>
      </p:sp>
      <p:sp>
        <p:nvSpPr>
          <p:cNvPr id="192" name="Google Shape;192;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This code is hard to wrap your head around!</a:t>
            </a:r>
            <a:endParaRPr dirty="0"/>
          </a:p>
          <a:p>
            <a:pPr marL="228600" lvl="0" indent="-228600" algn="l" rtl="0">
              <a:lnSpc>
                <a:spcPct val="90000"/>
              </a:lnSpc>
              <a:spcBef>
                <a:spcPts val="1000"/>
              </a:spcBef>
              <a:spcAft>
                <a:spcPts val="0"/>
              </a:spcAft>
              <a:buClr>
                <a:schemeClr val="dk1"/>
              </a:buClr>
              <a:buSzPts val="2800"/>
              <a:buChar char="•"/>
            </a:pPr>
            <a:r>
              <a:rPr lang="en-US" dirty="0"/>
              <a:t>Each CPU in the system runs its own copy of scheduler() in an infinite loop forever.</a:t>
            </a:r>
            <a:endParaRPr dirty="0"/>
          </a:p>
          <a:p>
            <a:pPr marL="228600" lvl="0" indent="-228600" algn="l" rtl="0">
              <a:lnSpc>
                <a:spcPct val="90000"/>
              </a:lnSpc>
              <a:spcBef>
                <a:spcPts val="1000"/>
              </a:spcBef>
              <a:spcAft>
                <a:spcPts val="0"/>
              </a:spcAft>
              <a:buClr>
                <a:schemeClr val="dk1"/>
              </a:buClr>
              <a:buSzPts val="2800"/>
              <a:buChar char="•"/>
            </a:pPr>
            <a:r>
              <a:rPr lang="en-US" dirty="0"/>
              <a:t>It only leaves the scheduler to run a process via switching into the process’ </a:t>
            </a:r>
            <a:r>
              <a:rPr lang="en-US" b="1" dirty="0"/>
              <a:t>context</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err="1"/>
              <a:t>swtch</a:t>
            </a:r>
            <a:r>
              <a:rPr lang="en-US" dirty="0"/>
              <a:t>() swaps the current context </a:t>
            </a:r>
            <a:r>
              <a:rPr lang="en-US" b="1" dirty="0"/>
              <a:t>c-&gt;context</a:t>
            </a:r>
            <a:r>
              <a:rPr lang="en-US" dirty="0"/>
              <a:t> (which belongs to the current struct </a:t>
            </a:r>
            <a:r>
              <a:rPr lang="en-US" dirty="0" err="1"/>
              <a:t>cpu</a:t>
            </a:r>
            <a:r>
              <a:rPr lang="en-US" dirty="0"/>
              <a:t>) for the process’ context</a:t>
            </a:r>
            <a:r>
              <a:rPr lang="en-US" b="1" dirty="0"/>
              <a:t> p-&gt;context.</a:t>
            </a:r>
            <a:endParaRPr dirty="0"/>
          </a:p>
        </p:txBody>
      </p:sp>
      <p:grpSp>
        <p:nvGrpSpPr>
          <p:cNvPr id="193" name="Google Shape;193;p9"/>
          <p:cNvGrpSpPr/>
          <p:nvPr/>
        </p:nvGrpSpPr>
        <p:grpSpPr>
          <a:xfrm>
            <a:off x="6614450" y="47402"/>
            <a:ext cx="4739350" cy="1697875"/>
            <a:chOff x="3684761" y="5340138"/>
            <a:chExt cx="4739350" cy="1697875"/>
          </a:xfrm>
        </p:grpSpPr>
        <p:sp>
          <p:nvSpPr>
            <p:cNvPr id="194" name="Google Shape;194;p9"/>
            <p:cNvSpPr/>
            <p:nvPr/>
          </p:nvSpPr>
          <p:spPr>
            <a:xfrm>
              <a:off x="3684761" y="5843744"/>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195" name="Google Shape;195;p9"/>
            <p:cNvSpPr/>
            <p:nvPr/>
          </p:nvSpPr>
          <p:spPr>
            <a:xfrm>
              <a:off x="6874638" y="5805107"/>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cxnSp>
          <p:nvCxnSpPr>
            <p:cNvPr id="196" name="Google Shape;196;p9"/>
            <p:cNvCxnSpPr/>
            <p:nvPr/>
          </p:nvCxnSpPr>
          <p:spPr>
            <a:xfrm>
              <a:off x="5234234" y="5908946"/>
              <a:ext cx="1640404" cy="0"/>
            </a:xfrm>
            <a:prstGeom prst="straightConnector1">
              <a:avLst/>
            </a:prstGeom>
            <a:noFill/>
            <a:ln w="38100" cap="flat" cmpd="sng">
              <a:solidFill>
                <a:schemeClr val="dk1"/>
              </a:solidFill>
              <a:prstDash val="solid"/>
              <a:miter lim="800000"/>
              <a:headEnd type="none" w="sm" len="sm"/>
              <a:tailEnd type="triangle" w="med" len="med"/>
            </a:ln>
          </p:spPr>
        </p:cxnSp>
        <p:cxnSp>
          <p:nvCxnSpPr>
            <p:cNvPr id="197" name="Google Shape;197;p9"/>
            <p:cNvCxnSpPr/>
            <p:nvPr/>
          </p:nvCxnSpPr>
          <p:spPr>
            <a:xfrm>
              <a:off x="5234234" y="6392422"/>
              <a:ext cx="1640404" cy="0"/>
            </a:xfrm>
            <a:prstGeom prst="straightConnector1">
              <a:avLst/>
            </a:prstGeom>
            <a:noFill/>
            <a:ln w="38100" cap="flat" cmpd="sng">
              <a:solidFill>
                <a:schemeClr val="dk1"/>
              </a:solidFill>
              <a:prstDash val="solid"/>
              <a:miter lim="800000"/>
              <a:headEnd type="triangle" w="med" len="med"/>
              <a:tailEnd type="none" w="sm" len="sm"/>
            </a:ln>
          </p:spPr>
        </p:cxnSp>
        <p:sp>
          <p:nvSpPr>
            <p:cNvPr id="198" name="Google Shape;198;p9"/>
            <p:cNvSpPr txBox="1"/>
            <p:nvPr/>
          </p:nvSpPr>
          <p:spPr>
            <a:xfrm>
              <a:off x="5463228" y="5340138"/>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schedule</a:t>
              </a:r>
              <a:endParaRPr/>
            </a:p>
          </p:txBody>
        </p:sp>
        <p:sp>
          <p:nvSpPr>
            <p:cNvPr id="199" name="Google Shape;199;p9"/>
            <p:cNvSpPr txBox="1"/>
            <p:nvPr/>
          </p:nvSpPr>
          <p:spPr>
            <a:xfrm>
              <a:off x="5237890" y="6668681"/>
              <a:ext cx="19928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timeout/syscall</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scheduling and context switching</a:t>
            </a:r>
            <a:endParaRPr sz="2800" dirty="0"/>
          </a:p>
        </p:txBody>
      </p:sp>
      <p:grpSp>
        <p:nvGrpSpPr>
          <p:cNvPr id="220" name="Google Shape;220;p11"/>
          <p:cNvGrpSpPr/>
          <p:nvPr/>
        </p:nvGrpSpPr>
        <p:grpSpPr>
          <a:xfrm>
            <a:off x="6614450" y="47402"/>
            <a:ext cx="4739350" cy="1697875"/>
            <a:chOff x="3684761" y="5340138"/>
            <a:chExt cx="4739350" cy="1697875"/>
          </a:xfrm>
        </p:grpSpPr>
        <p:sp>
          <p:nvSpPr>
            <p:cNvPr id="221" name="Google Shape;221;p11"/>
            <p:cNvSpPr/>
            <p:nvPr/>
          </p:nvSpPr>
          <p:spPr>
            <a:xfrm>
              <a:off x="3684761" y="5843744"/>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222" name="Google Shape;222;p11"/>
            <p:cNvSpPr/>
            <p:nvPr/>
          </p:nvSpPr>
          <p:spPr>
            <a:xfrm>
              <a:off x="6874638" y="5805107"/>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cxnSp>
          <p:nvCxnSpPr>
            <p:cNvPr id="223" name="Google Shape;223;p11"/>
            <p:cNvCxnSpPr/>
            <p:nvPr/>
          </p:nvCxnSpPr>
          <p:spPr>
            <a:xfrm>
              <a:off x="5234234" y="5908946"/>
              <a:ext cx="1640404" cy="0"/>
            </a:xfrm>
            <a:prstGeom prst="straightConnector1">
              <a:avLst/>
            </a:prstGeom>
            <a:noFill/>
            <a:ln w="38100" cap="flat" cmpd="sng">
              <a:solidFill>
                <a:schemeClr val="dk1"/>
              </a:solidFill>
              <a:prstDash val="solid"/>
              <a:miter lim="800000"/>
              <a:headEnd type="none" w="sm" len="sm"/>
              <a:tailEnd type="triangle" w="med" len="med"/>
            </a:ln>
          </p:spPr>
        </p:cxnSp>
        <p:cxnSp>
          <p:nvCxnSpPr>
            <p:cNvPr id="224" name="Google Shape;224;p11"/>
            <p:cNvCxnSpPr/>
            <p:nvPr/>
          </p:nvCxnSpPr>
          <p:spPr>
            <a:xfrm>
              <a:off x="5234234" y="6392422"/>
              <a:ext cx="1640404" cy="0"/>
            </a:xfrm>
            <a:prstGeom prst="straightConnector1">
              <a:avLst/>
            </a:prstGeom>
            <a:noFill/>
            <a:ln w="38100" cap="flat" cmpd="sng">
              <a:solidFill>
                <a:schemeClr val="dk1"/>
              </a:solidFill>
              <a:prstDash val="solid"/>
              <a:miter lim="800000"/>
              <a:headEnd type="triangle" w="med" len="med"/>
              <a:tailEnd type="none" w="sm" len="sm"/>
            </a:ln>
          </p:spPr>
        </p:cxnSp>
        <p:sp>
          <p:nvSpPr>
            <p:cNvPr id="225" name="Google Shape;225;p11"/>
            <p:cNvSpPr txBox="1"/>
            <p:nvPr/>
          </p:nvSpPr>
          <p:spPr>
            <a:xfrm>
              <a:off x="5463228" y="5340138"/>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schedule</a:t>
              </a:r>
              <a:endParaRPr/>
            </a:p>
          </p:txBody>
        </p:sp>
        <p:sp>
          <p:nvSpPr>
            <p:cNvPr id="226" name="Google Shape;226;p11"/>
            <p:cNvSpPr txBox="1"/>
            <p:nvPr/>
          </p:nvSpPr>
          <p:spPr>
            <a:xfrm>
              <a:off x="5237890" y="6668681"/>
              <a:ext cx="19928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timeout/syscall</a:t>
              </a:r>
              <a:endParaRPr/>
            </a:p>
          </p:txBody>
        </p:sp>
      </p:grpSp>
      <p:sp>
        <p:nvSpPr>
          <p:cNvPr id="227" name="Google Shape;227;p11"/>
          <p:cNvSpPr txBox="1"/>
          <p:nvPr/>
        </p:nvSpPr>
        <p:spPr>
          <a:xfrm>
            <a:off x="838200" y="1920958"/>
            <a:ext cx="4887191" cy="4524315"/>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lnSpc>
                <a:spcPct val="100000"/>
              </a:lnSpc>
              <a:spcBef>
                <a:spcPts val="0"/>
              </a:spcBef>
              <a:spcAft>
                <a:spcPts val="0"/>
              </a:spcAft>
              <a:buClr>
                <a:srgbClr val="000000"/>
              </a:buClr>
              <a:buSzPts val="1050"/>
              <a:buFont typeface="Arial"/>
              <a:buNone/>
            </a:pPr>
            <a:r>
              <a:rPr lang="en-US" sz="1600" b="0" i="0" u="none" strike="noStrike" cap="none" dirty="0">
                <a:solidFill>
                  <a:srgbClr val="3F7F5F"/>
                </a:solidFill>
                <a:latin typeface="Consolas"/>
                <a:ea typeface="Consolas"/>
                <a:cs typeface="Consolas"/>
                <a:sym typeface="Consolas"/>
              </a:rPr>
              <a:t># Context switch</a:t>
            </a:r>
            <a:endParaRPr dirty="0"/>
          </a:p>
          <a:p>
            <a:pPr marL="0" marR="0" lvl="0" indent="0" algn="l" rtl="0">
              <a:lnSpc>
                <a:spcPct val="100000"/>
              </a:lnSpc>
              <a:spcBef>
                <a:spcPts val="0"/>
              </a:spcBef>
              <a:spcAft>
                <a:spcPts val="0"/>
              </a:spcAft>
              <a:buClr>
                <a:srgbClr val="000000"/>
              </a:buClr>
              <a:buSzPts val="1050"/>
              <a:buFont typeface="Arial"/>
              <a:buNone/>
            </a:pPr>
            <a:r>
              <a:rPr lang="en-US" sz="1600" b="0" i="0" u="none" strike="noStrike" cap="none" dirty="0">
                <a:solidFill>
                  <a:srgbClr val="3F7F5F"/>
                </a:solidFill>
                <a:latin typeface="Consolas"/>
                <a:ea typeface="Consolas"/>
                <a:cs typeface="Consolas"/>
                <a:sym typeface="Consolas"/>
              </a:rPr>
              <a:t>#   void </a:t>
            </a:r>
            <a:r>
              <a:rPr lang="en-US" sz="1600" b="0" i="0" u="none" strike="noStrike" cap="none" dirty="0" err="1">
                <a:solidFill>
                  <a:srgbClr val="3F7F5F"/>
                </a:solidFill>
                <a:latin typeface="Consolas"/>
                <a:ea typeface="Consolas"/>
                <a:cs typeface="Consolas"/>
                <a:sym typeface="Consolas"/>
              </a:rPr>
              <a:t>swtch</a:t>
            </a:r>
            <a:r>
              <a:rPr lang="en-US" sz="1600" b="0" i="0" u="none" strike="noStrike" cap="none" dirty="0">
                <a:solidFill>
                  <a:srgbClr val="3F7F5F"/>
                </a:solidFill>
                <a:latin typeface="Consolas"/>
                <a:ea typeface="Consolas"/>
                <a:cs typeface="Consolas"/>
                <a:sym typeface="Consolas"/>
              </a:rPr>
              <a:t>(struct context **old, struct context *new);</a:t>
            </a:r>
            <a:endParaRPr dirty="0"/>
          </a:p>
          <a:p>
            <a:pPr marL="0" marR="0" lvl="0" indent="0" algn="l" rtl="0">
              <a:lnSpc>
                <a:spcPct val="100000"/>
              </a:lnSpc>
              <a:spcBef>
                <a:spcPts val="0"/>
              </a:spcBef>
              <a:spcAft>
                <a:spcPts val="0"/>
              </a:spcAft>
              <a:buClr>
                <a:srgbClr val="000000"/>
              </a:buClr>
              <a:buSzPts val="1050"/>
              <a:buFont typeface="Arial"/>
              <a:buNone/>
            </a:pPr>
            <a:r>
              <a:rPr lang="en-US" sz="1600" b="0" i="0" u="none" strike="noStrike" cap="none" dirty="0">
                <a:solidFill>
                  <a:srgbClr val="3F7F5F"/>
                </a:solidFill>
                <a:latin typeface="Consolas"/>
                <a:ea typeface="Consolas"/>
                <a:cs typeface="Consolas"/>
                <a:sym typeface="Consolas"/>
              </a:rPr>
              <a:t># Save current register context in old</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r>
              <a:rPr lang="en-US" sz="1600" b="0" i="0" u="none" strike="noStrike" cap="none" dirty="0">
                <a:solidFill>
                  <a:srgbClr val="3F7F5F"/>
                </a:solidFill>
                <a:latin typeface="Consolas"/>
                <a:ea typeface="Consolas"/>
                <a:cs typeface="Consolas"/>
                <a:sym typeface="Consolas"/>
              </a:rPr>
              <a:t># and then load register context from new.</a:t>
            </a:r>
            <a:endParaRPr sz="16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50"/>
              <a:buFont typeface="Arial"/>
              <a:buNone/>
            </a:pPr>
            <a:endParaRPr sz="1600" b="0" i="0" u="none" strike="noStrike" cap="none" dirty="0">
              <a:solidFill>
                <a:schemeClr val="lt1"/>
              </a:solidFill>
              <a:latin typeface="Consolas"/>
              <a:ea typeface="Consolas"/>
              <a:cs typeface="Consolas"/>
              <a:sym typeface="Consolas"/>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a:t>
            </a:r>
            <a:r>
              <a:rPr lang="en-US" sz="1600" b="1" i="0" u="none" strike="noStrike" cap="none" dirty="0" err="1">
                <a:solidFill>
                  <a:schemeClr val="lt1"/>
                </a:solidFill>
                <a:latin typeface="Consolas"/>
                <a:ea typeface="Consolas"/>
                <a:cs typeface="Consolas"/>
                <a:sym typeface="Consolas"/>
              </a:rPr>
              <a:t>globl</a:t>
            </a: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swtch</a:t>
            </a:r>
            <a:endParaRPr sz="1600" b="1" i="0" u="none" strike="noStrike" cap="none" dirty="0">
              <a:solidFill>
                <a:schemeClr val="lt1"/>
              </a:solidFill>
              <a:latin typeface="Consolas"/>
              <a:ea typeface="Consolas"/>
              <a:cs typeface="Consolas"/>
              <a:sym typeface="Consolas"/>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err="1">
                <a:solidFill>
                  <a:schemeClr val="lt1"/>
                </a:solidFill>
                <a:latin typeface="Consolas"/>
                <a:ea typeface="Consolas"/>
                <a:cs typeface="Consolas"/>
                <a:sym typeface="Consolas"/>
              </a:rPr>
              <a:t>swtch</a:t>
            </a:r>
            <a:r>
              <a:rPr lang="en-US" sz="1600" b="1" i="0" u="none" strike="noStrike" cap="none" dirty="0">
                <a:solidFill>
                  <a:schemeClr val="lt1"/>
                </a:solidFill>
                <a:latin typeface="Consolas"/>
                <a:ea typeface="Consolas"/>
                <a:cs typeface="Consolas"/>
                <a:sym typeface="Consolas"/>
              </a:rPr>
              <a:t>:</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sd</a:t>
            </a: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ra</a:t>
            </a:r>
            <a:r>
              <a:rPr lang="en-US" sz="1600" b="1" i="0" u="none" strike="noStrike" cap="none" dirty="0">
                <a:solidFill>
                  <a:schemeClr val="lt1"/>
                </a:solidFill>
                <a:latin typeface="Consolas"/>
                <a:ea typeface="Consolas"/>
                <a:cs typeface="Consolas"/>
                <a:sym typeface="Consolas"/>
              </a:rPr>
              <a:t>, 0(a0)</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sd</a:t>
            </a: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sp</a:t>
            </a:r>
            <a:r>
              <a:rPr lang="en-US" sz="1600" b="1" i="0" u="none" strike="noStrike" cap="none" dirty="0">
                <a:solidFill>
                  <a:schemeClr val="lt1"/>
                </a:solidFill>
                <a:latin typeface="Consolas"/>
                <a:ea typeface="Consolas"/>
                <a:cs typeface="Consolas"/>
                <a:sym typeface="Consolas"/>
              </a:rPr>
              <a:t>, 8(a0)</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sd</a:t>
            </a:r>
            <a:r>
              <a:rPr lang="en-US" sz="1600" b="1" i="0" u="none" strike="noStrike" cap="none" dirty="0">
                <a:solidFill>
                  <a:schemeClr val="lt1"/>
                </a:solidFill>
                <a:latin typeface="Consolas"/>
                <a:ea typeface="Consolas"/>
                <a:cs typeface="Consolas"/>
                <a:sym typeface="Consolas"/>
              </a:rPr>
              <a:t> s0, 16(a0)</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ld</a:t>
            </a:r>
            <a:r>
              <a:rPr lang="en-US" sz="1600" b="1" i="0" u="none" strike="noStrike" cap="none" dirty="0">
                <a:solidFill>
                  <a:schemeClr val="lt1"/>
                </a:solidFill>
                <a:latin typeface="Consolas"/>
                <a:ea typeface="Consolas"/>
                <a:cs typeface="Consolas"/>
                <a:sym typeface="Consolas"/>
              </a:rPr>
              <a:t> s10, 96(a1)</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r>
              <a:rPr lang="en-US" sz="1600" b="1" i="0" u="none" strike="noStrike" cap="none" dirty="0" err="1">
                <a:solidFill>
                  <a:schemeClr val="lt1"/>
                </a:solidFill>
                <a:latin typeface="Consolas"/>
                <a:ea typeface="Consolas"/>
                <a:cs typeface="Consolas"/>
                <a:sym typeface="Consolas"/>
              </a:rPr>
              <a:t>ld</a:t>
            </a:r>
            <a:r>
              <a:rPr lang="en-US" sz="1600" b="1" i="0" u="none" strike="noStrike" cap="none" dirty="0">
                <a:solidFill>
                  <a:schemeClr val="lt1"/>
                </a:solidFill>
                <a:latin typeface="Consolas"/>
                <a:ea typeface="Consolas"/>
                <a:cs typeface="Consolas"/>
                <a:sym typeface="Consolas"/>
              </a:rPr>
              <a:t> s11, 104(a1)</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a:t>
            </a:r>
            <a:endParaRPr sz="1600" dirty="0">
              <a:solidFill>
                <a:schemeClr val="lt1"/>
              </a:solidFill>
              <a:latin typeface="Arial"/>
              <a:ea typeface="Arial"/>
              <a:cs typeface="Arial"/>
              <a:sym typeface="Arial"/>
            </a:endParaRPr>
          </a:p>
          <a:p>
            <a:pPr marL="0" marR="0" lvl="0" indent="0" algn="l" rtl="0">
              <a:lnSpc>
                <a:spcPct val="100000"/>
              </a:lnSpc>
              <a:spcBef>
                <a:spcPts val="0"/>
              </a:spcBef>
              <a:spcAft>
                <a:spcPts val="0"/>
              </a:spcAft>
              <a:buClr>
                <a:schemeClr val="lt1"/>
              </a:buClr>
              <a:buSzPts val="1600"/>
              <a:buFont typeface="Consolas"/>
              <a:buNone/>
            </a:pPr>
            <a:r>
              <a:rPr lang="en-US" sz="1600" b="1" i="0" u="none" strike="noStrike" cap="none" dirty="0">
                <a:solidFill>
                  <a:schemeClr val="lt1"/>
                </a:solidFill>
                <a:latin typeface="Consolas"/>
                <a:ea typeface="Consolas"/>
                <a:cs typeface="Consolas"/>
                <a:sym typeface="Consolas"/>
              </a:rPr>
              <a:t>        ret</a:t>
            </a:r>
            <a:endParaRPr dirty="0"/>
          </a:p>
          <a:p>
            <a:pPr marL="0" marR="0" lvl="0" indent="0" algn="l" rtl="0">
              <a:lnSpc>
                <a:spcPct val="100000"/>
              </a:lnSpc>
              <a:spcBef>
                <a:spcPts val="0"/>
              </a:spcBef>
              <a:spcAft>
                <a:spcPts val="0"/>
              </a:spcAft>
              <a:buClr>
                <a:schemeClr val="dk1"/>
              </a:buClr>
              <a:buSzPts val="1600"/>
              <a:buFont typeface="Arial"/>
              <a:buNone/>
            </a:pPr>
            <a:endParaRPr sz="1600" dirty="0">
              <a:solidFill>
                <a:schemeClr val="lt1"/>
              </a:solidFill>
              <a:latin typeface="Arial"/>
              <a:ea typeface="Arial"/>
              <a:cs typeface="Arial"/>
              <a:sym typeface="Arial"/>
            </a:endParaRPr>
          </a:p>
        </p:txBody>
      </p:sp>
      <p:sp>
        <p:nvSpPr>
          <p:cNvPr id="228" name="Google Shape;228;p11"/>
          <p:cNvSpPr txBox="1"/>
          <p:nvPr/>
        </p:nvSpPr>
        <p:spPr>
          <a:xfrm>
            <a:off x="6096000" y="1916990"/>
            <a:ext cx="5257800" cy="4524315"/>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spcBef>
                <a:spcPts val="0"/>
              </a:spcBef>
              <a:spcAft>
                <a:spcPts val="0"/>
              </a:spcAft>
              <a:buNone/>
            </a:pP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struct</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context</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ra</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sp</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b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600" u="none" strike="noStrike" cap="none"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callee-saved</a:t>
            </a:r>
            <a:endParaRPr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s0</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s1</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s2</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s3</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s5</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s6</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s7</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s8</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s9</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s10</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uint64</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s11</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jumping back to the scheduler</a:t>
            </a:r>
            <a:endParaRPr sz="2800" dirty="0"/>
          </a:p>
        </p:txBody>
      </p:sp>
      <p:grpSp>
        <p:nvGrpSpPr>
          <p:cNvPr id="235" name="Google Shape;235;p12"/>
          <p:cNvGrpSpPr/>
          <p:nvPr/>
        </p:nvGrpSpPr>
        <p:grpSpPr>
          <a:xfrm>
            <a:off x="6614450" y="47402"/>
            <a:ext cx="4739350" cy="1697875"/>
            <a:chOff x="3684761" y="5340138"/>
            <a:chExt cx="4739350" cy="1697875"/>
          </a:xfrm>
        </p:grpSpPr>
        <p:sp>
          <p:nvSpPr>
            <p:cNvPr id="236" name="Google Shape;236;p12"/>
            <p:cNvSpPr/>
            <p:nvPr/>
          </p:nvSpPr>
          <p:spPr>
            <a:xfrm>
              <a:off x="3684761" y="5843744"/>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237" name="Google Shape;237;p12"/>
            <p:cNvSpPr/>
            <p:nvPr/>
          </p:nvSpPr>
          <p:spPr>
            <a:xfrm>
              <a:off x="6874638" y="5805107"/>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cxnSp>
          <p:nvCxnSpPr>
            <p:cNvPr id="238" name="Google Shape;238;p12"/>
            <p:cNvCxnSpPr/>
            <p:nvPr/>
          </p:nvCxnSpPr>
          <p:spPr>
            <a:xfrm>
              <a:off x="5234234" y="5908946"/>
              <a:ext cx="1640404" cy="0"/>
            </a:xfrm>
            <a:prstGeom prst="straightConnector1">
              <a:avLst/>
            </a:prstGeom>
            <a:noFill/>
            <a:ln w="38100" cap="flat" cmpd="sng">
              <a:solidFill>
                <a:schemeClr val="dk1"/>
              </a:solidFill>
              <a:prstDash val="solid"/>
              <a:miter lim="800000"/>
              <a:headEnd type="none" w="sm" len="sm"/>
              <a:tailEnd type="triangle" w="med" len="med"/>
            </a:ln>
          </p:spPr>
        </p:cxnSp>
        <p:cxnSp>
          <p:nvCxnSpPr>
            <p:cNvPr id="239" name="Google Shape;239;p12"/>
            <p:cNvCxnSpPr/>
            <p:nvPr/>
          </p:nvCxnSpPr>
          <p:spPr>
            <a:xfrm>
              <a:off x="5234234" y="6392422"/>
              <a:ext cx="1640404" cy="0"/>
            </a:xfrm>
            <a:prstGeom prst="straightConnector1">
              <a:avLst/>
            </a:prstGeom>
            <a:noFill/>
            <a:ln w="38100" cap="flat" cmpd="sng">
              <a:solidFill>
                <a:schemeClr val="dk1"/>
              </a:solidFill>
              <a:prstDash val="solid"/>
              <a:miter lim="800000"/>
              <a:headEnd type="triangle" w="med" len="med"/>
              <a:tailEnd type="none" w="sm" len="sm"/>
            </a:ln>
          </p:spPr>
        </p:cxnSp>
        <p:sp>
          <p:nvSpPr>
            <p:cNvPr id="240" name="Google Shape;240;p12"/>
            <p:cNvSpPr txBox="1"/>
            <p:nvPr/>
          </p:nvSpPr>
          <p:spPr>
            <a:xfrm>
              <a:off x="5463228" y="5340138"/>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schedule</a:t>
              </a:r>
              <a:endParaRPr/>
            </a:p>
          </p:txBody>
        </p:sp>
        <p:sp>
          <p:nvSpPr>
            <p:cNvPr id="241" name="Google Shape;241;p12"/>
            <p:cNvSpPr txBox="1"/>
            <p:nvPr/>
          </p:nvSpPr>
          <p:spPr>
            <a:xfrm>
              <a:off x="5237890" y="6668681"/>
              <a:ext cx="1992886"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timeout/syscall</a:t>
              </a:r>
              <a:endParaRPr/>
            </a:p>
          </p:txBody>
        </p:sp>
      </p:grpSp>
      <p:sp>
        <p:nvSpPr>
          <p:cNvPr id="242" name="Google Shape;242;p12"/>
          <p:cNvSpPr txBox="1"/>
          <p:nvPr/>
        </p:nvSpPr>
        <p:spPr>
          <a:xfrm>
            <a:off x="838200" y="1920958"/>
            <a:ext cx="4887191" cy="2308284"/>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spcBef>
                <a:spcPts val="0"/>
              </a:spcBef>
              <a:spcAft>
                <a:spcPts val="0"/>
              </a:spcAft>
              <a:buNone/>
            </a:pPr>
            <a:r>
              <a:rPr lang="en-US" sz="16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Give up the CPU for one scheduling round.</a:t>
            </a:r>
            <a:endParaRPr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yield</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struct</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proc</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 = </a:t>
            </a:r>
            <a:r>
              <a:rPr lang="en-US" sz="16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myproc</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endParaRPr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457200" marR="0" lvl="1" indent="0" algn="l" rtl="0">
              <a:spcBef>
                <a:spcPts val="0"/>
              </a:spcBef>
              <a:spcAft>
                <a:spcPts val="0"/>
              </a:spcAft>
              <a:buNone/>
            </a:pPr>
            <a:r>
              <a:rPr lang="en-US" sz="16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acquire</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p-&gt;</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RUNNABLE;</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6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release</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6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6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p:txBody>
      </p:sp>
      <p:sp>
        <p:nvSpPr>
          <p:cNvPr id="243" name="Google Shape;243;p12"/>
          <p:cNvSpPr txBox="1"/>
          <p:nvPr/>
        </p:nvSpPr>
        <p:spPr>
          <a:xfrm>
            <a:off x="6096000" y="1916990"/>
            <a:ext cx="5257800" cy="4016444"/>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spcBef>
                <a:spcPts val="0"/>
              </a:spcBef>
              <a:spcAft>
                <a:spcPts val="0"/>
              </a:spcAft>
              <a:buNone/>
            </a:pPr>
            <a:r>
              <a:rPr lang="en-US" sz="15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5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5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a:t>
            </a:r>
            <a:r>
              <a:rPr lang="en-US" sz="15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5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500" u="none" strike="noStrike" cap="none"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intena</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struct</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5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proc</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 = </a:t>
            </a: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myproc</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b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5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if</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holding</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5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 p-&gt;lock"</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if</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mycpu</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()-&gt;</a:t>
            </a:r>
            <a:r>
              <a:rPr lang="en-US" sz="1500" u="none" strike="noStrike" cap="none"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noff</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a:t>
            </a:r>
            <a:r>
              <a:rPr lang="en-US" sz="1500" u="none" strike="noStrike" cap="none"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1</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 locks"</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if</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(p-&gt;</a:t>
            </a:r>
            <a:r>
              <a:rPr lang="en-US" sz="15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RUNNING)</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 running"</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if</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intr_get</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500" u="none" strike="noStrike" cap="none"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 interruptible"</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b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500" u="none" strike="noStrike" cap="none"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intena</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a:t>
            </a: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mycpu</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()-&gt;</a:t>
            </a:r>
            <a:r>
              <a:rPr lang="en-US" sz="1500" u="none" strike="noStrike" cap="none"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intena</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he-IL"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swtch</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5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context</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&amp;</a:t>
            </a: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mycpu</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()-&gt;</a:t>
            </a:r>
            <a:r>
              <a:rPr lang="en-US" sz="1500" u="none" strike="noStrike" cap="none"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context</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457200" marR="0" lvl="1" indent="0" algn="l" rtl="0">
              <a:spcBef>
                <a:spcPts val="0"/>
              </a:spcBef>
              <a:spcAft>
                <a:spcPts val="0"/>
              </a:spcAft>
              <a:buNone/>
            </a:pPr>
            <a:r>
              <a:rPr lang="en-US" sz="1500" u="none" strike="noStrike" cap="none"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mycpu</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()-&gt;</a:t>
            </a:r>
            <a:r>
              <a:rPr lang="en-US" sz="1500" u="none" strike="noStrike" cap="none"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intena</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a:t>
            </a:r>
            <a:r>
              <a:rPr lang="en-US" sz="1500" u="none" strike="noStrike" cap="none"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intena</a:t>
            </a:r>
            <a:r>
              <a:rPr lang="en-US" sz="1500" u="none" strike="noStrike" cap="none"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5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going to sleep</a:t>
            </a:r>
            <a:endParaRPr sz="2800" dirty="0"/>
          </a:p>
        </p:txBody>
      </p:sp>
      <p:sp>
        <p:nvSpPr>
          <p:cNvPr id="250" name="Google Shape;250;p13"/>
          <p:cNvSpPr txBox="1"/>
          <p:nvPr/>
        </p:nvSpPr>
        <p:spPr>
          <a:xfrm>
            <a:off x="933704" y="1562334"/>
            <a:ext cx="4614689" cy="5093702"/>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spcBef>
                <a:spcPts val="0"/>
              </a:spcBef>
              <a:spcAft>
                <a:spcPts val="0"/>
              </a:spcAft>
              <a:buNone/>
            </a:pPr>
            <a:r>
              <a:rPr lang="en-US" sz="13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sleep</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struct</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spinlock</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lk</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struct</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proc</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 = </a:t>
            </a:r>
            <a:r>
              <a:rPr lang="en-US" sz="1300"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myproc</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Must acquire p-&gt;lock to</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change p-&gt;state then call sched.</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Once we hold p-&gt;lock, we can be</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sure we won't miss any wakeup</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(wakeup locks p-&gt;lock),</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so it's okay to release </a:t>
            </a:r>
            <a:r>
              <a:rPr lang="en-US" sz="1300" dirty="0" err="1">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lk</a:t>
            </a: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b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acquire</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3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p>
          <a:p>
            <a:pPr marL="0" marR="0" lvl="0" indent="0" algn="l" rtl="0">
              <a:spcBef>
                <a:spcPts val="0"/>
              </a:spcBef>
              <a:spcAft>
                <a:spcPts val="0"/>
              </a:spcAft>
              <a:buNone/>
            </a:pPr>
            <a:r>
              <a:rPr lang="en-US" sz="13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release</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lk</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lang="en-US"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Go to sleep.</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00"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a:t>
            </a:r>
            <a:r>
              <a:rPr lang="en-US" sz="13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SLEEPING;</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sched</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Tidy up.</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00"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a:t>
            </a:r>
            <a:r>
              <a:rPr lang="en-US" sz="130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0</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0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Reacquire original lock.</a:t>
            </a:r>
            <a:endParaRPr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release</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3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acquire</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lk</a:t>
            </a: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dirty="0">
              <a:latin typeface="Arial" panose="020B0604020202020204" pitchFamily="34" charset="0"/>
              <a:ea typeface="Menlo" panose="020B0609030804020204" pitchFamily="49" charset="0"/>
              <a:cs typeface="Arial" panose="020B0604020202020204" pitchFamily="34" charset="0"/>
            </a:endParaRPr>
          </a:p>
        </p:txBody>
      </p:sp>
      <p:grpSp>
        <p:nvGrpSpPr>
          <p:cNvPr id="251" name="Google Shape;251;p13"/>
          <p:cNvGrpSpPr/>
          <p:nvPr/>
        </p:nvGrpSpPr>
        <p:grpSpPr>
          <a:xfrm>
            <a:off x="5910022" y="2057495"/>
            <a:ext cx="6555995" cy="3559828"/>
            <a:chOff x="2187666" y="7492322"/>
            <a:chExt cx="6555995" cy="3559828"/>
          </a:xfrm>
        </p:grpSpPr>
        <p:sp>
          <p:nvSpPr>
            <p:cNvPr id="252" name="Google Shape;252;p13"/>
            <p:cNvSpPr/>
            <p:nvPr/>
          </p:nvSpPr>
          <p:spPr>
            <a:xfrm>
              <a:off x="3007868" y="7492322"/>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253" name="Google Shape;253;p13"/>
            <p:cNvSpPr/>
            <p:nvPr/>
          </p:nvSpPr>
          <p:spPr>
            <a:xfrm>
              <a:off x="6197745" y="7492322"/>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sp>
          <p:nvSpPr>
            <p:cNvPr id="254" name="Google Shape;254;p13"/>
            <p:cNvSpPr/>
            <p:nvPr/>
          </p:nvSpPr>
          <p:spPr>
            <a:xfrm>
              <a:off x="4602806" y="10308438"/>
              <a:ext cx="1549473" cy="743712"/>
            </a:xfrm>
            <a:prstGeom prst="roundRect">
              <a:avLst>
                <a:gd name="adj" fmla="val 16667"/>
              </a:avLst>
            </a:prstGeom>
            <a:solidFill>
              <a:schemeClr val="dk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SLEEPING</a:t>
              </a:r>
              <a:endParaRPr/>
            </a:p>
          </p:txBody>
        </p:sp>
        <p:cxnSp>
          <p:nvCxnSpPr>
            <p:cNvPr id="255" name="Google Shape;255;p13"/>
            <p:cNvCxnSpPr>
              <a:stCxn id="253" idx="2"/>
            </p:cNvCxnSpPr>
            <p:nvPr/>
          </p:nvCxnSpPr>
          <p:spPr>
            <a:xfrm flipH="1">
              <a:off x="6152282" y="8236034"/>
              <a:ext cx="820200" cy="2120100"/>
            </a:xfrm>
            <a:prstGeom prst="straightConnector1">
              <a:avLst/>
            </a:prstGeom>
            <a:noFill/>
            <a:ln w="76200" cap="flat" cmpd="sng">
              <a:solidFill>
                <a:schemeClr val="dk1"/>
              </a:solidFill>
              <a:prstDash val="solid"/>
              <a:miter lim="800000"/>
              <a:headEnd type="none" w="sm" len="sm"/>
              <a:tailEnd type="triangle" w="med" len="med"/>
            </a:ln>
          </p:spPr>
        </p:cxnSp>
        <p:cxnSp>
          <p:nvCxnSpPr>
            <p:cNvPr id="256" name="Google Shape;256;p13"/>
            <p:cNvCxnSpPr>
              <a:stCxn id="252" idx="2"/>
            </p:cNvCxnSpPr>
            <p:nvPr/>
          </p:nvCxnSpPr>
          <p:spPr>
            <a:xfrm>
              <a:off x="3782605" y="8236034"/>
              <a:ext cx="820200" cy="2120100"/>
            </a:xfrm>
            <a:prstGeom prst="straightConnector1">
              <a:avLst/>
            </a:prstGeom>
            <a:noFill/>
            <a:ln w="38100" cap="flat" cmpd="sng">
              <a:solidFill>
                <a:schemeClr val="dk1"/>
              </a:solidFill>
              <a:prstDash val="solid"/>
              <a:miter lim="800000"/>
              <a:headEnd type="triangle" w="med" len="med"/>
              <a:tailEnd type="none" w="sm" len="sm"/>
            </a:ln>
          </p:spPr>
        </p:cxnSp>
        <p:sp>
          <p:nvSpPr>
            <p:cNvPr id="257" name="Google Shape;257;p13"/>
            <p:cNvSpPr txBox="1"/>
            <p:nvPr/>
          </p:nvSpPr>
          <p:spPr>
            <a:xfrm>
              <a:off x="6750775" y="9010290"/>
              <a:ext cx="19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wait for event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sleep()</a:t>
              </a:r>
              <a:endParaRPr/>
            </a:p>
          </p:txBody>
        </p:sp>
        <p:sp>
          <p:nvSpPr>
            <p:cNvPr id="258" name="Google Shape;258;p13"/>
            <p:cNvSpPr txBox="1"/>
            <p:nvPr/>
          </p:nvSpPr>
          <p:spPr>
            <a:xfrm>
              <a:off x="2187666" y="9010290"/>
              <a:ext cx="19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event occurs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wakeup()</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waking up</a:t>
            </a:r>
            <a:endParaRPr sz="2800" dirty="0"/>
          </a:p>
        </p:txBody>
      </p:sp>
      <p:sp>
        <p:nvSpPr>
          <p:cNvPr id="265" name="Google Shape;265;p14"/>
          <p:cNvSpPr txBox="1"/>
          <p:nvPr/>
        </p:nvSpPr>
        <p:spPr>
          <a:xfrm>
            <a:off x="578224" y="1562334"/>
            <a:ext cx="5178758" cy="3539390"/>
          </a:xfrm>
          <a:prstGeom prst="rect">
            <a:avLst/>
          </a:prstGeom>
          <a:solidFill>
            <a:srgbClr val="242424"/>
          </a:solidFill>
          <a:ln>
            <a:noFill/>
          </a:ln>
        </p:spPr>
        <p:txBody>
          <a:bodyPr spcFirstLastPara="1" wrap="square" lIns="90000" tIns="45700" rIns="91425" bIns="45700" anchor="t" anchorCtr="0">
            <a:spAutoFit/>
          </a:bodyPr>
          <a:lstStyle/>
          <a:p>
            <a:pPr marL="0" marR="0" lvl="0" indent="0" algn="l" rtl="0">
              <a:spcBef>
                <a:spcPts val="0"/>
              </a:spcBef>
              <a:spcAft>
                <a:spcPts val="0"/>
              </a:spcAft>
              <a:buNone/>
            </a:pP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wakeup</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struct</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proc</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for</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 = proc; p &lt; &amp;proc[</a:t>
            </a:r>
            <a:r>
              <a:rPr lang="en-US" sz="16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NPROC</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 {</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if</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 != </a:t>
            </a:r>
            <a:r>
              <a:rPr lang="en-US" sz="1600"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myproc</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acquire</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6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if</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(p-&gt;</a:t>
            </a:r>
            <a:r>
              <a:rPr lang="en-US" sz="16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SLEEPING &amp;&amp;</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600"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a:t>
            </a:r>
            <a:r>
              <a:rPr lang="en-US" sz="160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chan</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6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RUNNABLE;</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release</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60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sz="160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60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600" dirty="0">
              <a:latin typeface="Arial" panose="020B0604020202020204" pitchFamily="34" charset="0"/>
              <a:ea typeface="Menlo" panose="020B0609030804020204" pitchFamily="49" charset="0"/>
              <a:cs typeface="Arial" panose="020B0604020202020204" pitchFamily="34" charset="0"/>
            </a:endParaRPr>
          </a:p>
        </p:txBody>
      </p:sp>
      <p:grpSp>
        <p:nvGrpSpPr>
          <p:cNvPr id="266" name="Google Shape;266;p14"/>
          <p:cNvGrpSpPr/>
          <p:nvPr/>
        </p:nvGrpSpPr>
        <p:grpSpPr>
          <a:xfrm>
            <a:off x="5910022" y="2057495"/>
            <a:ext cx="6555995" cy="3559828"/>
            <a:chOff x="2187666" y="7492322"/>
            <a:chExt cx="6555995" cy="3559828"/>
          </a:xfrm>
        </p:grpSpPr>
        <p:sp>
          <p:nvSpPr>
            <p:cNvPr id="267" name="Google Shape;267;p14"/>
            <p:cNvSpPr/>
            <p:nvPr/>
          </p:nvSpPr>
          <p:spPr>
            <a:xfrm>
              <a:off x="3007868" y="7492322"/>
              <a:ext cx="1549473" cy="743712"/>
            </a:xfrm>
            <a:prstGeom prst="roundRect">
              <a:avLst>
                <a:gd name="adj" fmla="val 16667"/>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RUNNABLE</a:t>
              </a:r>
              <a:endParaRPr/>
            </a:p>
          </p:txBody>
        </p:sp>
        <p:sp>
          <p:nvSpPr>
            <p:cNvPr id="268" name="Google Shape;268;p14"/>
            <p:cNvSpPr/>
            <p:nvPr/>
          </p:nvSpPr>
          <p:spPr>
            <a:xfrm>
              <a:off x="6197745" y="7492322"/>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sp>
          <p:nvSpPr>
            <p:cNvPr id="269" name="Google Shape;269;p14"/>
            <p:cNvSpPr/>
            <p:nvPr/>
          </p:nvSpPr>
          <p:spPr>
            <a:xfrm>
              <a:off x="4602806" y="10308438"/>
              <a:ext cx="1549473" cy="743712"/>
            </a:xfrm>
            <a:prstGeom prst="roundRect">
              <a:avLst>
                <a:gd name="adj" fmla="val 16667"/>
              </a:avLst>
            </a:prstGeom>
            <a:solidFill>
              <a:schemeClr val="dk1"/>
            </a:soli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SLEEPING</a:t>
              </a:r>
              <a:endParaRPr/>
            </a:p>
          </p:txBody>
        </p:sp>
        <p:cxnSp>
          <p:nvCxnSpPr>
            <p:cNvPr id="270" name="Google Shape;270;p14"/>
            <p:cNvCxnSpPr>
              <a:stCxn id="268" idx="2"/>
            </p:cNvCxnSpPr>
            <p:nvPr/>
          </p:nvCxnSpPr>
          <p:spPr>
            <a:xfrm flipH="1">
              <a:off x="6152282" y="8236034"/>
              <a:ext cx="820200" cy="2120100"/>
            </a:xfrm>
            <a:prstGeom prst="straightConnector1">
              <a:avLst/>
            </a:prstGeom>
            <a:noFill/>
            <a:ln w="38100" cap="flat" cmpd="sng">
              <a:solidFill>
                <a:schemeClr val="dk1"/>
              </a:solidFill>
              <a:prstDash val="solid"/>
              <a:miter lim="800000"/>
              <a:headEnd type="none" w="sm" len="sm"/>
              <a:tailEnd type="triangle" w="med" len="med"/>
            </a:ln>
          </p:spPr>
        </p:cxnSp>
        <p:cxnSp>
          <p:nvCxnSpPr>
            <p:cNvPr id="271" name="Google Shape;271;p14"/>
            <p:cNvCxnSpPr>
              <a:stCxn id="267" idx="2"/>
            </p:cNvCxnSpPr>
            <p:nvPr/>
          </p:nvCxnSpPr>
          <p:spPr>
            <a:xfrm>
              <a:off x="3782605" y="8236034"/>
              <a:ext cx="820200" cy="2120100"/>
            </a:xfrm>
            <a:prstGeom prst="straightConnector1">
              <a:avLst/>
            </a:prstGeom>
            <a:noFill/>
            <a:ln w="76200" cap="flat" cmpd="sng">
              <a:solidFill>
                <a:schemeClr val="dk1"/>
              </a:solidFill>
              <a:prstDash val="solid"/>
              <a:miter lim="800000"/>
              <a:headEnd type="triangle" w="med" len="med"/>
              <a:tailEnd type="none" w="sm" len="sm"/>
            </a:ln>
          </p:spPr>
        </p:cxnSp>
        <p:sp>
          <p:nvSpPr>
            <p:cNvPr id="272" name="Google Shape;272;p14"/>
            <p:cNvSpPr txBox="1"/>
            <p:nvPr/>
          </p:nvSpPr>
          <p:spPr>
            <a:xfrm>
              <a:off x="6750775" y="9010290"/>
              <a:ext cx="19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wait for event</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sleep()</a:t>
              </a:r>
              <a:endParaRPr/>
            </a:p>
          </p:txBody>
        </p:sp>
        <p:sp>
          <p:nvSpPr>
            <p:cNvPr id="273" name="Google Shape;273;p14"/>
            <p:cNvSpPr txBox="1"/>
            <p:nvPr/>
          </p:nvSpPr>
          <p:spPr>
            <a:xfrm>
              <a:off x="2187666" y="9010290"/>
              <a:ext cx="199288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event occurs</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wakeup()</a:t>
              </a: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grpSp>
        <p:nvGrpSpPr>
          <p:cNvPr id="279" name="Google Shape;279;p15"/>
          <p:cNvGrpSpPr/>
          <p:nvPr/>
        </p:nvGrpSpPr>
        <p:grpSpPr>
          <a:xfrm>
            <a:off x="6614450" y="88122"/>
            <a:ext cx="4739350" cy="1206598"/>
            <a:chOff x="1615782" y="5696890"/>
            <a:chExt cx="4739350" cy="1206598"/>
          </a:xfrm>
        </p:grpSpPr>
        <p:sp>
          <p:nvSpPr>
            <p:cNvPr id="280" name="Google Shape;280;p15"/>
            <p:cNvSpPr/>
            <p:nvPr/>
          </p:nvSpPr>
          <p:spPr>
            <a:xfrm>
              <a:off x="1615782" y="6159776"/>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sp>
          <p:nvSpPr>
            <p:cNvPr id="281" name="Google Shape;281;p15"/>
            <p:cNvSpPr/>
            <p:nvPr/>
          </p:nvSpPr>
          <p:spPr>
            <a:xfrm>
              <a:off x="4805659" y="6159776"/>
              <a:ext cx="1549473" cy="743712"/>
            </a:xfrm>
            <a:prstGeom prst="roundRect">
              <a:avLst>
                <a:gd name="adj" fmla="val 16667"/>
              </a:avLst>
            </a:prstGeom>
            <a:gradFill>
              <a:gsLst>
                <a:gs pos="0">
                  <a:srgbClr val="AB1212"/>
                </a:gs>
                <a:gs pos="48000">
                  <a:srgbClr val="EA3838"/>
                </a:gs>
                <a:gs pos="100000">
                  <a:srgbClr val="F28484"/>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ZOMBIE</a:t>
              </a:r>
              <a:endParaRPr/>
            </a:p>
          </p:txBody>
        </p:sp>
        <p:cxnSp>
          <p:nvCxnSpPr>
            <p:cNvPr id="282" name="Google Shape;282;p15"/>
            <p:cNvCxnSpPr>
              <a:stCxn id="280" idx="3"/>
              <a:endCxn id="281" idx="1"/>
            </p:cNvCxnSpPr>
            <p:nvPr/>
          </p:nvCxnSpPr>
          <p:spPr>
            <a:xfrm>
              <a:off x="3165255" y="6531632"/>
              <a:ext cx="1640400" cy="0"/>
            </a:xfrm>
            <a:prstGeom prst="straightConnector1">
              <a:avLst/>
            </a:prstGeom>
            <a:noFill/>
            <a:ln w="38100" cap="flat" cmpd="sng">
              <a:solidFill>
                <a:schemeClr val="dk1"/>
              </a:solidFill>
              <a:prstDash val="solid"/>
              <a:miter lim="800000"/>
              <a:headEnd type="none" w="sm" len="sm"/>
              <a:tailEnd type="triangle" w="med" len="med"/>
            </a:ln>
          </p:spPr>
        </p:cxnSp>
        <p:sp>
          <p:nvSpPr>
            <p:cNvPr id="283" name="Google Shape;283;p15"/>
            <p:cNvSpPr txBox="1"/>
            <p:nvPr/>
          </p:nvSpPr>
          <p:spPr>
            <a:xfrm>
              <a:off x="3520233" y="5696890"/>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exit/kill</a:t>
              </a:r>
              <a:endParaRPr/>
            </a:p>
          </p:txBody>
        </p:sp>
      </p:grpSp>
      <p:sp>
        <p:nvSpPr>
          <p:cNvPr id="284" name="Google Shape;284;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3600" dirty="0"/>
              <a:t>final stop</a:t>
            </a:r>
            <a:endParaRPr sz="2800" dirty="0"/>
          </a:p>
        </p:txBody>
      </p:sp>
      <p:sp>
        <p:nvSpPr>
          <p:cNvPr id="285" name="Google Shape;285;p15"/>
          <p:cNvSpPr txBox="1"/>
          <p:nvPr/>
        </p:nvSpPr>
        <p:spPr>
          <a:xfrm>
            <a:off x="949234" y="1690688"/>
            <a:ext cx="10404565" cy="3912944"/>
          </a:xfrm>
          <a:prstGeom prst="rect">
            <a:avLst/>
          </a:prstGeom>
          <a:solidFill>
            <a:srgbClr val="242424"/>
          </a:solidFill>
          <a:ln>
            <a:noFill/>
          </a:ln>
        </p:spPr>
        <p:txBody>
          <a:bodyPr spcFirstLastPara="1" wrap="square" lIns="90000" tIns="45700" rIns="91425" bIns="45700" numCol="2" anchor="t" anchorCtr="0">
            <a:noAutofit/>
          </a:bodyPr>
          <a:lstStyle/>
          <a:p>
            <a:pPr marL="0" marR="0" lvl="0" indent="0" algn="l" rtl="0">
              <a:spcBef>
                <a:spcPts val="0"/>
              </a:spcBef>
              <a:spcAft>
                <a:spcPts val="0"/>
              </a:spcAft>
              <a:buNone/>
            </a:pP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exit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status){</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struct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proc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 = </a:t>
            </a:r>
            <a:r>
              <a:rPr lang="en-US" sz="1350"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myproc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if</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 == </a:t>
            </a:r>
            <a:r>
              <a:rPr lang="en-US" sz="135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initproc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err="1">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init</a:t>
            </a:r>
            <a:r>
              <a:rPr lang="en-US" sz="1350"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exiting"</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Close all open files.</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acquire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a:t>
            </a:r>
            <a:r>
              <a:rPr lang="en-US" sz="135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wait_lock</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Give any children to </a:t>
            </a:r>
            <a:r>
              <a:rPr lang="en-US" sz="1350" dirty="0" err="1">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init.</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reparent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a:t>
            </a:r>
            <a:endParaRPr lang="en-IL"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Parent might be sleeping in wait().</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wakeup</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(p-&gt;</a:t>
            </a:r>
            <a:r>
              <a:rPr lang="en-US" sz="135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parent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acquire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35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50"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xstate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status;</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5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ZOMBIE;</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release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a:t>
            </a:r>
            <a:r>
              <a:rPr lang="en-US" sz="135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wait_lock</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Jump into the scheduler, never to return.</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sched</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"zombie exit"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8">
          <a:extLst>
            <a:ext uri="{FF2B5EF4-FFF2-40B4-BE49-F238E27FC236}">
              <a16:creationId xmlns:a16="http://schemas.microsoft.com/office/drawing/2014/main" id="{9344745C-45F1-1203-BB21-F5EF3A75DB15}"/>
            </a:ext>
          </a:extLst>
        </p:cNvPr>
        <p:cNvGrpSpPr/>
        <p:nvPr/>
      </p:nvGrpSpPr>
      <p:grpSpPr>
        <a:xfrm>
          <a:off x="0" y="0"/>
          <a:ext cx="0" cy="0"/>
          <a:chOff x="0" y="0"/>
          <a:chExt cx="0" cy="0"/>
        </a:xfrm>
      </p:grpSpPr>
      <p:grpSp>
        <p:nvGrpSpPr>
          <p:cNvPr id="279" name="Google Shape;279;p15">
            <a:extLst>
              <a:ext uri="{FF2B5EF4-FFF2-40B4-BE49-F238E27FC236}">
                <a16:creationId xmlns:a16="http://schemas.microsoft.com/office/drawing/2014/main" id="{363A88D3-C2B3-EF3D-2099-72C6714C5673}"/>
              </a:ext>
            </a:extLst>
          </p:cNvPr>
          <p:cNvGrpSpPr/>
          <p:nvPr/>
        </p:nvGrpSpPr>
        <p:grpSpPr>
          <a:xfrm>
            <a:off x="6614450" y="88122"/>
            <a:ext cx="4739350" cy="1206598"/>
            <a:chOff x="1615782" y="5696890"/>
            <a:chExt cx="4739350" cy="1206598"/>
          </a:xfrm>
        </p:grpSpPr>
        <p:sp>
          <p:nvSpPr>
            <p:cNvPr id="280" name="Google Shape;280;p15">
              <a:extLst>
                <a:ext uri="{FF2B5EF4-FFF2-40B4-BE49-F238E27FC236}">
                  <a16:creationId xmlns:a16="http://schemas.microsoft.com/office/drawing/2014/main" id="{0534C4B7-B934-4D1D-A613-E61C2132EFEE}"/>
                </a:ext>
              </a:extLst>
            </p:cNvPr>
            <p:cNvSpPr/>
            <p:nvPr/>
          </p:nvSpPr>
          <p:spPr>
            <a:xfrm>
              <a:off x="1615782" y="6159776"/>
              <a:ext cx="1549473" cy="743712"/>
            </a:xfrm>
            <a:prstGeom prst="roundRect">
              <a:avLst>
                <a:gd name="adj" fmla="val 16667"/>
              </a:avLst>
            </a:prstGeom>
            <a:gradFill>
              <a:gsLst>
                <a:gs pos="0">
                  <a:srgbClr val="346F1E"/>
                </a:gs>
                <a:gs pos="48000">
                  <a:srgbClr val="50AD2F"/>
                </a:gs>
                <a:gs pos="100000">
                  <a:srgbClr val="8CD87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RUNNING</a:t>
              </a:r>
              <a:endParaRPr/>
            </a:p>
          </p:txBody>
        </p:sp>
        <p:sp>
          <p:nvSpPr>
            <p:cNvPr id="281" name="Google Shape;281;p15">
              <a:extLst>
                <a:ext uri="{FF2B5EF4-FFF2-40B4-BE49-F238E27FC236}">
                  <a16:creationId xmlns:a16="http://schemas.microsoft.com/office/drawing/2014/main" id="{72A7FE80-3E4B-D9FB-EB8F-DA052BAF5ECA}"/>
                </a:ext>
              </a:extLst>
            </p:cNvPr>
            <p:cNvSpPr/>
            <p:nvPr/>
          </p:nvSpPr>
          <p:spPr>
            <a:xfrm>
              <a:off x="4805659" y="6159776"/>
              <a:ext cx="1549473" cy="743712"/>
            </a:xfrm>
            <a:prstGeom prst="roundRect">
              <a:avLst>
                <a:gd name="adj" fmla="val 16667"/>
              </a:avLst>
            </a:prstGeom>
            <a:gradFill>
              <a:gsLst>
                <a:gs pos="0">
                  <a:srgbClr val="AB1212"/>
                </a:gs>
                <a:gs pos="48000">
                  <a:srgbClr val="EA3838"/>
                </a:gs>
                <a:gs pos="100000">
                  <a:srgbClr val="F28484"/>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ZOMBIE</a:t>
              </a:r>
              <a:endParaRPr/>
            </a:p>
          </p:txBody>
        </p:sp>
        <p:cxnSp>
          <p:nvCxnSpPr>
            <p:cNvPr id="282" name="Google Shape;282;p15">
              <a:extLst>
                <a:ext uri="{FF2B5EF4-FFF2-40B4-BE49-F238E27FC236}">
                  <a16:creationId xmlns:a16="http://schemas.microsoft.com/office/drawing/2014/main" id="{6282ED4B-5C75-CAA5-2E64-05528F1577A7}"/>
                </a:ext>
              </a:extLst>
            </p:cNvPr>
            <p:cNvCxnSpPr>
              <a:stCxn id="280" idx="3"/>
              <a:endCxn id="281" idx="1"/>
            </p:cNvCxnSpPr>
            <p:nvPr/>
          </p:nvCxnSpPr>
          <p:spPr>
            <a:xfrm>
              <a:off x="3165255" y="6531632"/>
              <a:ext cx="1640400" cy="0"/>
            </a:xfrm>
            <a:prstGeom prst="straightConnector1">
              <a:avLst/>
            </a:prstGeom>
            <a:noFill/>
            <a:ln w="38100" cap="flat" cmpd="sng">
              <a:solidFill>
                <a:schemeClr val="dk1"/>
              </a:solidFill>
              <a:prstDash val="solid"/>
              <a:miter lim="800000"/>
              <a:headEnd type="none" w="sm" len="sm"/>
              <a:tailEnd type="triangle" w="med" len="med"/>
            </a:ln>
          </p:spPr>
        </p:cxnSp>
        <p:sp>
          <p:nvSpPr>
            <p:cNvPr id="283" name="Google Shape;283;p15">
              <a:extLst>
                <a:ext uri="{FF2B5EF4-FFF2-40B4-BE49-F238E27FC236}">
                  <a16:creationId xmlns:a16="http://schemas.microsoft.com/office/drawing/2014/main" id="{8E4F08FB-0FDE-3B6F-1C6A-D3EF95292AF1}"/>
                </a:ext>
              </a:extLst>
            </p:cNvPr>
            <p:cNvSpPr txBox="1"/>
            <p:nvPr/>
          </p:nvSpPr>
          <p:spPr>
            <a:xfrm>
              <a:off x="3520233" y="5696890"/>
              <a:ext cx="1182413"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exit/kill</a:t>
              </a:r>
              <a:endParaRPr/>
            </a:p>
          </p:txBody>
        </p:sp>
      </p:grpSp>
      <p:sp>
        <p:nvSpPr>
          <p:cNvPr id="284" name="Google Shape;284;p15">
            <a:extLst>
              <a:ext uri="{FF2B5EF4-FFF2-40B4-BE49-F238E27FC236}">
                <a16:creationId xmlns:a16="http://schemas.microsoft.com/office/drawing/2014/main" id="{2876A3EF-78C7-8BC2-B540-5063493D8ED0}"/>
              </a:ext>
            </a:extLst>
          </p:cNvPr>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3600" dirty="0"/>
              <a:t>collecting the exit status</a:t>
            </a:r>
            <a:endParaRPr sz="2800" dirty="0"/>
          </a:p>
        </p:txBody>
      </p:sp>
      <p:sp>
        <p:nvSpPr>
          <p:cNvPr id="285" name="Google Shape;285;p15">
            <a:extLst>
              <a:ext uri="{FF2B5EF4-FFF2-40B4-BE49-F238E27FC236}">
                <a16:creationId xmlns:a16="http://schemas.microsoft.com/office/drawing/2014/main" id="{E6C83C17-6A26-FBF2-F417-1376BE1E7903}"/>
              </a:ext>
            </a:extLst>
          </p:cNvPr>
          <p:cNvSpPr txBox="1"/>
          <p:nvPr/>
        </p:nvSpPr>
        <p:spPr>
          <a:xfrm>
            <a:off x="949234" y="1690688"/>
            <a:ext cx="10404565" cy="3912944"/>
          </a:xfrm>
          <a:prstGeom prst="rect">
            <a:avLst/>
          </a:prstGeom>
          <a:solidFill>
            <a:srgbClr val="242424"/>
          </a:solidFill>
          <a:ln>
            <a:noFill/>
          </a:ln>
        </p:spPr>
        <p:txBody>
          <a:bodyPr spcFirstLastPara="1" wrap="square" lIns="90000" tIns="45700" rIns="91425" bIns="45700" numCol="2" anchor="t" anchorCtr="0">
            <a:noAutofit/>
          </a:bodyPr>
          <a:lstStyle/>
          <a:p>
            <a:pPr marL="0" marR="0" lvl="0" indent="0" algn="l" rtl="0">
              <a:spcBef>
                <a:spcPts val="0"/>
              </a:spcBef>
              <a:spcAft>
                <a:spcPts val="0"/>
              </a:spcAft>
              <a:buNone/>
            </a:pP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void</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exit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status){</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struct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A9EC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proc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 = </a:t>
            </a:r>
            <a:r>
              <a:rPr lang="en-US" sz="1350" dirty="0" err="1">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myproc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CC8242"/>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if</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 == </a:t>
            </a:r>
            <a:r>
              <a:rPr lang="en-US" sz="135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initproc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err="1">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init</a:t>
            </a:r>
            <a:r>
              <a:rPr lang="en-US" sz="1350"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exiting"</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Close all open files.</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acquire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a:t>
            </a:r>
            <a:r>
              <a:rPr lang="en-US" sz="135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wait_lock</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Give any children to </a:t>
            </a:r>
            <a:r>
              <a:rPr lang="en-US" sz="1350" dirty="0" err="1">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init.</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reparent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a:t>
            </a:r>
            <a:endParaRPr lang="en-IL"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endPar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Parent might be sleeping in wait().</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wakeup</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(p-&gt;</a:t>
            </a:r>
            <a:r>
              <a:rPr lang="en-US" sz="135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parent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acquire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(&amp;p-&gt;</a:t>
            </a:r>
            <a:r>
              <a:rPr lang="en-US" sz="135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lock</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50" dirty="0" err="1">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xstate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status;</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p-&gt;</a:t>
            </a:r>
            <a:r>
              <a:rPr lang="en-US" sz="1350" dirty="0">
                <a:solidFill>
                  <a:srgbClr val="9E7BB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state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 ZOMBIE;</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release</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(&amp;</a:t>
            </a:r>
            <a:r>
              <a:rPr lang="en-US" sz="1350" dirty="0" err="1">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wait_lock</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b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b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a:t>
            </a:r>
            <a:r>
              <a:rPr lang="en-US" sz="1350" dirty="0">
                <a:solidFill>
                  <a:srgbClr val="707070"/>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Jump into the scheduler, never to return.</a:t>
            </a:r>
            <a:endParaRPr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sched</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FFC66D"/>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    panic</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r>
              <a:rPr lang="en-US" sz="1350" dirty="0">
                <a:solidFill>
                  <a:srgbClr val="6A8759"/>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"zombie exit"</a:t>
            </a: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a:p>
            <a:pPr marL="0" marR="0" lvl="0" indent="0" algn="l" rtl="0">
              <a:spcBef>
                <a:spcPts val="0"/>
              </a:spcBef>
              <a:spcAft>
                <a:spcPts val="0"/>
              </a:spcAft>
              <a:buNone/>
            </a:pPr>
            <a:r>
              <a:rPr lang="en-US" sz="1350" dirty="0">
                <a:solidFill>
                  <a:srgbClr val="CCCCCC"/>
                </a:solidFill>
                <a:highlight>
                  <a:srgbClr val="242424"/>
                </a:highlight>
                <a:latin typeface="Arial" panose="020B0604020202020204" pitchFamily="34" charset="0"/>
                <a:ea typeface="Menlo" panose="020B0609030804020204" pitchFamily="49" charset="0"/>
                <a:cs typeface="Arial" panose="020B0604020202020204" pitchFamily="34" charset="0"/>
                <a:sym typeface="Arial"/>
              </a:rPr>
              <a:t>}</a:t>
            </a:r>
            <a:endParaRPr sz="1350" dirty="0">
              <a:latin typeface="Arial" panose="020B0604020202020204" pitchFamily="34" charset="0"/>
              <a:ea typeface="Menlo" panose="020B0609030804020204" pitchFamily="49" charset="0"/>
              <a:cs typeface="Arial" panose="020B0604020202020204" pitchFamily="34" charset="0"/>
            </a:endParaRPr>
          </a:p>
        </p:txBody>
      </p:sp>
    </p:spTree>
    <p:extLst>
      <p:ext uri="{BB962C8B-B14F-4D97-AF65-F5344CB8AC3E}">
        <p14:creationId xmlns:p14="http://schemas.microsoft.com/office/powerpoint/2010/main" val="1995226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600"/>
              <a:buFont typeface="Play"/>
              <a:buNone/>
            </a:pPr>
            <a:r>
              <a:rPr lang="en-US" sz="3600" dirty="0"/>
              <a:t>Process model</a:t>
            </a:r>
            <a:br>
              <a:rPr lang="en-US" sz="3600" dirty="0"/>
            </a:br>
            <a:r>
              <a:rPr lang="en-US" sz="2800" dirty="0"/>
              <a:t>overall flow from CPU perspective</a:t>
            </a:r>
            <a:endParaRPr sz="2800" dirty="0"/>
          </a:p>
        </p:txBody>
      </p:sp>
      <p:sp>
        <p:nvSpPr>
          <p:cNvPr id="292" name="Google Shape;292;p16"/>
          <p:cNvSpPr/>
          <p:nvPr/>
        </p:nvSpPr>
        <p:spPr>
          <a:xfrm>
            <a:off x="1977185" y="3559737"/>
            <a:ext cx="1984664" cy="1922318"/>
          </a:xfrm>
          <a:prstGeom prst="ellipse">
            <a:avLst/>
          </a:prstGeom>
          <a:gradFill>
            <a:gsLst>
              <a:gs pos="0">
                <a:srgbClr val="0E4057"/>
              </a:gs>
              <a:gs pos="48000">
                <a:srgbClr val="16668B"/>
              </a:gs>
              <a:gs pos="100000">
                <a:srgbClr val="43AFE2"/>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scheduler()</a:t>
            </a:r>
            <a:endParaRPr/>
          </a:p>
        </p:txBody>
      </p:sp>
      <p:sp>
        <p:nvSpPr>
          <p:cNvPr id="293" name="Google Shape;293;p16"/>
          <p:cNvSpPr/>
          <p:nvPr/>
        </p:nvSpPr>
        <p:spPr>
          <a:xfrm>
            <a:off x="8256760" y="3793533"/>
            <a:ext cx="1454726" cy="1454726"/>
          </a:xfrm>
          <a:prstGeom prst="ellipse">
            <a:avLst/>
          </a:prstGeom>
          <a:gradFill>
            <a:gsLst>
              <a:gs pos="0">
                <a:srgbClr val="104718"/>
              </a:gs>
              <a:gs pos="48000">
                <a:srgbClr val="1A7326"/>
              </a:gs>
              <a:gs pos="100000">
                <a:srgbClr val="43D658"/>
              </a:gs>
            </a:gsLst>
            <a:lin ang="16200000" scaled="0"/>
          </a:gradFill>
          <a:ln w="19050" cap="flat" cmpd="sng">
            <a:solidFill>
              <a:srgbClr val="082836"/>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Arial"/>
                <a:ea typeface="Arial"/>
                <a:cs typeface="Arial"/>
                <a:sym typeface="Arial"/>
              </a:rPr>
              <a:t>process</a:t>
            </a:r>
            <a:endParaRPr/>
          </a:p>
        </p:txBody>
      </p:sp>
      <p:cxnSp>
        <p:nvCxnSpPr>
          <p:cNvPr id="294" name="Google Shape;294;p16"/>
          <p:cNvCxnSpPr>
            <a:stCxn id="292" idx="6"/>
            <a:endCxn id="293" idx="2"/>
          </p:cNvCxnSpPr>
          <p:nvPr/>
        </p:nvCxnSpPr>
        <p:spPr>
          <a:xfrm>
            <a:off x="3961849" y="4520896"/>
            <a:ext cx="4294800" cy="0"/>
          </a:xfrm>
          <a:prstGeom prst="straightConnector1">
            <a:avLst/>
          </a:prstGeom>
          <a:noFill/>
          <a:ln w="38100" cap="flat" cmpd="sng">
            <a:solidFill>
              <a:schemeClr val="dk1"/>
            </a:solidFill>
            <a:prstDash val="solid"/>
            <a:miter lim="800000"/>
            <a:headEnd type="none" w="sm" len="sm"/>
            <a:tailEnd type="triangle" w="med" len="med"/>
          </a:ln>
        </p:spPr>
      </p:cxnSp>
      <p:sp>
        <p:nvSpPr>
          <p:cNvPr id="295" name="Google Shape;295;p16"/>
          <p:cNvSpPr txBox="1"/>
          <p:nvPr/>
        </p:nvSpPr>
        <p:spPr>
          <a:xfrm>
            <a:off x="4158714" y="4630000"/>
            <a:ext cx="429491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err="1">
                <a:solidFill>
                  <a:schemeClr val="dk1"/>
                </a:solidFill>
                <a:latin typeface="Arial"/>
                <a:ea typeface="Arial"/>
                <a:cs typeface="Arial"/>
                <a:sym typeface="Arial"/>
              </a:rPr>
              <a:t>swtch</a:t>
            </a:r>
            <a:r>
              <a:rPr lang="en-US" sz="1800" dirty="0">
                <a:solidFill>
                  <a:schemeClr val="dk1"/>
                </a:solidFill>
                <a:latin typeface="Arial"/>
                <a:ea typeface="Arial"/>
                <a:cs typeface="Arial"/>
                <a:sym typeface="Arial"/>
              </a:rPr>
              <a:t>() / restore </a:t>
            </a:r>
            <a:r>
              <a:rPr lang="en-US" sz="1800" dirty="0" err="1">
                <a:solidFill>
                  <a:schemeClr val="dk1"/>
                </a:solidFill>
                <a:latin typeface="Arial"/>
                <a:ea typeface="Arial"/>
                <a:cs typeface="Arial"/>
                <a:sym typeface="Arial"/>
              </a:rPr>
              <a:t>userspace</a:t>
            </a:r>
            <a:r>
              <a:rPr lang="en-US" sz="1800" dirty="0">
                <a:solidFill>
                  <a:schemeClr val="dk1"/>
                </a:solidFill>
                <a:latin typeface="Arial"/>
                <a:ea typeface="Arial"/>
                <a:cs typeface="Arial"/>
                <a:sym typeface="Arial"/>
              </a:rPr>
              <a:t> protection</a:t>
            </a:r>
            <a:endParaRPr dirty="0"/>
          </a:p>
        </p:txBody>
      </p:sp>
      <p:cxnSp>
        <p:nvCxnSpPr>
          <p:cNvPr id="296" name="Google Shape;296;p16"/>
          <p:cNvCxnSpPr>
            <a:stCxn id="293" idx="1"/>
          </p:cNvCxnSpPr>
          <p:nvPr/>
        </p:nvCxnSpPr>
        <p:spPr>
          <a:xfrm rot="10800000">
            <a:off x="7221200" y="2707573"/>
            <a:ext cx="1248600" cy="1299000"/>
          </a:xfrm>
          <a:prstGeom prst="straightConnector1">
            <a:avLst/>
          </a:prstGeom>
          <a:noFill/>
          <a:ln w="38100" cap="flat" cmpd="sng">
            <a:solidFill>
              <a:schemeClr val="dk1"/>
            </a:solidFill>
            <a:prstDash val="solid"/>
            <a:miter lim="800000"/>
            <a:headEnd type="none" w="sm" len="sm"/>
            <a:tailEnd type="triangle" w="med" len="med"/>
          </a:ln>
        </p:spPr>
      </p:cxnSp>
      <p:cxnSp>
        <p:nvCxnSpPr>
          <p:cNvPr id="297" name="Google Shape;297;p16"/>
          <p:cNvCxnSpPr/>
          <p:nvPr/>
        </p:nvCxnSpPr>
        <p:spPr>
          <a:xfrm rot="10800000">
            <a:off x="4689211" y="2728464"/>
            <a:ext cx="2545774" cy="0"/>
          </a:xfrm>
          <a:prstGeom prst="straightConnector1">
            <a:avLst/>
          </a:prstGeom>
          <a:noFill/>
          <a:ln w="38100" cap="flat" cmpd="sng">
            <a:solidFill>
              <a:schemeClr val="dk1"/>
            </a:solidFill>
            <a:prstDash val="solid"/>
            <a:miter lim="800000"/>
            <a:headEnd type="none" w="sm" len="sm"/>
            <a:tailEnd type="triangle" w="med" len="med"/>
          </a:ln>
        </p:spPr>
      </p:cxnSp>
      <p:cxnSp>
        <p:nvCxnSpPr>
          <p:cNvPr id="298" name="Google Shape;298;p16"/>
          <p:cNvCxnSpPr/>
          <p:nvPr/>
        </p:nvCxnSpPr>
        <p:spPr>
          <a:xfrm flipH="1">
            <a:off x="3679366" y="2732174"/>
            <a:ext cx="1028401" cy="1133572"/>
          </a:xfrm>
          <a:prstGeom prst="straightConnector1">
            <a:avLst/>
          </a:prstGeom>
          <a:noFill/>
          <a:ln w="38100" cap="flat" cmpd="sng">
            <a:solidFill>
              <a:schemeClr val="dk1"/>
            </a:solidFill>
            <a:prstDash val="solid"/>
            <a:miter lim="800000"/>
            <a:headEnd type="none" w="sm" len="sm"/>
            <a:tailEnd type="triangle" w="med" len="med"/>
          </a:ln>
        </p:spPr>
      </p:cxnSp>
      <p:sp>
        <p:nvSpPr>
          <p:cNvPr id="299" name="Google Shape;299;p16"/>
          <p:cNvSpPr txBox="1"/>
          <p:nvPr/>
        </p:nvSpPr>
        <p:spPr>
          <a:xfrm>
            <a:off x="8093928" y="2815312"/>
            <a:ext cx="2263366"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syscall or</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interrupt</a:t>
            </a:r>
            <a:endParaRPr/>
          </a:p>
        </p:txBody>
      </p:sp>
      <p:sp>
        <p:nvSpPr>
          <p:cNvPr id="300" name="Google Shape;300;p16"/>
          <p:cNvSpPr txBox="1"/>
          <p:nvPr/>
        </p:nvSpPr>
        <p:spPr>
          <a:xfrm>
            <a:off x="5551658" y="2303071"/>
            <a:ext cx="29476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sched()</a:t>
            </a:r>
            <a:endParaRPr/>
          </a:p>
        </p:txBody>
      </p:sp>
      <p:sp>
        <p:nvSpPr>
          <p:cNvPr id="301" name="Google Shape;301;p16"/>
          <p:cNvSpPr txBox="1"/>
          <p:nvPr/>
        </p:nvSpPr>
        <p:spPr>
          <a:xfrm>
            <a:off x="3272156" y="2953811"/>
            <a:ext cx="294768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swtch()</a:t>
            </a:r>
            <a:endParaRPr/>
          </a:p>
        </p:txBody>
      </p:sp>
      <p:pic>
        <p:nvPicPr>
          <p:cNvPr id="302" name="Google Shape;302;p16"/>
          <p:cNvPicPr preferRelativeResize="0"/>
          <p:nvPr/>
        </p:nvPicPr>
        <p:blipFill rotWithShape="1">
          <a:blip r:embed="rId3">
            <a:alphaModFix/>
          </a:blip>
          <a:srcRect/>
          <a:stretch/>
        </p:blipFill>
        <p:spPr>
          <a:xfrm>
            <a:off x="5228720" y="2884710"/>
            <a:ext cx="1543050" cy="1543050"/>
          </a:xfrm>
          <a:prstGeom prst="rect">
            <a:avLst/>
          </a:prstGeom>
          <a:noFill/>
          <a:ln>
            <a:noFill/>
          </a:ln>
        </p:spPr>
      </p:pic>
      <p:pic>
        <p:nvPicPr>
          <p:cNvPr id="303" name="Google Shape;303;p16" descr="C:\Users\Zoar\Downloads\imaegs\cpu.png"/>
          <p:cNvPicPr preferRelativeResize="0"/>
          <p:nvPr/>
        </p:nvPicPr>
        <p:blipFill rotWithShape="1">
          <a:blip r:embed="rId4">
            <a:alphaModFix/>
          </a:blip>
          <a:srcRect/>
          <a:stretch/>
        </p:blipFill>
        <p:spPr>
          <a:xfrm>
            <a:off x="5309220" y="5264227"/>
            <a:ext cx="1382050" cy="1382050"/>
          </a:xfrm>
          <a:prstGeom prst="rect">
            <a:avLst/>
          </a:prstGeom>
          <a:noFill/>
          <a:ln>
            <a:noFill/>
          </a:ln>
        </p:spPr>
      </p:pic>
      <p:sp>
        <p:nvSpPr>
          <p:cNvPr id="304" name="Google Shape;304;p16"/>
          <p:cNvSpPr/>
          <p:nvPr/>
        </p:nvSpPr>
        <p:spPr>
          <a:xfrm>
            <a:off x="6426201" y="6163734"/>
            <a:ext cx="321732" cy="321732"/>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05" name="Google Shape;305;p16" descr="Single gear with solid fill"/>
          <p:cNvPicPr preferRelativeResize="0"/>
          <p:nvPr/>
        </p:nvPicPr>
        <p:blipFill rotWithShape="1">
          <a:blip r:embed="rId5">
            <a:alphaModFix/>
          </a:blip>
          <a:srcRect/>
          <a:stretch/>
        </p:blipFill>
        <p:spPr>
          <a:xfrm>
            <a:off x="6219843" y="5955252"/>
            <a:ext cx="737860" cy="737860"/>
          </a:xfrm>
          <a:prstGeom prst="rect">
            <a:avLst/>
          </a:prstGeom>
          <a:noFill/>
          <a:ln>
            <a:noFill/>
          </a:ln>
        </p:spPr>
      </p:pic>
      <p:cxnSp>
        <p:nvCxnSpPr>
          <p:cNvPr id="306" name="Google Shape;306;p16"/>
          <p:cNvCxnSpPr>
            <a:endCxn id="292" idx="1"/>
          </p:cNvCxnSpPr>
          <p:nvPr/>
        </p:nvCxnSpPr>
        <p:spPr>
          <a:xfrm>
            <a:off x="1493232" y="3036954"/>
            <a:ext cx="774600" cy="804300"/>
          </a:xfrm>
          <a:prstGeom prst="straightConnector1">
            <a:avLst/>
          </a:prstGeom>
          <a:noFill/>
          <a:ln w="38100" cap="flat" cmpd="sng">
            <a:solidFill>
              <a:schemeClr val="dk1"/>
            </a:solidFill>
            <a:prstDash val="solid"/>
            <a:miter lim="800000"/>
            <a:headEnd type="none" w="sm" len="sm"/>
            <a:tailEnd type="triangle" w="med" len="med"/>
          </a:ln>
        </p:spPr>
      </p:cxnSp>
      <p:sp>
        <p:nvSpPr>
          <p:cNvPr id="307" name="Google Shape;307;p16"/>
          <p:cNvSpPr txBox="1"/>
          <p:nvPr/>
        </p:nvSpPr>
        <p:spPr>
          <a:xfrm>
            <a:off x="1880536" y="2837079"/>
            <a:ext cx="936589"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Arial"/>
                <a:ea typeface="Arial"/>
                <a:cs typeface="Arial"/>
                <a:sym typeface="Arial"/>
              </a:rPr>
              <a:t>kernel</a:t>
            </a:r>
            <a:endParaRPr/>
          </a:p>
          <a:p>
            <a:pPr marL="0" marR="0" lvl="0" indent="0" algn="l" rtl="0">
              <a:spcBef>
                <a:spcPts val="0"/>
              </a:spcBef>
              <a:spcAft>
                <a:spcPts val="0"/>
              </a:spcAft>
              <a:buNone/>
            </a:pPr>
            <a:r>
              <a:rPr lang="en-US" sz="1800">
                <a:solidFill>
                  <a:schemeClr val="dk1"/>
                </a:solidFill>
                <a:latin typeface="Arial"/>
                <a:ea typeface="Arial"/>
                <a:cs typeface="Arial"/>
                <a:sym typeface="Arial"/>
              </a:rPr>
              <a:t>main()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1"/>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Two types of scheduling</a:t>
            </a:r>
          </a:p>
        </p:txBody>
      </p:sp>
      <p:sp>
        <p:nvSpPr>
          <p:cNvPr id="352" name="Google Shape;352;p11"/>
          <p:cNvSpPr txBox="1">
            <a:spLocks noGrp="1"/>
          </p:cNvSpPr>
          <p:nvPr>
            <p:ph type="body" idx="1"/>
          </p:nvPr>
        </p:nvSpPr>
        <p:spPr>
          <a:xfrm>
            <a:off x="838200" y="1825625"/>
            <a:ext cx="10515600" cy="4351338"/>
          </a:xfrm>
          <a:noFill/>
          <a:ln>
            <a:noFill/>
          </a:ln>
        </p:spPr>
        <p:txBody>
          <a:bodyPr spcFirstLastPara="1" wrap="square" lIns="91425" tIns="45700" rIns="91425" bIns="45700" anchor="t" anchorCtr="0">
            <a:noAutofit/>
          </a:bodyPr>
          <a:lstStyle/>
          <a:p>
            <a:r>
              <a:rPr lang="en-US" b="1" dirty="0"/>
              <a:t>Preemptive </a:t>
            </a:r>
            <a:r>
              <a:rPr lang="en-US" b="1" dirty="0">
                <a:sym typeface="Calibri"/>
              </a:rPr>
              <a:t>scheduling</a:t>
            </a:r>
            <a:br>
              <a:rPr lang="en-US" dirty="0">
                <a:sym typeface="Calibri"/>
              </a:rPr>
            </a:br>
            <a:r>
              <a:rPr lang="en-US" dirty="0">
                <a:sym typeface="Calibri"/>
              </a:rPr>
              <a:t>	A process may be rescheduled </a:t>
            </a:r>
            <a:r>
              <a:rPr lang="en-US" dirty="0"/>
              <a:t>by the OS </a:t>
            </a:r>
            <a:r>
              <a:rPr lang="en-US" b="1" dirty="0"/>
              <a:t>at any time</a:t>
            </a:r>
            <a:r>
              <a:rPr lang="en-US" dirty="0"/>
              <a:t>.</a:t>
            </a:r>
          </a:p>
          <a:p>
            <a:pPr marL="114300" indent="0">
              <a:buNone/>
            </a:pPr>
            <a:endParaRPr lang="en-US" dirty="0"/>
          </a:p>
          <a:p>
            <a:r>
              <a:rPr lang="en-US" b="1" dirty="0"/>
              <a:t>Non-preemptive</a:t>
            </a:r>
            <a:r>
              <a:rPr lang="en-US" b="1" dirty="0">
                <a:sym typeface="Calibri"/>
              </a:rPr>
              <a:t> scheduling (also called cooperative)</a:t>
            </a:r>
            <a:br>
              <a:rPr lang="en-US" b="1" dirty="0">
                <a:sym typeface="Calibri"/>
              </a:rPr>
            </a:br>
            <a:r>
              <a:rPr lang="en-US" b="1" dirty="0">
                <a:sym typeface="Calibri"/>
              </a:rPr>
              <a:t>	</a:t>
            </a:r>
            <a:r>
              <a:rPr lang="en-US" dirty="0">
                <a:sym typeface="Calibri"/>
              </a:rPr>
              <a:t>Process switching can only be done by the process 	</a:t>
            </a:r>
            <a:r>
              <a:rPr lang="en-US" b="1" dirty="0">
                <a:sym typeface="Calibri"/>
              </a:rPr>
              <a:t>yielding</a:t>
            </a:r>
            <a:r>
              <a:rPr lang="en-US" dirty="0">
                <a:sym typeface="Calibri"/>
              </a:rPr>
              <a:t> control of the CPU.</a:t>
            </a:r>
          </a:p>
        </p:txBody>
      </p:sp>
      <p:sp>
        <p:nvSpPr>
          <p:cNvPr id="353" name="Google Shape;353;p11"/>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fld id="{00000000-1234-1234-1234-123412341234}" type="slidenum">
              <a:rPr lang="en-US">
                <a:sym typeface="Calibri"/>
              </a:rPr>
              <a:pPr/>
              <a:t>18</a:t>
            </a:fld>
            <a:endParaRPr lang="en-US">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12"/>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Quality criteria measures</a:t>
            </a:r>
          </a:p>
        </p:txBody>
      </p:sp>
      <p:sp>
        <p:nvSpPr>
          <p:cNvPr id="359" name="Google Shape;359;p12"/>
          <p:cNvSpPr txBox="1">
            <a:spLocks noGrp="1"/>
          </p:cNvSpPr>
          <p:nvPr>
            <p:ph type="body" idx="1"/>
          </p:nvPr>
        </p:nvSpPr>
        <p:spPr>
          <a:xfrm>
            <a:off x="838200" y="1825625"/>
            <a:ext cx="10515600" cy="4351338"/>
          </a:xfrm>
          <a:noFill/>
          <a:ln>
            <a:noFill/>
          </a:ln>
        </p:spPr>
        <p:txBody>
          <a:bodyPr spcFirstLastPara="1" wrap="square" lIns="91425" tIns="45700" rIns="91425" bIns="45700" anchor="t" anchorCtr="0">
            <a:noAutofit/>
          </a:bodyPr>
          <a:lstStyle/>
          <a:p>
            <a:r>
              <a:rPr lang="en-US" sz="2400" b="1" dirty="0">
                <a:sym typeface="Calibri"/>
              </a:rPr>
              <a:t>Throughput</a:t>
            </a:r>
          </a:p>
          <a:p>
            <a:pPr marL="114300" indent="0">
              <a:buNone/>
            </a:pPr>
            <a:r>
              <a:rPr lang="en-US" sz="2400" b="1" dirty="0">
                <a:sym typeface="Calibri"/>
              </a:rPr>
              <a:t>	</a:t>
            </a:r>
            <a:r>
              <a:rPr lang="en-US" sz="2400" dirty="0">
                <a:sym typeface="Calibri"/>
              </a:rPr>
              <a:t>Number of completed processes per time unit.</a:t>
            </a:r>
            <a:endParaRPr lang="en-US" sz="2400" dirty="0"/>
          </a:p>
          <a:p>
            <a:r>
              <a:rPr lang="en-US" sz="2400" b="1" dirty="0">
                <a:sym typeface="Calibri"/>
              </a:rPr>
              <a:t>Turnaround time</a:t>
            </a:r>
          </a:p>
          <a:p>
            <a:pPr marL="114300" indent="0">
              <a:buNone/>
            </a:pPr>
            <a:r>
              <a:rPr lang="en-US" sz="2400" dirty="0">
                <a:sym typeface="Calibri"/>
              </a:rPr>
              <a:t>	Time between process entering the system and its completion.</a:t>
            </a:r>
            <a:endParaRPr lang="en-US" sz="2400" dirty="0"/>
          </a:p>
          <a:p>
            <a:r>
              <a:rPr lang="en-US" sz="2400" b="1" dirty="0">
                <a:sym typeface="Calibri"/>
              </a:rPr>
              <a:t>Waiting time</a:t>
            </a:r>
          </a:p>
          <a:p>
            <a:pPr marL="571500" lvl="1" indent="0">
              <a:buNone/>
            </a:pPr>
            <a:r>
              <a:rPr lang="en-US" b="1" dirty="0">
                <a:sym typeface="Calibri"/>
              </a:rPr>
              <a:t>	</a:t>
            </a:r>
            <a:r>
              <a:rPr lang="en-US" dirty="0">
                <a:sym typeface="Calibri"/>
              </a:rPr>
              <a:t>Total time a process was in the RUNNABLE state.</a:t>
            </a:r>
            <a:endParaRPr lang="en-US" dirty="0"/>
          </a:p>
          <a:p>
            <a:r>
              <a:rPr lang="en-US" sz="2400" b="1" dirty="0">
                <a:sym typeface="Calibri"/>
              </a:rPr>
              <a:t>Response time</a:t>
            </a:r>
          </a:p>
          <a:p>
            <a:pPr marL="1028700" lvl="2" indent="0">
              <a:buNone/>
            </a:pPr>
            <a:r>
              <a:rPr lang="en-US" sz="2400" dirty="0">
                <a:sym typeface="Calibri"/>
              </a:rPr>
              <a:t>Time between submitting a command and first </a:t>
            </a:r>
            <a:r>
              <a:rPr lang="en-US" sz="2400" dirty="0"/>
              <a:t>output</a:t>
            </a:r>
            <a:r>
              <a:rPr lang="en-US" sz="2400" dirty="0">
                <a:sym typeface="Calibri"/>
              </a:rPr>
              <a:t>.</a:t>
            </a:r>
            <a:endParaRPr lang="en-US" sz="2400" dirty="0"/>
          </a:p>
          <a:p>
            <a:r>
              <a:rPr lang="en-US" sz="2400" b="1" dirty="0">
                <a:sym typeface="Calibri"/>
              </a:rPr>
              <a:t>CPU utilization</a:t>
            </a:r>
          </a:p>
          <a:p>
            <a:pPr marL="571500" lvl="1" indent="0">
              <a:buNone/>
            </a:pPr>
            <a:r>
              <a:rPr lang="en-US" b="1" dirty="0">
                <a:sym typeface="Calibri"/>
              </a:rPr>
              <a:t>	</a:t>
            </a:r>
            <a:r>
              <a:rPr lang="en-US" dirty="0">
                <a:sym typeface="Calibri"/>
              </a:rPr>
              <a:t>Percentage of time where </a:t>
            </a:r>
            <a:r>
              <a:rPr lang="en-US" dirty="0"/>
              <a:t>CPU serving processes (vs system code)</a:t>
            </a:r>
            <a:r>
              <a:rPr lang="en-US" dirty="0">
                <a:sym typeface="Calibri"/>
              </a:rPr>
              <a:t>.</a:t>
            </a:r>
          </a:p>
        </p:txBody>
      </p:sp>
      <p:sp>
        <p:nvSpPr>
          <p:cNvPr id="360" name="Google Shape;360;p12"/>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fld id="{00000000-1234-1234-1234-123412341234}" type="slidenum">
              <a:rPr lang="en-US">
                <a:sym typeface="Calibri"/>
              </a:rPr>
              <a:pPr/>
              <a:t>19</a:t>
            </a:fld>
            <a:endParaRPr lang="en-US">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13"/>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Scheduling algorithms</a:t>
            </a:r>
          </a:p>
        </p:txBody>
      </p:sp>
      <p:sp>
        <p:nvSpPr>
          <p:cNvPr id="366" name="Google Shape;366;p13"/>
          <p:cNvSpPr txBox="1">
            <a:spLocks noGrp="1"/>
          </p:cNvSpPr>
          <p:nvPr>
            <p:ph type="body" idx="1"/>
          </p:nvPr>
        </p:nvSpPr>
        <p:spPr>
          <a:xfrm>
            <a:off x="838200" y="1825625"/>
            <a:ext cx="10515600" cy="4351338"/>
          </a:xfrm>
          <a:noFill/>
          <a:ln>
            <a:noFill/>
          </a:ln>
        </p:spPr>
        <p:txBody>
          <a:bodyPr spcFirstLastPara="1" wrap="square" lIns="91425" tIns="45700" rIns="91425" bIns="45700" anchor="t" anchorCtr="0">
            <a:noAutofit/>
          </a:bodyPr>
          <a:lstStyle/>
          <a:p>
            <a:r>
              <a:rPr lang="en-US" dirty="0"/>
              <a:t>1</a:t>
            </a:r>
            <a:r>
              <a:rPr lang="en-US" dirty="0">
                <a:sym typeface="Calibri"/>
              </a:rPr>
              <a:t>. FCFS(First-Come-First-Served)</a:t>
            </a:r>
            <a:br>
              <a:rPr lang="en-US" dirty="0">
                <a:sym typeface="Calibri"/>
              </a:rPr>
            </a:br>
            <a:r>
              <a:rPr lang="en-US" dirty="0">
                <a:sym typeface="Calibri"/>
              </a:rPr>
              <a:t>	Non preemptive</a:t>
            </a:r>
          </a:p>
          <a:p>
            <a:pPr marL="571500" lvl="1" indent="0">
              <a:buNone/>
            </a:pPr>
            <a:r>
              <a:rPr lang="en-US" sz="2800" dirty="0">
                <a:sym typeface="Calibri"/>
              </a:rPr>
              <a:t>	</a:t>
            </a:r>
            <a:r>
              <a:rPr lang="en-US" sz="2800" dirty="0"/>
              <a:t>The Convoy Effect</a:t>
            </a:r>
          </a:p>
          <a:p>
            <a:endParaRPr lang="en-US" dirty="0">
              <a:sym typeface="Calibri"/>
            </a:endParaRPr>
          </a:p>
          <a:p>
            <a:endParaRPr lang="en-US" dirty="0"/>
          </a:p>
          <a:p>
            <a:pPr marL="114300" indent="0">
              <a:buNone/>
            </a:pPr>
            <a:endParaRPr lang="en-US" dirty="0"/>
          </a:p>
          <a:p>
            <a:endParaRPr lang="en-US" dirty="0">
              <a:sym typeface="Calibri"/>
            </a:endParaRPr>
          </a:p>
          <a:p>
            <a:r>
              <a:rPr lang="en-US" dirty="0"/>
              <a:t>In the worst case: high average turnaround time, as well as low throughput and high average waiting time and response time. </a:t>
            </a:r>
          </a:p>
        </p:txBody>
      </p:sp>
      <p:sp>
        <p:nvSpPr>
          <p:cNvPr id="367" name="Google Shape;367;p13"/>
          <p:cNvSpPr/>
          <p:nvPr/>
        </p:nvSpPr>
        <p:spPr>
          <a:xfrm>
            <a:off x="2160106" y="3736100"/>
            <a:ext cx="5592417" cy="57647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lgn="ctr"/>
            <a:r>
              <a:rPr lang="en-US">
                <a:solidFill>
                  <a:schemeClr val="lt1"/>
                </a:solidFill>
              </a:rPr>
              <a:t>P1</a:t>
            </a:r>
            <a:endParaRPr>
              <a:solidFill>
                <a:schemeClr val="lt1"/>
              </a:solidFill>
            </a:endParaRPr>
          </a:p>
        </p:txBody>
      </p:sp>
      <p:sp>
        <p:nvSpPr>
          <p:cNvPr id="368" name="Google Shape;368;p13"/>
          <p:cNvSpPr/>
          <p:nvPr/>
        </p:nvSpPr>
        <p:spPr>
          <a:xfrm>
            <a:off x="7931428" y="3736100"/>
            <a:ext cx="907773" cy="57647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lgn="ctr"/>
            <a:r>
              <a:rPr lang="en-US">
                <a:solidFill>
                  <a:schemeClr val="lt1"/>
                </a:solidFill>
              </a:rPr>
              <a:t>P2</a:t>
            </a:r>
            <a:endParaRPr>
              <a:solidFill>
                <a:schemeClr val="lt1"/>
              </a:solidFill>
            </a:endParaRPr>
          </a:p>
        </p:txBody>
      </p:sp>
      <p:sp>
        <p:nvSpPr>
          <p:cNvPr id="369" name="Google Shape;369;p13"/>
          <p:cNvSpPr/>
          <p:nvPr/>
        </p:nvSpPr>
        <p:spPr>
          <a:xfrm>
            <a:off x="9018106" y="3713059"/>
            <a:ext cx="907773" cy="57647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algn="ctr"/>
            <a:r>
              <a:rPr lang="en-US">
                <a:solidFill>
                  <a:schemeClr val="lt1"/>
                </a:solidFill>
              </a:rPr>
              <a:t>P3</a:t>
            </a:r>
            <a:endParaRPr>
              <a:solidFill>
                <a:schemeClr val="lt1"/>
              </a:solidFill>
            </a:endParaRPr>
          </a:p>
        </p:txBody>
      </p:sp>
      <p:sp>
        <p:nvSpPr>
          <p:cNvPr id="370" name="Google Shape;370;p13"/>
          <p:cNvSpPr txBox="1"/>
          <p:nvPr/>
        </p:nvSpPr>
        <p:spPr>
          <a:xfrm>
            <a:off x="2126974" y="4305793"/>
            <a:ext cx="291548" cy="338554"/>
          </a:xfrm>
          <a:prstGeom prst="rect">
            <a:avLst/>
          </a:prstGeom>
          <a:noFill/>
          <a:ln>
            <a:noFill/>
          </a:ln>
        </p:spPr>
        <p:txBody>
          <a:bodyPr spcFirstLastPara="1" wrap="square" lIns="91425" tIns="45700" rIns="91425" bIns="45700" anchor="t" anchorCtr="0">
            <a:spAutoFit/>
          </a:bodyPr>
          <a:lstStyle/>
          <a:p>
            <a:r>
              <a:rPr lang="en-US" sz="1600" b="1" dirty="0"/>
              <a:t>0</a:t>
            </a:r>
            <a:endParaRPr sz="1600" b="1" dirty="0"/>
          </a:p>
        </p:txBody>
      </p:sp>
      <p:sp>
        <p:nvSpPr>
          <p:cNvPr id="371" name="Google Shape;371;p13"/>
          <p:cNvSpPr txBox="1"/>
          <p:nvPr/>
        </p:nvSpPr>
        <p:spPr>
          <a:xfrm>
            <a:off x="7480853" y="4272454"/>
            <a:ext cx="450575" cy="338554"/>
          </a:xfrm>
          <a:prstGeom prst="rect">
            <a:avLst/>
          </a:prstGeom>
          <a:noFill/>
          <a:ln>
            <a:noFill/>
          </a:ln>
        </p:spPr>
        <p:txBody>
          <a:bodyPr spcFirstLastPara="1" wrap="square" lIns="91425" tIns="45700" rIns="91425" bIns="45700" anchor="t" anchorCtr="0">
            <a:spAutoFit/>
          </a:bodyPr>
          <a:lstStyle/>
          <a:p>
            <a:r>
              <a:rPr lang="en-US" sz="1600" b="1" dirty="0"/>
              <a:t>30</a:t>
            </a:r>
            <a:endParaRPr sz="1600" b="1" dirty="0"/>
          </a:p>
        </p:txBody>
      </p:sp>
      <p:sp>
        <p:nvSpPr>
          <p:cNvPr id="372" name="Google Shape;372;p13"/>
          <p:cNvSpPr txBox="1"/>
          <p:nvPr/>
        </p:nvSpPr>
        <p:spPr>
          <a:xfrm>
            <a:off x="8512865" y="4272454"/>
            <a:ext cx="450575" cy="338554"/>
          </a:xfrm>
          <a:prstGeom prst="rect">
            <a:avLst/>
          </a:prstGeom>
          <a:noFill/>
          <a:ln>
            <a:noFill/>
          </a:ln>
        </p:spPr>
        <p:txBody>
          <a:bodyPr spcFirstLastPara="1" wrap="square" lIns="91425" tIns="45700" rIns="91425" bIns="45700" anchor="t" anchorCtr="0">
            <a:spAutoFit/>
          </a:bodyPr>
          <a:lstStyle/>
          <a:p>
            <a:r>
              <a:rPr lang="en-US" sz="1600" b="1" dirty="0"/>
              <a:t>35</a:t>
            </a:r>
            <a:endParaRPr sz="1600" b="1" dirty="0"/>
          </a:p>
        </p:txBody>
      </p:sp>
      <p:sp>
        <p:nvSpPr>
          <p:cNvPr id="373" name="Google Shape;373;p13"/>
          <p:cNvSpPr txBox="1"/>
          <p:nvPr/>
        </p:nvSpPr>
        <p:spPr>
          <a:xfrm>
            <a:off x="9700591" y="4305793"/>
            <a:ext cx="450575" cy="338554"/>
          </a:xfrm>
          <a:prstGeom prst="rect">
            <a:avLst/>
          </a:prstGeom>
          <a:noFill/>
          <a:ln>
            <a:noFill/>
          </a:ln>
        </p:spPr>
        <p:txBody>
          <a:bodyPr spcFirstLastPara="1" wrap="square" lIns="91425" tIns="45700" rIns="91425" bIns="45700" anchor="t" anchorCtr="0">
            <a:spAutoFit/>
          </a:bodyPr>
          <a:lstStyle/>
          <a:p>
            <a:r>
              <a:rPr lang="en-US" sz="1600" b="1"/>
              <a:t>40</a:t>
            </a:r>
            <a:endParaRPr sz="1600" b="1"/>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Text Placeholder 7">
                <a:extLst>
                  <a:ext uri="{FF2B5EF4-FFF2-40B4-BE49-F238E27FC236}">
                    <a16:creationId xmlns:a16="http://schemas.microsoft.com/office/drawing/2014/main" id="{1A30B142-8E90-7C07-A3CA-774759D6964F}"/>
                  </a:ext>
                </a:extLst>
              </p:cNvPr>
              <p:cNvSpPr>
                <a:spLocks noGrp="1"/>
              </p:cNvSpPr>
              <p:nvPr>
                <p:ph type="body" idx="1"/>
              </p:nvPr>
            </p:nvSpPr>
            <p:spPr/>
            <p:txBody>
              <a:bodyPr>
                <a:normAutofit/>
              </a:bodyPr>
              <a:lstStyle/>
              <a:p>
                <a:r>
                  <a:rPr lang="en-IL" b="1" dirty="0"/>
                  <a:t>Shortest Job First (SJF)</a:t>
                </a:r>
              </a:p>
              <a:p>
                <a:pPr lvl="1"/>
                <a:r>
                  <a:rPr lang="en-IL" dirty="0"/>
                  <a:t>Compared to FCFS – lower average turnaround time.</a:t>
                </a:r>
              </a:p>
              <a:p>
                <a:pPr lvl="1"/>
                <a:r>
                  <a:rPr lang="en-IL" dirty="0"/>
                  <a:t>Approximation of job time can be based on exponential moving average:</a:t>
                </a:r>
              </a:p>
              <a:p>
                <a:pPr lvl="2"/>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𝑛</m:t>
                        </m:r>
                        <m:r>
                          <a:rPr lang="en-US" sz="2400" b="0" i="1" smtClean="0">
                            <a:latin typeface="Cambria Math" panose="02040503050406030204" pitchFamily="18" charset="0"/>
                          </a:rPr>
                          <m:t>+1</m:t>
                        </m:r>
                      </m:sub>
                    </m:sSub>
                    <m:r>
                      <a:rPr lang="en-US" sz="2400" b="0" i="1" smtClean="0">
                        <a:latin typeface="Cambria Math" panose="02040503050406030204" pitchFamily="18" charset="0"/>
                      </a:rPr>
                      <m:t>=</m:t>
                    </m:r>
                    <m:r>
                      <a:rPr lang="en-US" sz="2400" b="0" i="1" smtClean="0">
                        <a:latin typeface="Cambria Math" panose="02040503050406030204" pitchFamily="18" charset="0"/>
                      </a:rPr>
                      <m:t>𝛼</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𝑛</m:t>
                        </m:r>
                      </m:sub>
                    </m:sSub>
                    <m:r>
                      <a:rPr lang="en-US" sz="2400" b="0" i="1" smtClean="0">
                        <a:latin typeface="Cambria Math" panose="02040503050406030204" pitchFamily="18" charset="0"/>
                      </a:rPr>
                      <m:t>+</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1−</m:t>
                        </m:r>
                        <m:r>
                          <a:rPr lang="en-US" sz="2400" b="0" i="1" smtClean="0">
                            <a:latin typeface="Cambria Math" panose="02040503050406030204" pitchFamily="18" charset="0"/>
                          </a:rPr>
                          <m:t>𝛼</m:t>
                        </m:r>
                      </m:e>
                    </m:d>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𝑇</m:t>
                        </m:r>
                      </m:e>
                      <m:sub>
                        <m:r>
                          <a:rPr lang="en-US" sz="2400" b="0" i="1" smtClean="0">
                            <a:latin typeface="Cambria Math" panose="02040503050406030204" pitchFamily="18" charset="0"/>
                          </a:rPr>
                          <m:t>𝑛</m:t>
                        </m:r>
                      </m:sub>
                    </m:sSub>
                  </m:oMath>
                </a14:m>
                <a:r>
                  <a:rPr lang="en-IL" sz="2400" dirty="0"/>
                  <a:t> – approximation of the n-th execution</a:t>
                </a:r>
              </a:p>
              <a:p>
                <a:pPr lvl="2"/>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𝑛</m:t>
                        </m:r>
                      </m:sub>
                    </m:sSub>
                  </m:oMath>
                </a14:m>
                <a:r>
                  <a:rPr lang="en-IL" sz="2400" dirty="0"/>
                  <a:t> – time measured at the n-th execution of the process</a:t>
                </a:r>
              </a:p>
              <a:p>
                <a:pPr lvl="2"/>
                <a14:m>
                  <m:oMath xmlns:m="http://schemas.openxmlformats.org/officeDocument/2006/math">
                    <m:r>
                      <a:rPr lang="en-US" sz="2400" b="0" i="1" smtClean="0">
                        <a:latin typeface="Cambria Math" panose="02040503050406030204" pitchFamily="18" charset="0"/>
                      </a:rPr>
                      <m:t>𝛼</m:t>
                    </m:r>
                  </m:oMath>
                </a14:m>
                <a:r>
                  <a:rPr lang="en-IL" sz="2400" dirty="0"/>
                  <a:t> – decay factor</a:t>
                </a:r>
              </a:p>
              <a:p>
                <a:pPr lvl="1"/>
                <a:r>
                  <a:rPr lang="en-IL" dirty="0"/>
                  <a:t>Starvation is possible!</a:t>
                </a:r>
              </a:p>
              <a:p>
                <a:r>
                  <a:rPr lang="en-IL" b="1" dirty="0"/>
                  <a:t>Shortest Remaining Time (SRT)</a:t>
                </a:r>
              </a:p>
              <a:p>
                <a:pPr lvl="1"/>
                <a:r>
                  <a:rPr lang="en-IL" dirty="0"/>
                  <a:t>Preemtptive version of SJF.</a:t>
                </a:r>
              </a:p>
              <a:p>
                <a:pPr marL="571500" lvl="1" indent="0">
                  <a:buNone/>
                </a:pPr>
                <a:endParaRPr lang="en-IL" dirty="0"/>
              </a:p>
            </p:txBody>
          </p:sp>
        </mc:Choice>
        <mc:Fallback xmlns="">
          <p:sp>
            <p:nvSpPr>
              <p:cNvPr id="8" name="Text Placeholder 7">
                <a:extLst>
                  <a:ext uri="{FF2B5EF4-FFF2-40B4-BE49-F238E27FC236}">
                    <a16:creationId xmlns:a16="http://schemas.microsoft.com/office/drawing/2014/main" id="{1A30B142-8E90-7C07-A3CA-774759D6964F}"/>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IL">
                    <a:noFill/>
                  </a:rPr>
                  <a:t> </a:t>
                </a:r>
              </a:p>
            </p:txBody>
          </p:sp>
        </mc:Fallback>
      </mc:AlternateContent>
      <p:pic>
        <p:nvPicPr>
          <p:cNvPr id="3" name="Picture 2">
            <a:extLst>
              <a:ext uri="{FF2B5EF4-FFF2-40B4-BE49-F238E27FC236}">
                <a16:creationId xmlns:a16="http://schemas.microsoft.com/office/drawing/2014/main" id="{86863EB7-B9B0-B01E-A9D2-9BB6DA26FFEE}"/>
              </a:ext>
            </a:extLst>
          </p:cNvPr>
          <p:cNvPicPr>
            <a:picLocks noChangeAspect="1"/>
          </p:cNvPicPr>
          <p:nvPr/>
        </p:nvPicPr>
        <p:blipFill>
          <a:blip r:embed="rId4"/>
          <a:stretch>
            <a:fillRect/>
          </a:stretch>
        </p:blipFill>
        <p:spPr>
          <a:xfrm>
            <a:off x="6276812" y="5798191"/>
            <a:ext cx="5478827" cy="694684"/>
          </a:xfrm>
          <a:prstGeom prst="rect">
            <a:avLst/>
          </a:prstGeom>
        </p:spPr>
      </p:pic>
      <p:sp>
        <p:nvSpPr>
          <p:cNvPr id="378" name="Google Shape;378;p14"/>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Scheduling algorithms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15"/>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Scheduling algorithms</a:t>
            </a:r>
          </a:p>
        </p:txBody>
      </p:sp>
      <p:sp>
        <p:nvSpPr>
          <p:cNvPr id="385" name="Google Shape;385;p15"/>
          <p:cNvSpPr txBox="1">
            <a:spLocks noGrp="1"/>
          </p:cNvSpPr>
          <p:nvPr>
            <p:ph type="body" idx="1"/>
          </p:nvPr>
        </p:nvSpPr>
        <p:spPr>
          <a:xfrm>
            <a:off x="838200" y="1825625"/>
            <a:ext cx="10515600" cy="4351338"/>
          </a:xfrm>
          <a:noFill/>
          <a:ln>
            <a:noFill/>
          </a:ln>
        </p:spPr>
        <p:txBody>
          <a:bodyPr spcFirstLastPara="1" wrap="square" lIns="91425" tIns="45700" rIns="91425" bIns="45700" anchor="t" anchorCtr="0">
            <a:noAutofit/>
          </a:bodyPr>
          <a:lstStyle/>
          <a:p>
            <a:r>
              <a:rPr lang="en-US" b="1" dirty="0"/>
              <a:t>Round Robin</a:t>
            </a:r>
          </a:p>
          <a:p>
            <a:pPr lvl="1"/>
            <a:r>
              <a:rPr lang="en-US" sz="2800" dirty="0"/>
              <a:t>Equal time slices are assigned to each process</a:t>
            </a:r>
          </a:p>
          <a:p>
            <a:pPr lvl="1"/>
            <a:r>
              <a:rPr lang="en-US" sz="2800" dirty="0"/>
              <a:t>Processes picked to run in a circular order</a:t>
            </a:r>
          </a:p>
          <a:p>
            <a:pPr lvl="1"/>
            <a:r>
              <a:rPr lang="en-US" sz="2800" dirty="0"/>
              <a:t>Large time slices – imitating FCFS </a:t>
            </a:r>
          </a:p>
          <a:p>
            <a:pPr lvl="1"/>
            <a:r>
              <a:rPr lang="en-US" sz="2800" dirty="0"/>
              <a:t>Small time slices</a:t>
            </a:r>
          </a:p>
          <a:p>
            <a:pPr lvl="2"/>
            <a:r>
              <a:rPr lang="en-US" sz="2400" dirty="0"/>
              <a:t>As time slice approaches context switch time, more CPU time is being wasted on switches rather than useful work.</a:t>
            </a:r>
          </a:p>
          <a:p>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16"/>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Scheduling algorithms</a:t>
            </a:r>
          </a:p>
        </p:txBody>
      </p:sp>
      <mc:AlternateContent xmlns:mc="http://schemas.openxmlformats.org/markup-compatibility/2006" xmlns:a14="http://schemas.microsoft.com/office/drawing/2010/main">
        <mc:Choice Requires="a14">
          <p:sp>
            <p:nvSpPr>
              <p:cNvPr id="5" name="Text Placeholder 4">
                <a:extLst>
                  <a:ext uri="{FF2B5EF4-FFF2-40B4-BE49-F238E27FC236}">
                    <a16:creationId xmlns:a16="http://schemas.microsoft.com/office/drawing/2014/main" id="{045F8D82-531C-C106-129C-D1A2947A1378}"/>
                  </a:ext>
                </a:extLst>
              </p:cNvPr>
              <p:cNvSpPr>
                <a:spLocks noGrp="1"/>
              </p:cNvSpPr>
              <p:nvPr>
                <p:ph type="body" idx="1"/>
              </p:nvPr>
            </p:nvSpPr>
            <p:spPr/>
            <p:txBody>
              <a:bodyPr/>
              <a:lstStyle/>
              <a:p>
                <a:r>
                  <a:rPr lang="en-IL" b="1" dirty="0"/>
                  <a:t>Guaranteed Scheduling</a:t>
                </a:r>
              </a:p>
              <a:p>
                <a:pPr lvl="1"/>
                <a:r>
                  <a:rPr lang="en-IL" dirty="0"/>
                  <a:t>Constantly calculates the </a:t>
                </a:r>
                <a:r>
                  <a:rPr lang="en-IL" b="1" dirty="0"/>
                  <a:t>ratio between</a:t>
                </a:r>
                <a:r>
                  <a:rPr lang="en-IL" dirty="0"/>
                  <a:t> how much </a:t>
                </a:r>
                <a:r>
                  <a:rPr lang="en-IL" b="1" dirty="0"/>
                  <a:t>CPU time the process has had </a:t>
                </a:r>
                <a:r>
                  <a:rPr lang="en-IL" dirty="0"/>
                  <a:t>since its creation and </a:t>
                </a:r>
                <a:r>
                  <a:rPr lang="en-IL" b="1" dirty="0"/>
                  <a:t>how much CPU time it is entitled to</a:t>
                </a:r>
                <a:r>
                  <a:rPr lang="en-IL" dirty="0"/>
                  <a:t>.</a:t>
                </a:r>
              </a:p>
              <a:p>
                <a:pPr lvl="1"/>
                <a:r>
                  <a:rPr lang="en-IL" dirty="0"/>
                  <a:t>CPU time entitled to: </a:t>
                </a:r>
                <a14:m>
                  <m:oMath xmlns:m="http://schemas.openxmlformats.org/officeDocument/2006/math">
                    <m:f>
                      <m:fPr>
                        <m:ctrlPr>
                          <a:rPr lang="en-US" b="0" i="1" smtClean="0">
                            <a:latin typeface="Cambria Math" panose="02040503050406030204" pitchFamily="18" charset="0"/>
                          </a:rPr>
                        </m:ctrlPr>
                      </m:fPr>
                      <m:num>
                        <m:r>
                          <m:rPr>
                            <m:nor/>
                          </m:rPr>
                          <a:rPr lang="en-US" i="0">
                            <a:latin typeface="Cambria Math" panose="02040503050406030204" pitchFamily="18" charset="0"/>
                          </a:rPr>
                          <m:t>Time</m:t>
                        </m:r>
                        <m:r>
                          <m:rPr>
                            <m:nor/>
                          </m:rPr>
                          <a:rPr lang="en-US" i="0">
                            <a:latin typeface="Cambria Math" panose="02040503050406030204" pitchFamily="18" charset="0"/>
                          </a:rPr>
                          <m:t> </m:t>
                        </m:r>
                        <m:r>
                          <m:rPr>
                            <m:nor/>
                          </m:rPr>
                          <a:rPr lang="en-US" i="0">
                            <a:latin typeface="Cambria Math" panose="02040503050406030204" pitchFamily="18" charset="0"/>
                          </a:rPr>
                          <m:t>since</m:t>
                        </m:r>
                        <m:r>
                          <m:rPr>
                            <m:nor/>
                          </m:rPr>
                          <a:rPr lang="en-US" i="0">
                            <a:latin typeface="Cambria Math" panose="02040503050406030204" pitchFamily="18" charset="0"/>
                          </a:rPr>
                          <m:t> </m:t>
                        </m:r>
                        <m:r>
                          <m:rPr>
                            <m:nor/>
                          </m:rPr>
                          <a:rPr lang="en-US" i="0">
                            <a:latin typeface="Cambria Math" panose="02040503050406030204" pitchFamily="18" charset="0"/>
                          </a:rPr>
                          <m:t>creation</m:t>
                        </m:r>
                      </m:num>
                      <m:den>
                        <m:r>
                          <m:rPr>
                            <m:nor/>
                          </m:rPr>
                          <a:rPr lang="en-US" i="0">
                            <a:latin typeface="Cambria Math" panose="02040503050406030204" pitchFamily="18" charset="0"/>
                          </a:rPr>
                          <m:t>Total</m:t>
                        </m:r>
                        <m:r>
                          <m:rPr>
                            <m:nor/>
                          </m:rPr>
                          <a:rPr lang="en-US" i="0">
                            <a:latin typeface="Cambria Math" panose="02040503050406030204" pitchFamily="18" charset="0"/>
                          </a:rPr>
                          <m:t> </m:t>
                        </m:r>
                        <m:r>
                          <m:rPr>
                            <m:nor/>
                          </m:rPr>
                          <a:rPr lang="en-US" i="0">
                            <a:latin typeface="Cambria Math" panose="02040503050406030204" pitchFamily="18" charset="0"/>
                          </a:rPr>
                          <m:t>number</m:t>
                        </m:r>
                        <m:r>
                          <m:rPr>
                            <m:nor/>
                          </m:rPr>
                          <a:rPr lang="en-US" i="0">
                            <a:latin typeface="Cambria Math" panose="02040503050406030204" pitchFamily="18" charset="0"/>
                          </a:rPr>
                          <m:t> </m:t>
                        </m:r>
                        <m:r>
                          <m:rPr>
                            <m:nor/>
                          </m:rPr>
                          <a:rPr lang="en-US" i="0">
                            <a:latin typeface="Cambria Math" panose="02040503050406030204" pitchFamily="18" charset="0"/>
                          </a:rPr>
                          <m:t>of</m:t>
                        </m:r>
                        <m:r>
                          <m:rPr>
                            <m:nor/>
                          </m:rPr>
                          <a:rPr lang="en-US" i="0">
                            <a:latin typeface="Cambria Math" panose="02040503050406030204" pitchFamily="18" charset="0"/>
                          </a:rPr>
                          <m:t> </m:t>
                        </m:r>
                        <m:r>
                          <m:rPr>
                            <m:nor/>
                          </m:rPr>
                          <a:rPr lang="en-US" i="0">
                            <a:latin typeface="Cambria Math" panose="02040503050406030204" pitchFamily="18" charset="0"/>
                          </a:rPr>
                          <m:t>processes</m:t>
                        </m:r>
                      </m:den>
                    </m:f>
                    <m:r>
                      <m:rPr>
                        <m:nor/>
                      </m:rPr>
                      <a:rPr lang="en-US" b="0" i="0" smtClean="0">
                        <a:latin typeface="Cambria Math" panose="02040503050406030204" pitchFamily="18" charset="0"/>
                      </a:rPr>
                      <m:t> </m:t>
                    </m:r>
                  </m:oMath>
                </a14:m>
                <a:endParaRPr lang="en-IL" dirty="0"/>
              </a:p>
              <a:p>
                <a:pPr lvl="1"/>
                <a:r>
                  <a:rPr lang="en-IL" dirty="0"/>
                  <a:t>Runs the process with the minimal ratio.</a:t>
                </a:r>
              </a:p>
              <a:p>
                <a:pPr lvl="1"/>
                <a:r>
                  <a:rPr lang="en-IL" dirty="0"/>
                  <a:t>This algorithm guarantees </a:t>
                </a:r>
                <a14:m>
                  <m:oMath xmlns:m="http://schemas.openxmlformats.org/officeDocument/2006/math">
                    <m:f>
                      <m:fPr>
                        <m:type m:val="skw"/>
                        <m:ctrlPr>
                          <a:rPr lang="en-IL"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𝑛</m:t>
                        </m:r>
                      </m:den>
                    </m:f>
                  </m:oMath>
                </a14:m>
                <a:r>
                  <a:rPr lang="en-IL" dirty="0"/>
                  <a:t> CPU time for each process.</a:t>
                </a:r>
              </a:p>
            </p:txBody>
          </p:sp>
        </mc:Choice>
        <mc:Fallback xmlns="">
          <p:sp>
            <p:nvSpPr>
              <p:cNvPr id="5" name="Text Placeholder 4">
                <a:extLst>
                  <a:ext uri="{FF2B5EF4-FFF2-40B4-BE49-F238E27FC236}">
                    <a16:creationId xmlns:a16="http://schemas.microsoft.com/office/drawing/2014/main" id="{045F8D82-531C-C106-129C-D1A2947A1378}"/>
                  </a:ext>
                </a:extLst>
              </p:cNvPr>
              <p:cNvSpPr>
                <a:spLocks noGrp="1" noRot="1" noChangeAspect="1" noMove="1" noResize="1" noEditPoints="1" noAdjustHandles="1" noChangeArrowheads="1" noChangeShapeType="1" noTextEdit="1"/>
              </p:cNvSpPr>
              <p:nvPr>
                <p:ph type="body" idx="1"/>
              </p:nvPr>
            </p:nvSpPr>
            <p:spPr>
              <a:blipFill>
                <a:blip r:embed="rId3"/>
                <a:stretch>
                  <a:fillRect/>
                </a:stretch>
              </a:blipFill>
            </p:spPr>
            <p:txBody>
              <a:bodyPr/>
              <a:lstStyle/>
              <a:p>
                <a:r>
                  <a:rPr lang="en-IL">
                    <a:noFill/>
                  </a:rPr>
                  <a:t> </a:t>
                </a:r>
              </a:p>
            </p:txBody>
          </p:sp>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20"/>
          <p:cNvSpPr txBox="1">
            <a:spLocks noGrp="1"/>
          </p:cNvSpPr>
          <p:nvPr>
            <p:ph type="title"/>
          </p:nvPr>
        </p:nvSpPr>
        <p:spPr>
          <a:xfrm>
            <a:off x="838200" y="365125"/>
            <a:ext cx="10515600" cy="1325563"/>
          </a:xfrm>
          <a:noFill/>
          <a:ln>
            <a:noFill/>
          </a:ln>
        </p:spPr>
        <p:txBody>
          <a:bodyPr spcFirstLastPara="1" wrap="square" lIns="91425" tIns="35200" rIns="91425" bIns="45700" anchor="ctr" anchorCtr="0">
            <a:noAutofit/>
          </a:bodyPr>
          <a:lstStyle/>
          <a:p>
            <a:r>
              <a:rPr lang="en-US" dirty="0">
                <a:sym typeface="Calibri"/>
              </a:rPr>
              <a:t>The Completely Fair Scheduler</a:t>
            </a:r>
          </a:p>
        </p:txBody>
      </p:sp>
      <p:sp>
        <p:nvSpPr>
          <p:cNvPr id="446" name="Google Shape;446;p20"/>
          <p:cNvSpPr txBox="1">
            <a:spLocks noGrp="1"/>
          </p:cNvSpPr>
          <p:nvPr>
            <p:ph type="body" idx="1"/>
          </p:nvPr>
        </p:nvSpPr>
        <p:spPr>
          <a:xfrm>
            <a:off x="838200" y="1825625"/>
            <a:ext cx="10515600" cy="4351338"/>
          </a:xfrm>
          <a:noFill/>
          <a:ln>
            <a:noFill/>
          </a:ln>
        </p:spPr>
        <p:txBody>
          <a:bodyPr spcFirstLastPara="1" wrap="square" lIns="91425" tIns="22400" rIns="91425" bIns="45700" anchor="t" anchorCtr="0">
            <a:noAutofit/>
          </a:bodyPr>
          <a:lstStyle/>
          <a:p>
            <a:r>
              <a:rPr lang="en-GB" b="1" dirty="0">
                <a:sym typeface="Calibri"/>
              </a:rPr>
              <a:t>CFS</a:t>
            </a:r>
            <a:r>
              <a:rPr lang="en-GB" dirty="0">
                <a:sym typeface="Calibri"/>
              </a:rPr>
              <a:t> models an “ideal, precise multitasking CPU” </a:t>
            </a:r>
          </a:p>
          <a:p>
            <a:pPr lvl="1"/>
            <a:r>
              <a:rPr lang="en-GB" dirty="0">
                <a:sym typeface="Calibri"/>
              </a:rPr>
              <a:t>Can be thought of as a combination of guaranteed scheduling and dynamic priority scheduling</a:t>
            </a:r>
          </a:p>
          <a:p>
            <a:r>
              <a:rPr lang="en-GB" dirty="0">
                <a:sym typeface="Calibri"/>
              </a:rPr>
              <a:t>It </a:t>
            </a:r>
            <a:r>
              <a:rPr lang="en-GB" dirty="0"/>
              <a:t>measures</a:t>
            </a:r>
            <a:r>
              <a:rPr lang="en-GB" dirty="0">
                <a:sym typeface="Calibri"/>
              </a:rPr>
              <a:t> how much runtime each task has had and tries to ensure that everyone gets their fair share of time</a:t>
            </a:r>
            <a:endParaRPr lang="en-GB" dirty="0"/>
          </a:p>
          <a:p>
            <a:r>
              <a:rPr lang="en-GB" dirty="0">
                <a:sym typeface="Calibri"/>
              </a:rPr>
              <a:t>The process’s runtime held in a </a:t>
            </a:r>
            <a:r>
              <a:rPr lang="en-GB" dirty="0"/>
              <a:t>variable: </a:t>
            </a:r>
            <a:r>
              <a:rPr lang="en-GB" b="1" dirty="0" err="1"/>
              <a:t>vruntime</a:t>
            </a:r>
            <a:r>
              <a:rPr lang="en-GB" dirty="0"/>
              <a:t> (</a:t>
            </a:r>
            <a:r>
              <a:rPr lang="en-GB" dirty="0" err="1"/>
              <a:t>linux</a:t>
            </a:r>
            <a:r>
              <a:rPr lang="en-GB" dirty="0"/>
              <a:t> name)</a:t>
            </a:r>
          </a:p>
          <a:p>
            <a:r>
              <a:rPr lang="en-GB" dirty="0">
                <a:sym typeface="Calibri"/>
              </a:rPr>
              <a:t>A lower </a:t>
            </a:r>
            <a:r>
              <a:rPr lang="en-GB" b="1" dirty="0" err="1">
                <a:sym typeface="Calibri"/>
              </a:rPr>
              <a:t>vruntime</a:t>
            </a:r>
            <a:r>
              <a:rPr lang="en-GB" dirty="0">
                <a:sym typeface="Calibri"/>
              </a:rPr>
              <a:t> indicates that the process has had less computation in comparison</a:t>
            </a:r>
            <a:r>
              <a:rPr lang="en-GB" dirty="0"/>
              <a:t>. Therefore, its </a:t>
            </a:r>
            <a:r>
              <a:rPr lang="en-GB" dirty="0">
                <a:sym typeface="Calibri"/>
              </a:rPr>
              <a:t>need of the processor is higher, and will be selected earlier to run. </a:t>
            </a:r>
            <a:endParaRPr lang="en-GB" dirty="0"/>
          </a:p>
          <a:p>
            <a:endParaRPr lang="en-GB" dirty="0">
              <a:sym typeface="Calibri"/>
            </a:endParaRPr>
          </a:p>
          <a:p>
            <a:endParaRPr lang="en-GB" dirty="0">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21"/>
          <p:cNvSpPr txBox="1">
            <a:spLocks noGrp="1"/>
          </p:cNvSpPr>
          <p:nvPr>
            <p:ph type="title"/>
          </p:nvPr>
        </p:nvSpPr>
        <p:spPr>
          <a:xfrm>
            <a:off x="838200" y="365125"/>
            <a:ext cx="10515600" cy="1325563"/>
          </a:xfrm>
          <a:noFill/>
          <a:ln>
            <a:noFill/>
          </a:ln>
        </p:spPr>
        <p:txBody>
          <a:bodyPr spcFirstLastPara="1" wrap="square" lIns="91425" tIns="35200" rIns="91425" bIns="45700" anchor="ctr" anchorCtr="0">
            <a:noAutofit/>
          </a:bodyPr>
          <a:lstStyle/>
          <a:p>
            <a:r>
              <a:rPr lang="en-US" dirty="0">
                <a:sym typeface="Calibri"/>
              </a:rPr>
              <a:t>CFS Priorities</a:t>
            </a:r>
          </a:p>
        </p:txBody>
      </p:sp>
      <p:sp>
        <p:nvSpPr>
          <p:cNvPr id="453" name="Google Shape;453;p21"/>
          <p:cNvSpPr txBox="1">
            <a:spLocks noGrp="1"/>
          </p:cNvSpPr>
          <p:nvPr>
            <p:ph type="body" idx="1"/>
          </p:nvPr>
        </p:nvSpPr>
        <p:spPr>
          <a:xfrm>
            <a:off x="838200" y="1825625"/>
            <a:ext cx="10515600" cy="4351338"/>
          </a:xfrm>
          <a:noFill/>
          <a:ln>
            <a:noFill/>
          </a:ln>
        </p:spPr>
        <p:txBody>
          <a:bodyPr spcFirstLastPara="1" wrap="square" lIns="91425" tIns="22400" rIns="91425" bIns="45700" anchor="t" anchorCtr="0">
            <a:noAutofit/>
          </a:bodyPr>
          <a:lstStyle/>
          <a:p>
            <a:r>
              <a:rPr lang="en-GB" dirty="0">
                <a:sym typeface="Calibri"/>
              </a:rPr>
              <a:t>CFS takes priorities into consideration by using a decay factor for the time a process is permitted to execute, based on </a:t>
            </a:r>
            <a:r>
              <a:rPr lang="en-GB" dirty="0"/>
              <a:t>a set of factors including priority. </a:t>
            </a:r>
            <a:endParaRPr lang="en-GB" dirty="0">
              <a:sym typeface="Calibri"/>
            </a:endParaRPr>
          </a:p>
          <a:p>
            <a:r>
              <a:rPr lang="en-GB" dirty="0">
                <a:sym typeface="Calibri"/>
              </a:rPr>
              <a:t>Lower-priority processes have higher factors of decay, while higher-priority processes have lower factors of decay</a:t>
            </a:r>
          </a:p>
          <a:p>
            <a:r>
              <a:rPr lang="en-GB" dirty="0">
                <a:sym typeface="Calibri"/>
              </a:rPr>
              <a:t>Decay factor is inverse to the priority</a:t>
            </a:r>
          </a:p>
          <a:p>
            <a:pPr lvl="1"/>
            <a:r>
              <a:rPr lang="en-GB" dirty="0">
                <a:sym typeface="Calibri"/>
              </a:rPr>
              <a:t>A higher priority process will accumulate </a:t>
            </a:r>
            <a:r>
              <a:rPr lang="en-GB" dirty="0" err="1">
                <a:sym typeface="Calibri"/>
              </a:rPr>
              <a:t>vruntime</a:t>
            </a:r>
            <a:r>
              <a:rPr lang="en-GB" dirty="0">
                <a:sym typeface="Calibri"/>
              </a:rPr>
              <a:t> more slowly</a:t>
            </a:r>
          </a:p>
          <a:p>
            <a:pPr lvl="1"/>
            <a:r>
              <a:rPr lang="en-GB" dirty="0">
                <a:sym typeface="Calibri"/>
              </a:rPr>
              <a:t>Likewise, a low-priority process will have its </a:t>
            </a:r>
            <a:r>
              <a:rPr lang="en-GB" dirty="0" err="1">
                <a:sym typeface="Calibri"/>
              </a:rPr>
              <a:t>vruntime</a:t>
            </a:r>
            <a:r>
              <a:rPr lang="en-GB" dirty="0">
                <a:sym typeface="Calibri"/>
              </a:rPr>
              <a:t> increase more quickly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22"/>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Warm up question</a:t>
            </a:r>
            <a:endParaRPr lang="en-US" dirty="0"/>
          </a:p>
        </p:txBody>
      </p:sp>
      <p:sp>
        <p:nvSpPr>
          <p:cNvPr id="459" name="Google Shape;459;p22"/>
          <p:cNvSpPr txBox="1">
            <a:spLocks noGrp="1"/>
          </p:cNvSpPr>
          <p:nvPr>
            <p:ph type="body" idx="1"/>
          </p:nvPr>
        </p:nvSpPr>
        <p:spPr>
          <a:xfrm>
            <a:off x="838200" y="1825625"/>
            <a:ext cx="10515600" cy="4351338"/>
          </a:xfrm>
          <a:noFill/>
          <a:ln>
            <a:noFill/>
          </a:ln>
        </p:spPr>
        <p:txBody>
          <a:bodyPr spcFirstLastPara="1" wrap="square" lIns="91425" tIns="45700" rIns="91425" bIns="45700" anchor="t" anchorCtr="0">
            <a:noAutofit/>
          </a:bodyPr>
          <a:lstStyle/>
          <a:p>
            <a:pPr marL="628650" indent="-514350">
              <a:buFont typeface="+mj-lt"/>
              <a:buAutoNum type="arabicPeriod"/>
            </a:pPr>
            <a:r>
              <a:rPr lang="en-GB"/>
              <a:t>We have a system with one CPU core.</a:t>
            </a:r>
          </a:p>
          <a:p>
            <a:pPr marL="628650" indent="-514350">
              <a:buFont typeface="+mj-lt"/>
              <a:buAutoNum type="arabicPeriod"/>
            </a:pPr>
            <a:r>
              <a:rPr lang="en-GB">
                <a:sym typeface="Calibri"/>
              </a:rPr>
              <a:t>Assume that all processes in the system </a:t>
            </a:r>
            <a:r>
              <a:rPr lang="en-GB"/>
              <a:t>wait</a:t>
            </a:r>
            <a:r>
              <a:rPr lang="en-GB">
                <a:sym typeface="Calibri"/>
              </a:rPr>
              <a:t> for I/O </a:t>
            </a:r>
            <a:r>
              <a:rPr lang="en-GB"/>
              <a:t>60%</a:t>
            </a:r>
            <a:r>
              <a:rPr lang="en-GB">
                <a:sym typeface="Calibri"/>
              </a:rPr>
              <a:t> of their time.</a:t>
            </a:r>
            <a:endParaRPr lang="en-GB"/>
          </a:p>
          <a:p>
            <a:pPr marL="1028700" lvl="1" indent="-457200">
              <a:buFont typeface="+mj-lt"/>
              <a:buAutoNum type="arabicPeriod"/>
            </a:pPr>
            <a:r>
              <a:rPr lang="en-GB">
                <a:sym typeface="Calibri"/>
              </a:rPr>
              <a:t>What is the approximate </a:t>
            </a:r>
            <a:r>
              <a:rPr lang="en-GB"/>
              <a:t>CPU utilization</a:t>
            </a:r>
            <a:r>
              <a:rPr lang="en-GB">
                <a:sym typeface="Calibri"/>
              </a:rPr>
              <a:t> with </a:t>
            </a:r>
            <a:r>
              <a:rPr lang="en-GB"/>
              <a:t>one </a:t>
            </a:r>
            <a:r>
              <a:rPr lang="en-GB">
                <a:sym typeface="Calibri"/>
              </a:rPr>
              <a:t>process in the system?</a:t>
            </a:r>
            <a:endParaRPr lang="en-GB"/>
          </a:p>
          <a:p>
            <a:pPr marL="1028700" lvl="1" indent="-457200">
              <a:buFont typeface="+mj-lt"/>
              <a:buAutoNum type="arabicPeriod"/>
            </a:pPr>
            <a:r>
              <a:rPr lang="en-GB">
                <a:sym typeface="Calibri"/>
              </a:rPr>
              <a:t>What is the approximate CPU utilization with </a:t>
            </a:r>
            <a:r>
              <a:rPr lang="en-GB"/>
              <a:t>three </a:t>
            </a:r>
            <a:r>
              <a:rPr lang="en-GB">
                <a:sym typeface="Calibri"/>
              </a:rPr>
              <a:t>processes in the system?</a:t>
            </a:r>
            <a:endParaRPr lang="en-GB" dirty="0"/>
          </a:p>
        </p:txBody>
      </p:sp>
      <p:sp>
        <p:nvSpPr>
          <p:cNvPr id="460" name="Google Shape;460;p22"/>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fld id="{00000000-1234-1234-1234-123412341234}" type="slidenum">
              <a:rPr lang="en-US" smtClean="0">
                <a:sym typeface="Calibri"/>
              </a:rPr>
              <a:pPr/>
              <a:t>26</a:t>
            </a:fld>
            <a:endParaRPr lang="en-US">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23"/>
          <p:cNvSpPr txBox="1">
            <a:spLocks noGrp="1"/>
          </p:cNvSpPr>
          <p:nvPr>
            <p:ph type="title"/>
          </p:nvPr>
        </p:nvSpPr>
        <p:spPr>
          <a:xfrm>
            <a:off x="838200" y="365125"/>
            <a:ext cx="10515600" cy="1325563"/>
          </a:xfrm>
          <a:noFill/>
          <a:ln>
            <a:noFill/>
          </a:ln>
        </p:spPr>
        <p:txBody>
          <a:bodyPr spcFirstLastPara="1" wrap="square" lIns="91425" tIns="45700" rIns="91425" bIns="45700" anchor="ctr" anchorCtr="0">
            <a:noAutofit/>
          </a:bodyPr>
          <a:lstStyle/>
          <a:p>
            <a:r>
              <a:rPr lang="en-US" dirty="0">
                <a:sym typeface="Calibri"/>
              </a:rPr>
              <a:t>Warm up answer</a:t>
            </a:r>
            <a:endParaRPr lang="en-US" dirty="0"/>
          </a:p>
        </p:txBody>
      </p:sp>
      <mc:AlternateContent xmlns:mc="http://schemas.openxmlformats.org/markup-compatibility/2006" xmlns:a14="http://schemas.microsoft.com/office/drawing/2010/main">
        <mc:Choice Requires="a14">
          <p:sp>
            <p:nvSpPr>
              <p:cNvPr id="466" name="Google Shape;466;p23"/>
              <p:cNvSpPr txBox="1">
                <a:spLocks noGrp="1"/>
              </p:cNvSpPr>
              <p:nvPr>
                <p:ph type="body" idx="1"/>
              </p:nvPr>
            </p:nvSpPr>
            <p:spPr>
              <a:xfrm>
                <a:off x="838200" y="1825625"/>
                <a:ext cx="10515600" cy="4351338"/>
              </a:xfrm>
              <a:noFill/>
              <a:ln>
                <a:noFill/>
              </a:ln>
            </p:spPr>
            <p:txBody>
              <a:bodyPr spcFirstLastPara="1" wrap="square" lIns="91425" tIns="45700" rIns="91425" bIns="45700" anchor="t" anchorCtr="0">
                <a:noAutofit/>
              </a:bodyPr>
              <a:lstStyle/>
              <a:p>
                <a:pPr marL="628650" indent="-514350">
                  <a:buFont typeface="+mj-lt"/>
                  <a:buAutoNum type="arabicPeriod"/>
                </a:pPr>
                <a:r>
                  <a:rPr lang="en-GB" dirty="0">
                    <a:sym typeface="Calibri"/>
                  </a:rPr>
                  <a:t>If a process is blocking on I/O 60% of the time, then there is only </a:t>
                </a:r>
                <a:r>
                  <a:rPr lang="en-GB" dirty="0"/>
                  <a:t>40%</a:t>
                </a:r>
                <a:r>
                  <a:rPr lang="en-GB" dirty="0">
                    <a:sym typeface="Calibri"/>
                  </a:rPr>
                  <a:t> of CPU utilization.</a:t>
                </a:r>
                <a:endParaRPr lang="en-GB" dirty="0"/>
              </a:p>
              <a:p>
                <a:pPr marL="628650" indent="-514350">
                  <a:buFont typeface="+mj-lt"/>
                  <a:buAutoNum type="arabicPeriod"/>
                </a:pPr>
                <a:r>
                  <a:rPr lang="en-GB" dirty="0">
                    <a:sym typeface="Calibri"/>
                  </a:rPr>
                  <a:t>At a given moment, the probability that all three processes are blocking on I/O is </a:t>
                </a:r>
                <a14:m>
                  <m:oMath xmlns:m="http://schemas.openxmlformats.org/officeDocument/2006/math">
                    <m:sSup>
                      <m:sSupPr>
                        <m:ctrlPr>
                          <a:rPr lang="en-US" b="0" i="1" dirty="0" smtClean="0">
                            <a:latin typeface="Cambria Math" panose="02040503050406030204" pitchFamily="18" charset="0"/>
                            <a:sym typeface="Calibri"/>
                          </a:rPr>
                        </m:ctrlPr>
                      </m:sSupPr>
                      <m:e>
                        <m:r>
                          <a:rPr lang="en-GB" i="1" dirty="0" smtClean="0">
                            <a:latin typeface="Cambria Math" panose="02040503050406030204" pitchFamily="18" charset="0"/>
                            <a:sym typeface="Calibri"/>
                          </a:rPr>
                          <m:t>0.6</m:t>
                        </m:r>
                      </m:e>
                      <m:sup>
                        <m:r>
                          <a:rPr lang="en-US" b="0" i="1" dirty="0" smtClean="0">
                            <a:latin typeface="Cambria Math" panose="02040503050406030204" pitchFamily="18" charset="0"/>
                            <a:sym typeface="Calibri"/>
                          </a:rPr>
                          <m:t>3</m:t>
                        </m:r>
                      </m:sup>
                    </m:sSup>
                  </m:oMath>
                </a14:m>
                <a:r>
                  <a:rPr lang="en-GB" dirty="0">
                    <a:sym typeface="Calibri"/>
                  </a:rPr>
                  <a:t>. That means that the CPU utilization is </a:t>
                </a:r>
                <a14:m>
                  <m:oMath xmlns:m="http://schemas.openxmlformats.org/officeDocument/2006/math">
                    <m:r>
                      <a:rPr lang="en-GB" b="1" i="1" dirty="0">
                        <a:latin typeface="Cambria Math" panose="02040503050406030204" pitchFamily="18" charset="0"/>
                      </a:rPr>
                      <m:t>𝟏</m:t>
                    </m:r>
                    <m:r>
                      <a:rPr lang="en-GB" b="1" i="1" dirty="0">
                        <a:latin typeface="Cambria Math" panose="02040503050406030204" pitchFamily="18" charset="0"/>
                      </a:rPr>
                      <m:t>−</m:t>
                    </m:r>
                    <m:r>
                      <a:rPr lang="en-GB" b="1" i="1" dirty="0">
                        <a:latin typeface="Cambria Math" panose="02040503050406030204" pitchFamily="18" charset="0"/>
                      </a:rPr>
                      <m:t>𝟎</m:t>
                    </m:r>
                    <m:r>
                      <a:rPr lang="en-GB" b="1" i="1" dirty="0">
                        <a:latin typeface="Cambria Math" panose="02040503050406030204" pitchFamily="18" charset="0"/>
                      </a:rPr>
                      <m:t>.</m:t>
                    </m:r>
                    <m:sSup>
                      <m:sSupPr>
                        <m:ctrlPr>
                          <a:rPr lang="en-US" b="1" i="1" dirty="0" smtClean="0">
                            <a:latin typeface="Cambria Math" panose="02040503050406030204" pitchFamily="18" charset="0"/>
                          </a:rPr>
                        </m:ctrlPr>
                      </m:sSupPr>
                      <m:e>
                        <m:r>
                          <a:rPr lang="en-GB" b="1" i="1" dirty="0">
                            <a:latin typeface="Cambria Math" panose="02040503050406030204" pitchFamily="18" charset="0"/>
                          </a:rPr>
                          <m:t>𝟔</m:t>
                        </m:r>
                      </m:e>
                      <m:sup>
                        <m:r>
                          <a:rPr lang="en-US" b="1" i="1" dirty="0" smtClean="0">
                            <a:latin typeface="Cambria Math" panose="02040503050406030204" pitchFamily="18" charset="0"/>
                          </a:rPr>
                          <m:t>𝟑</m:t>
                        </m:r>
                      </m:sup>
                    </m:sSup>
                    <m:r>
                      <a:rPr lang="en-GB" b="1" i="1" dirty="0">
                        <a:latin typeface="Cambria Math" panose="02040503050406030204" pitchFamily="18" charset="0"/>
                        <a:sym typeface="Calibri"/>
                      </a:rPr>
                      <m:t>=</m:t>
                    </m:r>
                    <m:r>
                      <a:rPr lang="en-GB" b="1" i="1" dirty="0">
                        <a:latin typeface="Cambria Math" panose="02040503050406030204" pitchFamily="18" charset="0"/>
                        <a:sym typeface="Calibri"/>
                      </a:rPr>
                      <m:t>𝟎</m:t>
                    </m:r>
                    <m:r>
                      <a:rPr lang="en-GB" b="1" i="1" dirty="0">
                        <a:latin typeface="Cambria Math" panose="02040503050406030204" pitchFamily="18" charset="0"/>
                        <a:sym typeface="Calibri"/>
                      </a:rPr>
                      <m:t>.</m:t>
                    </m:r>
                    <m:r>
                      <a:rPr lang="en-GB" b="1" i="1" dirty="0">
                        <a:latin typeface="Cambria Math" panose="02040503050406030204" pitchFamily="18" charset="0"/>
                        <a:sym typeface="Calibri"/>
                      </a:rPr>
                      <m:t>𝟕𝟖𝟒</m:t>
                    </m:r>
                  </m:oMath>
                </a14:m>
                <a:r>
                  <a:rPr lang="en-GB" b="1" dirty="0">
                    <a:sym typeface="Calibri"/>
                  </a:rPr>
                  <a:t>, or roughly 78%</a:t>
                </a:r>
                <a:r>
                  <a:rPr lang="en-GB" dirty="0">
                    <a:sym typeface="Calibri"/>
                  </a:rPr>
                  <a:t>.</a:t>
                </a:r>
                <a:endParaRPr lang="en-GB" dirty="0"/>
              </a:p>
            </p:txBody>
          </p:sp>
        </mc:Choice>
        <mc:Fallback xmlns="">
          <p:sp>
            <p:nvSpPr>
              <p:cNvPr id="466" name="Google Shape;466;p23"/>
              <p:cNvSpPr txBox="1">
                <a:spLocks noGrp="1" noRot="1" noChangeAspect="1" noMove="1" noResize="1" noEditPoints="1" noAdjustHandles="1" noChangeArrowheads="1" noChangeShapeType="1" noTextEdit="1"/>
              </p:cNvSpPr>
              <p:nvPr>
                <p:ph type="body" idx="1"/>
              </p:nvPr>
            </p:nvSpPr>
            <p:spPr>
              <a:xfrm>
                <a:off x="838200" y="1825625"/>
                <a:ext cx="10515600" cy="4351338"/>
              </a:xfrm>
              <a:blipFill>
                <a:blip r:embed="rId3"/>
                <a:stretch>
                  <a:fillRect/>
                </a:stretch>
              </a:blipFill>
              <a:ln>
                <a:noFill/>
              </a:ln>
            </p:spPr>
            <p:txBody>
              <a:bodyPr/>
              <a:lstStyle/>
              <a:p>
                <a:r>
                  <a:rPr lang="en-IL">
                    <a:noFill/>
                  </a:rPr>
                  <a:t> </a:t>
                </a:r>
              </a:p>
            </p:txBody>
          </p:sp>
        </mc:Fallback>
      </mc:AlternateContent>
      <p:sp>
        <p:nvSpPr>
          <p:cNvPr id="467" name="Google Shape;467;p23"/>
          <p:cNvSpPr txBox="1">
            <a:spLocks noGrp="1"/>
          </p:cNvSpPr>
          <p:nvPr>
            <p:ph type="sldNum" idx="12"/>
          </p:nvPr>
        </p:nvSpPr>
        <p:spPr>
          <a:xfrm>
            <a:off x="8610600" y="6356350"/>
            <a:ext cx="2743200" cy="365125"/>
          </a:xfrm>
          <a:noFill/>
          <a:ln>
            <a:noFill/>
          </a:ln>
        </p:spPr>
        <p:txBody>
          <a:bodyPr spcFirstLastPara="1" wrap="square" lIns="91425" tIns="45700" rIns="91425" bIns="45700" anchor="ctr" anchorCtr="0">
            <a:noAutofit/>
          </a:bodyPr>
          <a:lstStyle/>
          <a:p>
            <a:fld id="{00000000-1234-1234-1234-123412341234}" type="slidenum">
              <a:rPr lang="en-US">
                <a:sym typeface="Calibri"/>
              </a:rPr>
              <a:pPr/>
              <a:t>27</a:t>
            </a:fld>
            <a:endParaRPr lang="en-US">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975D-2D36-AAC9-6ED4-8634EDE0D2DC}"/>
              </a:ext>
            </a:extLst>
          </p:cNvPr>
          <p:cNvSpPr>
            <a:spLocks noGrp="1"/>
          </p:cNvSpPr>
          <p:nvPr>
            <p:ph type="title"/>
          </p:nvPr>
        </p:nvSpPr>
        <p:spPr>
          <a:xfrm>
            <a:off x="838200" y="365125"/>
            <a:ext cx="10515600" cy="1325563"/>
          </a:xfrm>
        </p:spPr>
        <p:txBody>
          <a:bodyPr/>
          <a:lstStyle/>
          <a:p>
            <a:pPr algn="r" rtl="1"/>
            <a:r>
              <a:rPr lang="he-IL" dirty="0"/>
              <a:t>מועד א׳ 2022</a:t>
            </a:r>
            <a:endParaRPr lang="en-US" dirty="0"/>
          </a:p>
        </p:txBody>
      </p:sp>
      <p:sp>
        <p:nvSpPr>
          <p:cNvPr id="3" name="Text Placeholder 2">
            <a:extLst>
              <a:ext uri="{FF2B5EF4-FFF2-40B4-BE49-F238E27FC236}">
                <a16:creationId xmlns:a16="http://schemas.microsoft.com/office/drawing/2014/main" id="{F9DC2145-22AB-A426-998B-8B960BE016C5}"/>
              </a:ext>
            </a:extLst>
          </p:cNvPr>
          <p:cNvSpPr>
            <a:spLocks noGrp="1"/>
          </p:cNvSpPr>
          <p:nvPr>
            <p:ph type="body" idx="1"/>
          </p:nvPr>
        </p:nvSpPr>
        <p:spPr>
          <a:xfrm>
            <a:off x="838200" y="1825625"/>
            <a:ext cx="10515600" cy="4351338"/>
          </a:xfrm>
        </p:spPr>
        <p:txBody>
          <a:bodyPr>
            <a:normAutofit fontScale="85000" lnSpcReduction="10000"/>
          </a:bodyPr>
          <a:lstStyle/>
          <a:p>
            <a:pPr algn="r" rtl="1"/>
            <a:r>
              <a:rPr lang="he-IL" dirty="0"/>
              <a:t>הטבלה הבאה מתארת קבוצת תהליכים במערכת</a:t>
            </a:r>
            <a:r>
              <a:rPr lang="en-US" dirty="0"/>
              <a:t>:</a:t>
            </a:r>
          </a:p>
          <a:p>
            <a:pPr algn="r" rtl="1"/>
            <a:endParaRPr lang="en-US" dirty="0"/>
          </a:p>
          <a:p>
            <a:pPr algn="r" rtl="1"/>
            <a:endParaRPr lang="en-US" dirty="0"/>
          </a:p>
          <a:p>
            <a:pPr algn="r" rtl="1"/>
            <a:endParaRPr lang="en-US" dirty="0"/>
          </a:p>
          <a:p>
            <a:pPr algn="r" rtl="1"/>
            <a:endParaRPr lang="en-US" dirty="0"/>
          </a:p>
          <a:p>
            <a:pPr algn="r" rtl="1"/>
            <a:r>
              <a:rPr lang="he-IL" dirty="0">
                <a:latin typeface="Arial" panose="020B0604020202020204" pitchFamily="34" charset="0"/>
              </a:rPr>
              <a:t>הניחו כי ה-</a:t>
            </a:r>
            <a:r>
              <a:rPr lang="en-US" dirty="0">
                <a:latin typeface="Arial" panose="020B0604020202020204" pitchFamily="34" charset="0"/>
              </a:rPr>
              <a:t> scheduler</a:t>
            </a:r>
            <a:r>
              <a:rPr lang="he-IL" dirty="0">
                <a:latin typeface="Arial" panose="020B0604020202020204" pitchFamily="34" charset="0"/>
              </a:rPr>
              <a:t>של המערכת משתמש באלגוריתם</a:t>
            </a:r>
            <a:r>
              <a:rPr lang="en-US" dirty="0">
                <a:latin typeface="Arial" panose="020B0604020202020204" pitchFamily="34" charset="0"/>
              </a:rPr>
              <a:t> round-robin </a:t>
            </a:r>
            <a:r>
              <a:rPr lang="he-IL" dirty="0">
                <a:latin typeface="Arial" panose="020B0604020202020204" pitchFamily="34" charset="0"/>
              </a:rPr>
              <a:t>עם </a:t>
            </a:r>
            <a:r>
              <a:rPr lang="en-US" dirty="0"/>
              <a:t> </a:t>
            </a:r>
            <a:r>
              <a:rPr lang="en-US" dirty="0">
                <a:latin typeface="Arial" panose="020B0604020202020204" pitchFamily="34" charset="0"/>
              </a:rPr>
              <a:t>time</a:t>
            </a:r>
            <a:r>
              <a:rPr lang="he-IL" dirty="0">
                <a:latin typeface="Arial" panose="020B0604020202020204" pitchFamily="34" charset="0"/>
              </a:rPr>
              <a:t> </a:t>
            </a:r>
            <a:r>
              <a:rPr lang="en-US" dirty="0">
                <a:latin typeface="Arial" panose="020B0604020202020204" pitchFamily="34" charset="0"/>
              </a:rPr>
              <a:t>slice </a:t>
            </a:r>
            <a:r>
              <a:rPr lang="he-IL" dirty="0">
                <a:latin typeface="Arial" panose="020B0604020202020204" pitchFamily="34" charset="0"/>
              </a:rPr>
              <a:t> של 10</a:t>
            </a:r>
            <a:r>
              <a:rPr lang="en-US" dirty="0">
                <a:latin typeface="Arial" panose="020B0604020202020204" pitchFamily="34" charset="0"/>
              </a:rPr>
              <a:t> </a:t>
            </a:r>
            <a:r>
              <a:rPr lang="he-IL" dirty="0">
                <a:latin typeface="Arial" panose="020B0604020202020204" pitchFamily="34" charset="0"/>
              </a:rPr>
              <a:t>יחידות זמן. הניחו גם כי תהליך חדש המגיע למערכת </a:t>
            </a:r>
            <a:r>
              <a:rPr lang="he-IL" b="1" dirty="0">
                <a:latin typeface="Arial" panose="020B0604020202020204" pitchFamily="34" charset="0"/>
              </a:rPr>
              <a:t>נכנס למקום</a:t>
            </a:r>
            <a:r>
              <a:rPr lang="en-US" b="1" dirty="0">
                <a:latin typeface="Arial" panose="020B0604020202020204" pitchFamily="34" charset="0"/>
              </a:rPr>
              <a:t> </a:t>
            </a:r>
            <a:r>
              <a:rPr lang="he-IL" b="1" dirty="0">
                <a:latin typeface="Arial" panose="020B0604020202020204" pitchFamily="34" charset="0"/>
              </a:rPr>
              <a:t>האחרון</a:t>
            </a:r>
            <a:r>
              <a:rPr lang="en-US" b="1" dirty="0">
                <a:latin typeface="Arial" panose="020B0604020202020204" pitchFamily="34" charset="0"/>
              </a:rPr>
              <a:t> </a:t>
            </a:r>
            <a:r>
              <a:rPr lang="he-IL" dirty="0">
                <a:latin typeface="Arial" panose="020B0604020202020204" pitchFamily="34" charset="0"/>
              </a:rPr>
              <a:t>בתור של אלגוריתם </a:t>
            </a:r>
            <a:r>
              <a:rPr lang="en-US" dirty="0">
                <a:latin typeface="Arial" panose="020B0604020202020204" pitchFamily="34" charset="0"/>
              </a:rPr>
              <a:t>round-robin</a:t>
            </a:r>
            <a:r>
              <a:rPr lang="he-IL" dirty="0">
                <a:latin typeface="Arial" panose="020B0604020202020204" pitchFamily="34" charset="0"/>
              </a:rPr>
              <a:t> (כלומר, הוא יהיה האחרון להתבצע).</a:t>
            </a:r>
          </a:p>
          <a:p>
            <a:pPr algn="r" rtl="1"/>
            <a:r>
              <a:rPr lang="he-IL" dirty="0">
                <a:latin typeface="Arial" panose="020B0604020202020204" pitchFamily="34" charset="0"/>
              </a:rPr>
              <a:t>ה-</a:t>
            </a:r>
            <a:r>
              <a:rPr lang="en-US" dirty="0">
                <a:latin typeface="Arial" panose="020B0604020202020204" pitchFamily="34" charset="0"/>
              </a:rPr>
              <a:t>burst time</a:t>
            </a:r>
            <a:r>
              <a:rPr lang="he-IL" dirty="0">
                <a:latin typeface="Arial" panose="020B0604020202020204" pitchFamily="34" charset="0"/>
              </a:rPr>
              <a:t> הוא משך הזמן הכולל שהתהליך צריך לרוץ על המעבד עד שהוא מסיים.</a:t>
            </a:r>
          </a:p>
          <a:p>
            <a:pPr algn="r" rtl="1"/>
            <a:r>
              <a:rPr lang="he-IL" dirty="0">
                <a:latin typeface="Arial" panose="020B0604020202020204" pitchFamily="34" charset="0"/>
              </a:rPr>
              <a:t>חשבו את ה-</a:t>
            </a:r>
            <a:r>
              <a:rPr lang="en-US" b="1" dirty="0">
                <a:latin typeface="Arial" panose="020B0604020202020204" pitchFamily="34" charset="0"/>
              </a:rPr>
              <a:t>turnaround time</a:t>
            </a:r>
            <a:r>
              <a:rPr lang="he-IL" b="1" dirty="0">
                <a:latin typeface="Arial" panose="020B0604020202020204" pitchFamily="34" charset="0"/>
              </a:rPr>
              <a:t> </a:t>
            </a:r>
            <a:r>
              <a:rPr lang="he-IL" dirty="0" err="1">
                <a:latin typeface="Arial" panose="020B0604020202020204" pitchFamily="34" charset="0"/>
              </a:rPr>
              <a:t>וה</a:t>
            </a:r>
            <a:r>
              <a:rPr lang="he-IL" dirty="0">
                <a:latin typeface="Arial" panose="020B0604020202020204" pitchFamily="34" charset="0"/>
              </a:rPr>
              <a:t>-</a:t>
            </a:r>
            <a:r>
              <a:rPr lang="en-US" b="1" dirty="0">
                <a:latin typeface="Arial" panose="020B0604020202020204" pitchFamily="34" charset="0"/>
              </a:rPr>
              <a:t>waiting time</a:t>
            </a:r>
            <a:r>
              <a:rPr lang="he-IL" b="1" dirty="0">
                <a:latin typeface="Arial" panose="020B0604020202020204" pitchFamily="34" charset="0"/>
              </a:rPr>
              <a:t> הממוצעים</a:t>
            </a:r>
            <a:r>
              <a:rPr lang="he-IL" dirty="0">
                <a:latin typeface="Arial" panose="020B0604020202020204" pitchFamily="34" charset="0"/>
              </a:rPr>
              <a:t>. פרטו את חישוביכם.</a:t>
            </a:r>
            <a:endParaRPr lang="en-US" dirty="0"/>
          </a:p>
          <a:p>
            <a:pPr algn="r" rtl="1"/>
            <a:endParaRPr lang="he-IL" dirty="0"/>
          </a:p>
          <a:p>
            <a:endParaRPr lang="en-US" dirty="0"/>
          </a:p>
        </p:txBody>
      </p:sp>
      <p:sp>
        <p:nvSpPr>
          <p:cNvPr id="4" name="Slide Number Placeholder 3">
            <a:extLst>
              <a:ext uri="{FF2B5EF4-FFF2-40B4-BE49-F238E27FC236}">
                <a16:creationId xmlns:a16="http://schemas.microsoft.com/office/drawing/2014/main" id="{6547A6C5-68F2-0045-B6B5-70B914E40F65}"/>
              </a:ext>
            </a:extLst>
          </p:cNvPr>
          <p:cNvSpPr>
            <a:spLocks noGrp="1"/>
          </p:cNvSpPr>
          <p:nvPr>
            <p:ph type="sldNum" idx="12"/>
          </p:nvPr>
        </p:nvSpPr>
        <p:spPr>
          <a:xfrm>
            <a:off x="8610600" y="6356350"/>
            <a:ext cx="2743200" cy="365125"/>
          </a:xfrm>
        </p:spPr>
        <p:txBody>
          <a:bodyPr/>
          <a:lstStyle/>
          <a:p>
            <a:fld id="{00000000-1234-1234-1234-123412341234}" type="slidenum">
              <a:rPr lang="en-US" smtClean="0"/>
              <a:pPr/>
              <a:t>28</a:t>
            </a:fld>
            <a:endParaRPr lang="en-US"/>
          </a:p>
        </p:txBody>
      </p:sp>
      <p:graphicFrame>
        <p:nvGraphicFramePr>
          <p:cNvPr id="5" name="Table 5">
            <a:extLst>
              <a:ext uri="{FF2B5EF4-FFF2-40B4-BE49-F238E27FC236}">
                <a16:creationId xmlns:a16="http://schemas.microsoft.com/office/drawing/2014/main" id="{1CBE564E-E208-0083-0891-5043061FA96C}"/>
              </a:ext>
            </a:extLst>
          </p:cNvPr>
          <p:cNvGraphicFramePr>
            <a:graphicFrameLocks noGrp="1"/>
          </p:cNvGraphicFramePr>
          <p:nvPr>
            <p:extLst>
              <p:ext uri="{D42A27DB-BD31-4B8C-83A1-F6EECF244321}">
                <p14:modId xmlns:p14="http://schemas.microsoft.com/office/powerpoint/2010/main" val="2714646004"/>
              </p:ext>
            </p:extLst>
          </p:nvPr>
        </p:nvGraphicFramePr>
        <p:xfrm>
          <a:off x="2898921" y="2430729"/>
          <a:ext cx="6096000" cy="148336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3718866937"/>
                    </a:ext>
                  </a:extLst>
                </a:gridCol>
                <a:gridCol w="2032000">
                  <a:extLst>
                    <a:ext uri="{9D8B030D-6E8A-4147-A177-3AD203B41FA5}">
                      <a16:colId xmlns:a16="http://schemas.microsoft.com/office/drawing/2014/main" val="1969729092"/>
                    </a:ext>
                  </a:extLst>
                </a:gridCol>
                <a:gridCol w="2032000">
                  <a:extLst>
                    <a:ext uri="{9D8B030D-6E8A-4147-A177-3AD203B41FA5}">
                      <a16:colId xmlns:a16="http://schemas.microsoft.com/office/drawing/2014/main" val="47683103"/>
                    </a:ext>
                  </a:extLst>
                </a:gridCol>
              </a:tblGrid>
              <a:tr h="370840">
                <a:tc>
                  <a:txBody>
                    <a:bodyPr/>
                    <a:lstStyle/>
                    <a:p>
                      <a:pPr marR="0" algn="ctr" rtl="1">
                        <a:lnSpc>
                          <a:spcPct val="100000"/>
                        </a:lnSpc>
                        <a:spcBef>
                          <a:spcPts val="0"/>
                        </a:spcBef>
                        <a:spcAft>
                          <a:spcPts val="0"/>
                        </a:spcAft>
                        <a:buClr>
                          <a:srgbClr val="000000"/>
                        </a:buClr>
                        <a:buFont typeface="Arial"/>
                      </a:pPr>
                      <a:r>
                        <a:rPr lang="en-US" dirty="0"/>
                        <a:t>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Burst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Receive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9961395"/>
                  </a:ext>
                </a:extLst>
              </a:tr>
              <a:tr h="370840">
                <a:tc>
                  <a:txBody>
                    <a:bodyPr/>
                    <a:lstStyle/>
                    <a:p>
                      <a:r>
                        <a:rPr lang="en-US" dirty="0"/>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1220448"/>
                  </a:ext>
                </a:extLst>
              </a:tr>
              <a:tr h="370840">
                <a:tc>
                  <a:txBody>
                    <a:bodyPr/>
                    <a:lstStyle/>
                    <a:p>
                      <a:r>
                        <a:rPr lang="en-US" dirty="0"/>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66285"/>
                  </a:ext>
                </a:extLst>
              </a:tr>
              <a:tr h="370840">
                <a:tc>
                  <a:txBody>
                    <a:bodyPr/>
                    <a:lstStyle/>
                    <a:p>
                      <a:r>
                        <a:rPr lang="en-US" dirty="0"/>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dirty="0"/>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9884625"/>
                  </a:ext>
                </a:extLst>
              </a:tr>
            </a:tbl>
          </a:graphicData>
        </a:graphic>
      </p:graphicFrame>
    </p:spTree>
    <p:extLst>
      <p:ext uri="{BB962C8B-B14F-4D97-AF65-F5344CB8AC3E}">
        <p14:creationId xmlns:p14="http://schemas.microsoft.com/office/powerpoint/2010/main" val="127557658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7975D-2D36-AAC9-6ED4-8634EDE0D2DC}"/>
              </a:ext>
            </a:extLst>
          </p:cNvPr>
          <p:cNvSpPr>
            <a:spLocks noGrp="1"/>
          </p:cNvSpPr>
          <p:nvPr>
            <p:ph type="title"/>
          </p:nvPr>
        </p:nvSpPr>
        <p:spPr>
          <a:xfrm>
            <a:off x="838200" y="365125"/>
            <a:ext cx="10515600" cy="1325563"/>
          </a:xfrm>
        </p:spPr>
        <p:txBody>
          <a:bodyPr/>
          <a:lstStyle/>
          <a:p>
            <a:pPr algn="r" rtl="1"/>
            <a:r>
              <a:rPr lang="he-IL" dirty="0"/>
              <a:t>מועד א׳ 2022</a:t>
            </a:r>
            <a:endParaRPr lang="en-US" dirty="0"/>
          </a:p>
        </p:txBody>
      </p:sp>
      <p:sp>
        <p:nvSpPr>
          <p:cNvPr id="3" name="Text Placeholder 2">
            <a:extLst>
              <a:ext uri="{FF2B5EF4-FFF2-40B4-BE49-F238E27FC236}">
                <a16:creationId xmlns:a16="http://schemas.microsoft.com/office/drawing/2014/main" id="{F9DC2145-22AB-A426-998B-8B960BE016C5}"/>
              </a:ext>
            </a:extLst>
          </p:cNvPr>
          <p:cNvSpPr>
            <a:spLocks noGrp="1"/>
          </p:cNvSpPr>
          <p:nvPr>
            <p:ph type="body" idx="1"/>
          </p:nvPr>
        </p:nvSpPr>
        <p:spPr>
          <a:xfrm>
            <a:off x="838200" y="3294529"/>
            <a:ext cx="10515600" cy="2882434"/>
          </a:xfrm>
        </p:spPr>
        <p:txBody>
          <a:bodyPr>
            <a:normAutofit fontScale="70000" lnSpcReduction="20000"/>
          </a:bodyPr>
          <a:lstStyle/>
          <a:p>
            <a:pPr marL="628650" indent="-514350" algn="r" rtl="1">
              <a:buFont typeface="+mj-lt"/>
              <a:buAutoNum type="arabicPeriod"/>
            </a:pPr>
            <a:r>
              <a:rPr lang="he-IL" dirty="0"/>
              <a:t>0   עד 10:</a:t>
            </a:r>
            <a:r>
              <a:rPr lang="en-US" dirty="0"/>
              <a:t>	</a:t>
            </a:r>
            <a:r>
              <a:rPr lang="he-IL" dirty="0"/>
              <a:t>תהליך </a:t>
            </a:r>
            <a:r>
              <a:rPr lang="en-US" dirty="0"/>
              <a:t>P1</a:t>
            </a:r>
            <a:r>
              <a:rPr lang="he-IL" dirty="0"/>
              <a:t> רץ</a:t>
            </a:r>
          </a:p>
          <a:p>
            <a:pPr marL="628650" indent="-514350" algn="r" rtl="1">
              <a:buFont typeface="+mj-lt"/>
              <a:buAutoNum type="arabicPeriod"/>
            </a:pPr>
            <a:r>
              <a:rPr lang="he-IL" dirty="0"/>
              <a:t>10 עד 18:</a:t>
            </a:r>
            <a:r>
              <a:rPr lang="en-US" dirty="0"/>
              <a:t>	</a:t>
            </a:r>
            <a:r>
              <a:rPr lang="he-IL" dirty="0"/>
              <a:t>תהליך </a:t>
            </a:r>
            <a:r>
              <a:rPr lang="en-US" dirty="0"/>
              <a:t>P2</a:t>
            </a:r>
            <a:r>
              <a:rPr lang="he-IL" dirty="0"/>
              <a:t> רץ ומסיים.</a:t>
            </a:r>
          </a:p>
          <a:p>
            <a:pPr marL="628650" indent="-514350" algn="r" rtl="1">
              <a:buFont typeface="+mj-lt"/>
              <a:buAutoNum type="arabicPeriod"/>
            </a:pPr>
            <a:r>
              <a:rPr lang="he-IL" dirty="0"/>
              <a:t>18 עד 28:</a:t>
            </a:r>
            <a:r>
              <a:rPr lang="en-US" dirty="0"/>
              <a:t>	</a:t>
            </a:r>
            <a:r>
              <a:rPr lang="he-IL" dirty="0"/>
              <a:t>תהליך </a:t>
            </a:r>
            <a:r>
              <a:rPr lang="en-US" dirty="0"/>
              <a:t>P1</a:t>
            </a:r>
            <a:r>
              <a:rPr lang="he-IL" dirty="0"/>
              <a:t> רץ.</a:t>
            </a:r>
          </a:p>
          <a:p>
            <a:pPr marL="628650" indent="-514350" algn="r" rtl="1">
              <a:buFont typeface="+mj-lt"/>
              <a:buAutoNum type="arabicPeriod"/>
            </a:pPr>
            <a:r>
              <a:rPr lang="he-IL" dirty="0"/>
              <a:t>28 עד 35:</a:t>
            </a:r>
            <a:r>
              <a:rPr lang="en-US" dirty="0"/>
              <a:t>	</a:t>
            </a:r>
            <a:r>
              <a:rPr lang="he-IL" dirty="0"/>
              <a:t>תהליך </a:t>
            </a:r>
            <a:r>
              <a:rPr lang="en-US" dirty="0"/>
              <a:t>P3</a:t>
            </a:r>
            <a:r>
              <a:rPr lang="he-IL" dirty="0"/>
              <a:t> רץ ומסיים.</a:t>
            </a:r>
          </a:p>
          <a:p>
            <a:pPr marL="628650" indent="-514350" algn="r" rtl="1">
              <a:buFont typeface="+mj-lt"/>
              <a:buAutoNum type="arabicPeriod"/>
            </a:pPr>
            <a:r>
              <a:rPr lang="en-US" dirty="0"/>
              <a:t>35</a:t>
            </a:r>
            <a:r>
              <a:rPr lang="he-IL" dirty="0"/>
              <a:t> עד 39:</a:t>
            </a:r>
            <a:r>
              <a:rPr lang="en-US" dirty="0"/>
              <a:t>	</a:t>
            </a:r>
            <a:r>
              <a:rPr lang="he-IL" dirty="0"/>
              <a:t>תהליך </a:t>
            </a:r>
            <a:r>
              <a:rPr lang="en-US" dirty="0"/>
              <a:t>P1</a:t>
            </a:r>
            <a:r>
              <a:rPr lang="he-IL" dirty="0"/>
              <a:t> רץ ומסיים.</a:t>
            </a:r>
          </a:p>
          <a:p>
            <a:pPr algn="r" rtl="1"/>
            <a:endParaRPr lang="he-IL" dirty="0"/>
          </a:p>
          <a:p>
            <a:pPr algn="r" rtl="1"/>
            <a:r>
              <a:rPr lang="en-US" dirty="0"/>
              <a:t>Turnaround time</a:t>
            </a:r>
            <a:r>
              <a:rPr lang="he-IL" dirty="0"/>
              <a:t>: תהליך </a:t>
            </a:r>
            <a:r>
              <a:rPr lang="en-US" dirty="0"/>
              <a:t>P1=39</a:t>
            </a:r>
            <a:r>
              <a:rPr lang="he-IL" dirty="0"/>
              <a:t>, תהליך</a:t>
            </a:r>
            <a:r>
              <a:rPr lang="en-US" dirty="0"/>
              <a:t>P2=18-3=15 </a:t>
            </a:r>
            <a:r>
              <a:rPr lang="he-IL" dirty="0"/>
              <a:t> ותהליך </a:t>
            </a:r>
            <a:r>
              <a:rPr lang="en-US" dirty="0"/>
              <a:t>P3=35-17=18</a:t>
            </a:r>
            <a:r>
              <a:rPr lang="he-IL" dirty="0"/>
              <a:t>. </a:t>
            </a:r>
            <a:r>
              <a:rPr lang="he-IL" b="1" dirty="0"/>
              <a:t>ממוצע 24.</a:t>
            </a:r>
          </a:p>
          <a:p>
            <a:pPr algn="r" rtl="1"/>
            <a:r>
              <a:rPr lang="en-US" dirty="0"/>
              <a:t>Waiting time</a:t>
            </a:r>
            <a:r>
              <a:rPr lang="he-IL" dirty="0"/>
              <a:t>: תהליך </a:t>
            </a:r>
            <a:r>
              <a:rPr lang="en-US" dirty="0"/>
              <a:t>P1=15</a:t>
            </a:r>
            <a:r>
              <a:rPr lang="he-IL" dirty="0"/>
              <a:t>, תהליך </a:t>
            </a:r>
            <a:r>
              <a:rPr lang="en-US" dirty="0"/>
              <a:t>P2=7</a:t>
            </a:r>
            <a:r>
              <a:rPr lang="he-IL" dirty="0"/>
              <a:t>, תהליך </a:t>
            </a:r>
            <a:r>
              <a:rPr lang="en-US" dirty="0"/>
              <a:t>P3=11</a:t>
            </a:r>
            <a:r>
              <a:rPr lang="he-IL" dirty="0"/>
              <a:t>. </a:t>
            </a:r>
            <a:r>
              <a:rPr lang="he-IL" b="1" dirty="0"/>
              <a:t>ממוצע 11.</a:t>
            </a:r>
            <a:endParaRPr lang="en-US" b="1" dirty="0"/>
          </a:p>
        </p:txBody>
      </p:sp>
      <p:sp>
        <p:nvSpPr>
          <p:cNvPr id="4" name="Slide Number Placeholder 3">
            <a:extLst>
              <a:ext uri="{FF2B5EF4-FFF2-40B4-BE49-F238E27FC236}">
                <a16:creationId xmlns:a16="http://schemas.microsoft.com/office/drawing/2014/main" id="{6547A6C5-68F2-0045-B6B5-70B914E40F65}"/>
              </a:ext>
            </a:extLst>
          </p:cNvPr>
          <p:cNvSpPr>
            <a:spLocks noGrp="1"/>
          </p:cNvSpPr>
          <p:nvPr>
            <p:ph type="sldNum" idx="12"/>
          </p:nvPr>
        </p:nvSpPr>
        <p:spPr>
          <a:xfrm>
            <a:off x="8610600" y="6356350"/>
            <a:ext cx="2743200" cy="365125"/>
          </a:xfrm>
        </p:spPr>
        <p:txBody>
          <a:bodyPr/>
          <a:lstStyle/>
          <a:p>
            <a:fld id="{00000000-1234-1234-1234-123412341234}" type="slidenum">
              <a:rPr lang="en-US" smtClean="0"/>
              <a:pPr/>
              <a:t>29</a:t>
            </a:fld>
            <a:endParaRPr lang="en-US"/>
          </a:p>
        </p:txBody>
      </p:sp>
      <p:graphicFrame>
        <p:nvGraphicFramePr>
          <p:cNvPr id="5" name="Table 5">
            <a:extLst>
              <a:ext uri="{FF2B5EF4-FFF2-40B4-BE49-F238E27FC236}">
                <a16:creationId xmlns:a16="http://schemas.microsoft.com/office/drawing/2014/main" id="{1CBE564E-E208-0083-0891-5043061FA96C}"/>
              </a:ext>
            </a:extLst>
          </p:cNvPr>
          <p:cNvGraphicFramePr>
            <a:graphicFrameLocks noGrp="1"/>
          </p:cNvGraphicFramePr>
          <p:nvPr>
            <p:extLst>
              <p:ext uri="{D42A27DB-BD31-4B8C-83A1-F6EECF244321}">
                <p14:modId xmlns:p14="http://schemas.microsoft.com/office/powerpoint/2010/main" val="3254155646"/>
              </p:ext>
            </p:extLst>
          </p:nvPr>
        </p:nvGraphicFramePr>
        <p:xfrm>
          <a:off x="2960914" y="1608494"/>
          <a:ext cx="6096000" cy="1483360"/>
        </p:xfrm>
        <a:graphic>
          <a:graphicData uri="http://schemas.openxmlformats.org/drawingml/2006/table">
            <a:tbl>
              <a:tblPr firstRow="1" bandRow="1">
                <a:tableStyleId>{2D5ABB26-0587-4C30-8999-92F81FD0307C}</a:tableStyleId>
              </a:tblPr>
              <a:tblGrid>
                <a:gridCol w="2032000">
                  <a:extLst>
                    <a:ext uri="{9D8B030D-6E8A-4147-A177-3AD203B41FA5}">
                      <a16:colId xmlns:a16="http://schemas.microsoft.com/office/drawing/2014/main" val="3718866937"/>
                    </a:ext>
                  </a:extLst>
                </a:gridCol>
                <a:gridCol w="2032000">
                  <a:extLst>
                    <a:ext uri="{9D8B030D-6E8A-4147-A177-3AD203B41FA5}">
                      <a16:colId xmlns:a16="http://schemas.microsoft.com/office/drawing/2014/main" val="1969729092"/>
                    </a:ext>
                  </a:extLst>
                </a:gridCol>
                <a:gridCol w="2032000">
                  <a:extLst>
                    <a:ext uri="{9D8B030D-6E8A-4147-A177-3AD203B41FA5}">
                      <a16:colId xmlns:a16="http://schemas.microsoft.com/office/drawing/2014/main" val="47683103"/>
                    </a:ext>
                  </a:extLst>
                </a:gridCol>
              </a:tblGrid>
              <a:tr h="370840">
                <a:tc>
                  <a:txBody>
                    <a:bodyPr/>
                    <a:lstStyle/>
                    <a:p>
                      <a:pPr marR="0" algn="ctr" rtl="1">
                        <a:lnSpc>
                          <a:spcPct val="100000"/>
                        </a:lnSpc>
                        <a:spcBef>
                          <a:spcPts val="0"/>
                        </a:spcBef>
                        <a:spcAft>
                          <a:spcPts val="0"/>
                        </a:spcAft>
                        <a:buClr>
                          <a:srgbClr val="000000"/>
                        </a:buClr>
                        <a:buFont typeface="Arial"/>
                      </a:pPr>
                      <a:r>
                        <a:rPr lang="en-US" dirty="0"/>
                        <a:t>Process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Burst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Receive time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79961395"/>
                  </a:ext>
                </a:extLst>
              </a:tr>
              <a:tr h="370840">
                <a:tc>
                  <a:txBody>
                    <a:bodyPr/>
                    <a:lstStyle/>
                    <a:p>
                      <a:r>
                        <a:rPr lang="en-US" dirty="0"/>
                        <a:t>P1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31220448"/>
                  </a:ext>
                </a:extLst>
              </a:tr>
              <a:tr h="370840">
                <a:tc>
                  <a:txBody>
                    <a:bodyPr/>
                    <a:lstStyle/>
                    <a:p>
                      <a:r>
                        <a:rPr lang="en-US" dirty="0"/>
                        <a:t>P2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766285"/>
                  </a:ext>
                </a:extLst>
              </a:tr>
              <a:tr h="370840">
                <a:tc>
                  <a:txBody>
                    <a:bodyPr/>
                    <a:lstStyle/>
                    <a:p>
                      <a:r>
                        <a:rPr lang="en-US" dirty="0"/>
                        <a:t>P3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l" rtl="0">
                        <a:lnSpc>
                          <a:spcPct val="100000"/>
                        </a:lnSpc>
                        <a:spcBef>
                          <a:spcPts val="0"/>
                        </a:spcBef>
                        <a:spcAft>
                          <a:spcPts val="0"/>
                        </a:spcAft>
                        <a:buClr>
                          <a:srgbClr val="000000"/>
                        </a:buClr>
                        <a:buFont typeface="Arial"/>
                      </a:pPr>
                      <a:r>
                        <a:rPr lang="en-US" dirty="0"/>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89884625"/>
                  </a:ext>
                </a:extLst>
              </a:tr>
            </a:tbl>
          </a:graphicData>
        </a:graphic>
      </p:graphicFrame>
    </p:spTree>
    <p:extLst>
      <p:ext uri="{BB962C8B-B14F-4D97-AF65-F5344CB8AC3E}">
        <p14:creationId xmlns:p14="http://schemas.microsoft.com/office/powerpoint/2010/main" val="171872460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2635</TotalTime>
  <Words>6744</Words>
  <Application>Microsoft Macintosh PowerPoint</Application>
  <PresentationFormat>Widescreen</PresentationFormat>
  <Paragraphs>755</Paragraphs>
  <Slides>29</Slides>
  <Notes>27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Source Code Pro</vt:lpstr>
      <vt:lpstr>Arial</vt:lpstr>
      <vt:lpstr>Consolas</vt:lpstr>
      <vt:lpstr>Calibri</vt:lpstr>
      <vt:lpstr>Cambria Math</vt:lpstr>
      <vt:lpstr>Play</vt:lpstr>
      <vt:lpstr>Office Theme</vt:lpstr>
      <vt:lpstr>Operating Systems</vt:lpstr>
      <vt:lpstr>Process model</vt:lpstr>
      <vt:lpstr>Process model overall flow from CPU perspective</vt:lpstr>
      <vt:lpstr>Process – modeled by struct proc</vt:lpstr>
      <vt:lpstr>Process model creation/allocation</vt:lpstr>
      <vt:lpstr>Process model creation/allocation</vt:lpstr>
      <vt:lpstr>Process model creation/allocation</vt:lpstr>
      <vt:lpstr>Process model scheduling and context switching</vt:lpstr>
      <vt:lpstr>Process model scheduling and context switching</vt:lpstr>
      <vt:lpstr>Process model scheduling and context switching</vt:lpstr>
      <vt:lpstr>Process model scheduling and context switching</vt:lpstr>
      <vt:lpstr>Process model jumping back to the scheduler</vt:lpstr>
      <vt:lpstr>Process model going to sleep</vt:lpstr>
      <vt:lpstr>Process model waking up</vt:lpstr>
      <vt:lpstr>Process model final stop</vt:lpstr>
      <vt:lpstr>Process model collecting the exit status</vt:lpstr>
      <vt:lpstr>Process model overall flow from CPU perspective</vt:lpstr>
      <vt:lpstr>Two types of scheduling</vt:lpstr>
      <vt:lpstr>Quality criteria measures</vt:lpstr>
      <vt:lpstr>Scheduling algorithms</vt:lpstr>
      <vt:lpstr>Scheduling algorithms</vt:lpstr>
      <vt:lpstr>Scheduling algorithms</vt:lpstr>
      <vt:lpstr>Scheduling algorithms</vt:lpstr>
      <vt:lpstr>The Completely Fair Scheduler</vt:lpstr>
      <vt:lpstr>CFS Priorities</vt:lpstr>
      <vt:lpstr>Warm up question</vt:lpstr>
      <vt:lpstr>Warm up answer</vt:lpstr>
      <vt:lpstr>מועד א׳ 2022</vt:lpstr>
      <vt:lpstr>מועד א׳ 2022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Operating Systems</dc:title>
  <dc:creator>Ido Ben-Yair</dc:creator>
  <cp:lastModifiedBy>עדו בן-יאיר</cp:lastModifiedBy>
  <cp:revision>47</cp:revision>
  <dcterms:created xsi:type="dcterms:W3CDTF">2024-05-02T10:28:04Z</dcterms:created>
  <dcterms:modified xsi:type="dcterms:W3CDTF">2026-03-19T15:55:38Z</dcterms:modified>
</cp:coreProperties>
</file>